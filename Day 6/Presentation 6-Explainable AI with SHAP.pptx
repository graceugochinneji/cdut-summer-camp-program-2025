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1.svg" ContentType="image/svg+xml"/>
  <Override PartName="/ppt/media/image14.svg" ContentType="image/svg+xml"/>
  <Override PartName="/ppt/media/image2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70" r:id="rId5"/>
    <p:sldId id="258" r:id="rId6"/>
    <p:sldId id="271" r:id="rId7"/>
    <p:sldId id="259" r:id="rId8"/>
    <p:sldId id="260" r:id="rId9"/>
    <p:sldId id="261" r:id="rId10"/>
    <p:sldId id="268" r:id="rId11"/>
    <p:sldId id="269" r:id="rId12"/>
    <p:sldId id="274" r:id="rId13"/>
    <p:sldId id="275" r:id="rId14"/>
    <p:sldId id="262" r:id="rId15"/>
    <p:sldId id="263" r:id="rId16"/>
    <p:sldId id="264" r:id="rId17"/>
    <p:sldId id="265" r:id="rId18"/>
    <p:sldId id="273" r:id="rId19"/>
  </p:sldIdLst>
  <p:sldSz cx="18288000" cy="10287000"/>
  <p:notesSz cx="6858000" cy="9144000"/>
  <p:embeddedFontLs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6" d="100"/>
          <a:sy n="36" d="100"/>
        </p:scale>
        <p:origin x="-576" y="182"/>
      </p:cViewPr>
      <p:guideLst>
        <p:guide orient="horz" pos="2154"/>
        <p:guide pos="2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jpe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33893" y="0"/>
            <a:ext cx="9054107" cy="10287000"/>
          </a:xfrm>
          <a:custGeom>
            <a:avLst/>
            <a:gdLst/>
            <a:ahLst/>
            <a:cxnLst/>
            <a:rect l="l" t="t" r="r" b="b"/>
            <a:pathLst>
              <a:path w="9054107" h="10287000">
                <a:moveTo>
                  <a:pt x="0" y="0"/>
                </a:moveTo>
                <a:lnTo>
                  <a:pt x="9054107" y="0"/>
                </a:lnTo>
                <a:lnTo>
                  <a:pt x="905410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43" r="-687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137761" y="1357343"/>
            <a:ext cx="5246370" cy="7572314"/>
            <a:chOff x="0" y="0"/>
            <a:chExt cx="812800" cy="11731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173150"/>
            </a:xfrm>
            <a:custGeom>
              <a:avLst/>
              <a:gdLst/>
              <a:ahLst/>
              <a:cxnLst/>
              <a:rect l="l" t="t" r="r" b="b"/>
              <a:pathLst>
                <a:path w="812800" h="1173150">
                  <a:moveTo>
                    <a:pt x="0" y="0"/>
                  </a:moveTo>
                  <a:lnTo>
                    <a:pt x="812800" y="0"/>
                  </a:lnTo>
                  <a:lnTo>
                    <a:pt x="812800" y="1173150"/>
                  </a:lnTo>
                  <a:lnTo>
                    <a:pt x="0" y="1173150"/>
                  </a:lnTo>
                  <a:close/>
                </a:path>
              </a:pathLst>
            </a:custGeom>
            <a:blipFill>
              <a:blip r:embed="rId3"/>
              <a:stretch>
                <a:fillRect t="-11660" b="-1166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75654" y="2044981"/>
            <a:ext cx="7760080" cy="5455868"/>
            <a:chOff x="0" y="0"/>
            <a:chExt cx="10346773" cy="7274490"/>
          </a:xfrm>
        </p:grpSpPr>
        <p:sp>
          <p:nvSpPr>
            <p:cNvPr id="6" name="Freeform 6"/>
            <p:cNvSpPr/>
            <p:nvPr/>
          </p:nvSpPr>
          <p:spPr>
            <a:xfrm>
              <a:off x="3942684" y="0"/>
              <a:ext cx="2461405" cy="2461405"/>
            </a:xfrm>
            <a:custGeom>
              <a:avLst/>
              <a:gdLst/>
              <a:ahLst/>
              <a:cxnLst/>
              <a:rect l="l" t="t" r="r" b="b"/>
              <a:pathLst>
                <a:path w="2461405" h="2461405">
                  <a:moveTo>
                    <a:pt x="0" y="0"/>
                  </a:moveTo>
                  <a:lnTo>
                    <a:pt x="2461405" y="0"/>
                  </a:lnTo>
                  <a:lnTo>
                    <a:pt x="2461405" y="2461405"/>
                  </a:lnTo>
                  <a:lnTo>
                    <a:pt x="0" y="2461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3376308"/>
              <a:ext cx="10346773" cy="2940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550"/>
                </a:lnSpc>
                <a:spcBef>
                  <a:spcPct val="0"/>
                </a:spcBef>
              </a:pPr>
              <a:r>
                <a:rPr lang="en-US" sz="9000" u="none" dirty="0">
                  <a:solidFill>
                    <a:srgbClr val="030F1F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Explainable AI with SHAP</a:t>
              </a:r>
              <a:endParaRPr lang="en-US" sz="9000" u="none" dirty="0">
                <a:solidFill>
                  <a:srgbClr val="030F1F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725365"/>
              <a:ext cx="10346773" cy="54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5"/>
                </a:lnSpc>
                <a:spcBef>
                  <a:spcPct val="0"/>
                </a:spcBef>
              </a:pPr>
              <a:r>
                <a:rPr lang="en-US" sz="2505" dirty="0">
                  <a:solidFill>
                    <a:srgbClr val="030F1F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Unlocking insights through SHAP</a:t>
              </a:r>
              <a:endParaRPr lang="en-US" sz="2505" dirty="0">
                <a:solidFill>
                  <a:srgbClr val="030F1F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155924" cy="10269368"/>
          </a:xfrm>
          <a:custGeom>
            <a:avLst/>
            <a:gdLst/>
            <a:ahLst/>
            <a:cxnLst/>
            <a:rect l="l" t="t" r="r" b="b"/>
            <a:pathLst>
              <a:path w="6155924" h="10269368">
                <a:moveTo>
                  <a:pt x="0" y="0"/>
                </a:moveTo>
                <a:lnTo>
                  <a:pt x="6155924" y="0"/>
                </a:lnTo>
                <a:lnTo>
                  <a:pt x="6155924" y="10269368"/>
                </a:lnTo>
                <a:lnTo>
                  <a:pt x="0" y="102693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682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200" y="3702918"/>
            <a:ext cx="5800060" cy="3193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30"/>
              </a:lnSpc>
              <a:spcBef>
                <a:spcPct val="0"/>
              </a:spcBef>
            </a:pPr>
            <a:r>
              <a:rPr lang="en-US" sz="8500" u="none" spc="-144" dirty="0" smtClean="0">
                <a:solidFill>
                  <a:schemeClr val="bg1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Unlocking the Power </a:t>
            </a:r>
            <a:endParaRPr lang="en-US" sz="8500" u="none" spc="-144" dirty="0" smtClean="0">
              <a:solidFill>
                <a:schemeClr val="bg1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8330"/>
              </a:lnSpc>
              <a:spcBef>
                <a:spcPct val="0"/>
              </a:spcBef>
            </a:pPr>
            <a:r>
              <a:rPr lang="en-US" sz="8500" u="none" spc="-144" dirty="0" smtClean="0">
                <a:solidFill>
                  <a:schemeClr val="bg1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of SHAP</a:t>
            </a:r>
            <a:endParaRPr lang="en-US" sz="8500" u="none" spc="-144" dirty="0">
              <a:solidFill>
                <a:schemeClr val="bg1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0" y="3543300"/>
            <a:ext cx="1027366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SHAP (SHapley Additive exPlanations) for model interpretability.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drivers of predictions using global &amp; local explanations.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SHAP to the trained XGBoost model from Day 5.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SHAP tools such as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Beeswarm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Bar,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5"/>
          <p:cNvSpPr/>
          <p:nvPr/>
        </p:nvSpPr>
        <p:spPr>
          <a:xfrm>
            <a:off x="11277600" y="1379561"/>
            <a:ext cx="1915717" cy="1846054"/>
          </a:xfrm>
          <a:custGeom>
            <a:avLst/>
            <a:gdLst/>
            <a:ahLst/>
            <a:cxnLst/>
            <a:rect l="l" t="t" r="r" b="b"/>
            <a:pathLst>
              <a:path w="2554289" h="2461405">
                <a:moveTo>
                  <a:pt x="0" y="0"/>
                </a:moveTo>
                <a:lnTo>
                  <a:pt x="2554289" y="0"/>
                </a:lnTo>
                <a:lnTo>
                  <a:pt x="2554289" y="2461405"/>
                </a:lnTo>
                <a:lnTo>
                  <a:pt x="0" y="2461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155924" cy="10269368"/>
          </a:xfrm>
          <a:custGeom>
            <a:avLst/>
            <a:gdLst/>
            <a:ahLst/>
            <a:cxnLst/>
            <a:rect l="l" t="t" r="r" b="b"/>
            <a:pathLst>
              <a:path w="6155924" h="10269368">
                <a:moveTo>
                  <a:pt x="0" y="0"/>
                </a:moveTo>
                <a:lnTo>
                  <a:pt x="6155924" y="0"/>
                </a:lnTo>
                <a:lnTo>
                  <a:pt x="6155924" y="10269368"/>
                </a:lnTo>
                <a:lnTo>
                  <a:pt x="0" y="102693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682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200" y="3702918"/>
            <a:ext cx="5800060" cy="2153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30"/>
              </a:lnSpc>
              <a:spcBef>
                <a:spcPct val="0"/>
              </a:spcBef>
            </a:pP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  <a:endParaRPr lang="en-US" sz="7200" u="none" spc="-144" dirty="0">
              <a:solidFill>
                <a:schemeClr val="bg1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0" y="3543300"/>
            <a:ext cx="10972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interpretability, feature attribution, global vs local explanations.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SHAP values for tree-based models.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&amp; interpret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beeswarm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bar, and scatter plots.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SHAP to identify energy consumption drivers.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SHAP’s limitations in practice.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5"/>
          <p:cNvSpPr/>
          <p:nvPr/>
        </p:nvSpPr>
        <p:spPr>
          <a:xfrm>
            <a:off x="11277600" y="1379561"/>
            <a:ext cx="1915717" cy="1846054"/>
          </a:xfrm>
          <a:custGeom>
            <a:avLst/>
            <a:gdLst/>
            <a:ahLst/>
            <a:cxnLst/>
            <a:rect l="l" t="t" r="r" b="b"/>
            <a:pathLst>
              <a:path w="2554289" h="2461405">
                <a:moveTo>
                  <a:pt x="0" y="0"/>
                </a:moveTo>
                <a:lnTo>
                  <a:pt x="2554289" y="0"/>
                </a:lnTo>
                <a:lnTo>
                  <a:pt x="2554289" y="2461405"/>
                </a:lnTo>
                <a:lnTo>
                  <a:pt x="0" y="2461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005388"/>
            <a:ext cx="6157377" cy="1103757"/>
            <a:chOff x="0" y="19050"/>
            <a:chExt cx="8209837" cy="1471675"/>
          </a:xfrm>
        </p:grpSpPr>
        <p:sp>
          <p:nvSpPr>
            <p:cNvPr id="3" name="AutoShape 3"/>
            <p:cNvSpPr/>
            <p:nvPr/>
          </p:nvSpPr>
          <p:spPr>
            <a:xfrm flipH="1">
              <a:off x="0" y="19050"/>
              <a:ext cx="2040357" cy="0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343232"/>
              <a:ext cx="8209837" cy="114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u="none" dirty="0">
                  <a:solidFill>
                    <a:srgbClr val="F4F5F8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Builds stakeholder trust and mitigates regulatory risks</a:t>
              </a:r>
              <a:endParaRPr lang="en-US" sz="2500" u="none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581150"/>
            <a:ext cx="6157377" cy="296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40"/>
              </a:lnSpc>
              <a:spcBef>
                <a:spcPct val="0"/>
              </a:spcBef>
            </a:pPr>
            <a:r>
              <a:rPr lang="en-US" sz="7900" u="none" spc="-134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The Importance of Explainability</a:t>
            </a:r>
            <a:endParaRPr lang="en-US" sz="7900" u="none" spc="-134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270038" y="2269038"/>
            <a:ext cx="5748923" cy="5748923"/>
            <a:chOff x="0" y="0"/>
            <a:chExt cx="6272530" cy="6272530"/>
          </a:xfrm>
        </p:grpSpPr>
        <p:sp>
          <p:nvSpPr>
            <p:cNvPr id="8" name="Freeform 8"/>
            <p:cNvSpPr/>
            <p:nvPr/>
          </p:nvSpPr>
          <p:spPr>
            <a:xfrm>
              <a:off x="-177800" y="-179070"/>
              <a:ext cx="6629400" cy="6629400"/>
            </a:xfrm>
            <a:custGeom>
              <a:avLst/>
              <a:gdLst/>
              <a:ahLst/>
              <a:cxnLst/>
              <a:rect l="l" t="t" r="r" b="b"/>
              <a:pathLst>
                <a:path w="6629400" h="6629400">
                  <a:moveTo>
                    <a:pt x="5915660" y="3328670"/>
                  </a:moveTo>
                  <a:cubicBezTo>
                    <a:pt x="6629400" y="4043680"/>
                    <a:pt x="6629400" y="5201920"/>
                    <a:pt x="5915660" y="5915660"/>
                  </a:cubicBezTo>
                  <a:cubicBezTo>
                    <a:pt x="5200650" y="6629400"/>
                    <a:pt x="4042410" y="6629400"/>
                    <a:pt x="3328670" y="5915660"/>
                  </a:cubicBezTo>
                  <a:lnTo>
                    <a:pt x="3314700" y="5901690"/>
                  </a:lnTo>
                  <a:lnTo>
                    <a:pt x="3300730" y="5915660"/>
                  </a:lnTo>
                  <a:cubicBezTo>
                    <a:pt x="2585720" y="6629400"/>
                    <a:pt x="1427480" y="6629400"/>
                    <a:pt x="713740" y="5915660"/>
                  </a:cubicBezTo>
                  <a:cubicBezTo>
                    <a:pt x="0" y="5200650"/>
                    <a:pt x="0" y="4042410"/>
                    <a:pt x="713740" y="3328670"/>
                  </a:cubicBezTo>
                  <a:lnTo>
                    <a:pt x="727710" y="3314700"/>
                  </a:lnTo>
                  <a:lnTo>
                    <a:pt x="713740" y="3300730"/>
                  </a:lnTo>
                  <a:cubicBezTo>
                    <a:pt x="0" y="2585720"/>
                    <a:pt x="0" y="1427480"/>
                    <a:pt x="713740" y="713740"/>
                  </a:cubicBezTo>
                  <a:cubicBezTo>
                    <a:pt x="1427480" y="1270"/>
                    <a:pt x="2585720" y="1270"/>
                    <a:pt x="3300730" y="713740"/>
                  </a:cubicBezTo>
                  <a:lnTo>
                    <a:pt x="3314700" y="727710"/>
                  </a:lnTo>
                  <a:lnTo>
                    <a:pt x="3328670" y="713740"/>
                  </a:lnTo>
                  <a:cubicBezTo>
                    <a:pt x="4043680" y="0"/>
                    <a:pt x="5201920" y="0"/>
                    <a:pt x="5915660" y="713740"/>
                  </a:cubicBezTo>
                  <a:cubicBezTo>
                    <a:pt x="6629400" y="1428750"/>
                    <a:pt x="6629400" y="2586990"/>
                    <a:pt x="5915660" y="3300730"/>
                  </a:cubicBezTo>
                  <a:lnTo>
                    <a:pt x="5901690" y="3314700"/>
                  </a:lnTo>
                  <a:lnTo>
                    <a:pt x="5915660" y="3328670"/>
                  </a:lnTo>
                  <a:close/>
                </a:path>
              </a:pathLst>
            </a:custGeom>
            <a:blipFill>
              <a:blip r:embed="rId3"/>
              <a:stretch>
                <a:fillRect l="-38996" r="-38996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5005388"/>
            <a:ext cx="7467600" cy="3689917"/>
            <a:chOff x="0" y="19050"/>
            <a:chExt cx="8209837" cy="4919883"/>
          </a:xfrm>
        </p:grpSpPr>
        <p:sp>
          <p:nvSpPr>
            <p:cNvPr id="3" name="AutoShape 3"/>
            <p:cNvSpPr/>
            <p:nvPr/>
          </p:nvSpPr>
          <p:spPr>
            <a:xfrm flipH="1">
              <a:off x="0" y="19050"/>
              <a:ext cx="2040357" cy="0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343232"/>
              <a:ext cx="8209837" cy="4595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Builds 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stakeholder trust (e.g., utility billing).</a:t>
              </a: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Avoids 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regulatory risks (e.g., GDPR’s “right to explanation”).</a:t>
              </a: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Supports 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debugging and feature leakage </a:t>
              </a: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detection.</a:t>
              </a:r>
              <a:endPara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A demand forecast fails due to real-time data unavailability. SHAP reveals hidden reliance.</a:t>
              </a: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71550"/>
            <a:ext cx="6157377" cy="296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40"/>
              </a:lnSpc>
              <a:spcBef>
                <a:spcPct val="0"/>
              </a:spcBef>
            </a:pPr>
            <a:r>
              <a:rPr lang="en-US" sz="7900" u="none" spc="-134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Why Explainability</a:t>
            </a:r>
            <a:endParaRPr lang="en-US" sz="7900" u="none" spc="-134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740"/>
              </a:lnSpc>
              <a:spcBef>
                <a:spcPct val="0"/>
              </a:spcBef>
            </a:pPr>
            <a:r>
              <a:rPr lang="en-US" sz="7900" spc="-134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Matters</a:t>
            </a:r>
            <a:endParaRPr lang="en-US" sz="7900" u="none" spc="-134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270038" y="2269038"/>
            <a:ext cx="5748923" cy="5748923"/>
            <a:chOff x="0" y="0"/>
            <a:chExt cx="6272530" cy="6272530"/>
          </a:xfrm>
        </p:grpSpPr>
        <p:sp>
          <p:nvSpPr>
            <p:cNvPr id="8" name="Freeform 8"/>
            <p:cNvSpPr/>
            <p:nvPr/>
          </p:nvSpPr>
          <p:spPr>
            <a:xfrm>
              <a:off x="-177800" y="-179070"/>
              <a:ext cx="6629400" cy="6629400"/>
            </a:xfrm>
            <a:custGeom>
              <a:avLst/>
              <a:gdLst/>
              <a:ahLst/>
              <a:cxnLst/>
              <a:rect l="l" t="t" r="r" b="b"/>
              <a:pathLst>
                <a:path w="6629400" h="6629400">
                  <a:moveTo>
                    <a:pt x="5915660" y="3328670"/>
                  </a:moveTo>
                  <a:cubicBezTo>
                    <a:pt x="6629400" y="4043680"/>
                    <a:pt x="6629400" y="5201920"/>
                    <a:pt x="5915660" y="5915660"/>
                  </a:cubicBezTo>
                  <a:cubicBezTo>
                    <a:pt x="5200650" y="6629400"/>
                    <a:pt x="4042410" y="6629400"/>
                    <a:pt x="3328670" y="5915660"/>
                  </a:cubicBezTo>
                  <a:lnTo>
                    <a:pt x="3314700" y="5901690"/>
                  </a:lnTo>
                  <a:lnTo>
                    <a:pt x="3300730" y="5915660"/>
                  </a:lnTo>
                  <a:cubicBezTo>
                    <a:pt x="2585720" y="6629400"/>
                    <a:pt x="1427480" y="6629400"/>
                    <a:pt x="713740" y="5915660"/>
                  </a:cubicBezTo>
                  <a:cubicBezTo>
                    <a:pt x="0" y="5200650"/>
                    <a:pt x="0" y="4042410"/>
                    <a:pt x="713740" y="3328670"/>
                  </a:cubicBezTo>
                  <a:lnTo>
                    <a:pt x="727710" y="3314700"/>
                  </a:lnTo>
                  <a:lnTo>
                    <a:pt x="713740" y="3300730"/>
                  </a:lnTo>
                  <a:cubicBezTo>
                    <a:pt x="0" y="2585720"/>
                    <a:pt x="0" y="1427480"/>
                    <a:pt x="713740" y="713740"/>
                  </a:cubicBezTo>
                  <a:cubicBezTo>
                    <a:pt x="1427480" y="1270"/>
                    <a:pt x="2585720" y="1270"/>
                    <a:pt x="3300730" y="713740"/>
                  </a:cubicBezTo>
                  <a:lnTo>
                    <a:pt x="3314700" y="727710"/>
                  </a:lnTo>
                  <a:lnTo>
                    <a:pt x="3328670" y="713740"/>
                  </a:lnTo>
                  <a:cubicBezTo>
                    <a:pt x="4043680" y="0"/>
                    <a:pt x="5201920" y="0"/>
                    <a:pt x="5915660" y="713740"/>
                  </a:cubicBezTo>
                  <a:cubicBezTo>
                    <a:pt x="6629400" y="1428750"/>
                    <a:pt x="6629400" y="2586990"/>
                    <a:pt x="5915660" y="3300730"/>
                  </a:cubicBezTo>
                  <a:lnTo>
                    <a:pt x="5901690" y="3314700"/>
                  </a:lnTo>
                  <a:lnTo>
                    <a:pt x="5915660" y="3328670"/>
                  </a:lnTo>
                  <a:close/>
                </a:path>
              </a:pathLst>
            </a:custGeom>
            <a:blipFill>
              <a:blip r:embed="rId3"/>
              <a:stretch>
                <a:fillRect l="-38996" r="-38996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81100"/>
            <a:ext cx="7277100" cy="5164883"/>
            <a:chOff x="0" y="-47625"/>
            <a:chExt cx="9702799" cy="6886510"/>
          </a:xfrm>
        </p:grpSpPr>
        <p:sp>
          <p:nvSpPr>
            <p:cNvPr id="3" name="TextBox 3"/>
            <p:cNvSpPr txBox="1"/>
            <p:nvPr/>
          </p:nvSpPr>
          <p:spPr>
            <a:xfrm>
              <a:off x="0" y="-47625"/>
              <a:ext cx="8255970" cy="50612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350"/>
                </a:lnSpc>
                <a:spcBef>
                  <a:spcPct val="0"/>
                </a:spcBef>
              </a:pPr>
              <a:r>
                <a:rPr lang="en-US" sz="7500" u="none" spc="-127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Understanding SHAP: Feature Attribution Simplified</a:t>
              </a:r>
              <a:endParaRPr lang="en-US" sz="7500" u="none" spc="-127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4" name="AutoShape 4"/>
            <p:cNvSpPr/>
            <p:nvPr/>
          </p:nvSpPr>
          <p:spPr>
            <a:xfrm flipH="1">
              <a:off x="0" y="5438774"/>
              <a:ext cx="1786516" cy="0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5641976"/>
              <a:ext cx="9702799" cy="11969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200" u="none" dirty="0">
                  <a:solidFill>
                    <a:srgbClr val="F4F5F8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SHAP utilizes Shapley values for accurate feature attribution in predictions.</a:t>
              </a:r>
              <a:endParaRPr lang="en-US" sz="3200" u="none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6603507"/>
            <a:ext cx="3657600" cy="3683493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85800" y="7245857"/>
            <a:ext cx="2286000" cy="23987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136" r="-25136"/>
              </a:stretch>
            </a:blipFill>
          </p:spPr>
        </p:sp>
      </p:grpSp>
      <p:sp>
        <p:nvSpPr>
          <p:cNvPr id="9" name="TextBox 3"/>
          <p:cNvSpPr txBox="1"/>
          <p:nvPr/>
        </p:nvSpPr>
        <p:spPr>
          <a:xfrm>
            <a:off x="9982200" y="1181099"/>
            <a:ext cx="830580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350"/>
              </a:lnSpc>
              <a:spcBef>
                <a:spcPct val="0"/>
              </a:spcBef>
            </a:pPr>
            <a:r>
              <a:rPr lang="en-US" sz="7500" u="none" spc="-127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SHAP in a Nutshell</a:t>
            </a:r>
            <a:endParaRPr lang="en-US" sz="7500" u="none" spc="-127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8275674" y="3009900"/>
            <a:ext cx="6191978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3200" u="none" dirty="0" smtClean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Shapley Formula: </a:t>
            </a:r>
            <a:endParaRPr lang="en-US" sz="3200" u="none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8305800" y="6345983"/>
            <a:ext cx="9982200" cy="41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600" u="none" dirty="0" smtClean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SHAP explains predictions by attributing contributions to each feature</a:t>
            </a:r>
            <a:endParaRPr lang="en-US" sz="2600" u="none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621407"/>
            <a:ext cx="10012326" cy="1826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8001000" y="952500"/>
            <a:ext cx="152400" cy="914098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5372100"/>
            <a:ext cx="9982200" cy="871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530023"/>
            <a:ext cx="18288000" cy="4756977"/>
            <a:chOff x="0" y="0"/>
            <a:chExt cx="312477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776" cy="812800"/>
            </a:xfrm>
            <a:custGeom>
              <a:avLst/>
              <a:gdLst/>
              <a:ahLst/>
              <a:cxnLst/>
              <a:rect l="l" t="t" r="r" b="b"/>
              <a:pathLst>
                <a:path w="3124776" h="812800">
                  <a:moveTo>
                    <a:pt x="0" y="0"/>
                  </a:moveTo>
                  <a:lnTo>
                    <a:pt x="3124776" y="0"/>
                  </a:lnTo>
                  <a:lnTo>
                    <a:pt x="312477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"/>
              <a:stretch>
                <a:fillRect t="-77915" b="-7791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985837"/>
            <a:ext cx="17106900" cy="4113793"/>
            <a:chOff x="0" y="-57151"/>
            <a:chExt cx="22809200" cy="5485055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1"/>
              <a:ext cx="10680644" cy="2940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625"/>
                </a:lnSpc>
              </a:pPr>
              <a:r>
                <a:rPr lang="en-US" sz="8800" spc="-149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Loading Data &amp; </a:t>
              </a:r>
              <a:r>
                <a:rPr lang="en-US" sz="8800" spc="-149" dirty="0" smtClean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Computing SHAP</a:t>
              </a:r>
              <a:endParaRPr lang="en-US" sz="8800" spc="-149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28556" y="4829450"/>
              <a:ext cx="10680644" cy="598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800" dirty="0" smtClean="0">
                  <a:solidFill>
                    <a:srgbClr val="F4F5F8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1. Use XGBoost  + TreeExplainer for fast computation</a:t>
              </a:r>
              <a:endParaRPr lang="en-US" sz="28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2705100"/>
            <a:ext cx="8534400" cy="1806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8"/>
          <p:cNvSpPr txBox="1"/>
          <p:nvPr/>
        </p:nvSpPr>
        <p:spPr>
          <a:xfrm>
            <a:off x="10134600" y="5096746"/>
            <a:ext cx="8010483" cy="42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800" dirty="0" smtClean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2. Sample 10 rows for fast computation &amp; performance</a:t>
            </a:r>
            <a:endParaRPr lang="en-US" sz="28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1687216" y="2081654"/>
            <a:ext cx="4886284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4800" dirty="0" smtClean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Implementation</a:t>
            </a:r>
            <a:endParaRPr lang="en-US" sz="48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9144000" y="0"/>
            <a:ext cx="76200" cy="55300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24598" y="1028795"/>
            <a:ext cx="10761345" cy="2411095"/>
            <a:chOff x="-210345" y="4236512"/>
            <a:chExt cx="5646269" cy="6112539"/>
          </a:xfrm>
        </p:grpSpPr>
        <p:sp>
          <p:nvSpPr>
            <p:cNvPr id="3" name="AutoShape 3"/>
            <p:cNvSpPr/>
            <p:nvPr/>
          </p:nvSpPr>
          <p:spPr>
            <a:xfrm flipH="1">
              <a:off x="-210345" y="5798581"/>
              <a:ext cx="3478318" cy="0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210344" y="4236512"/>
              <a:ext cx="5112977" cy="1228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10"/>
                </a:lnSpc>
              </a:pPr>
              <a:r>
                <a:rPr lang="en-US" sz="3000" u="none" spc="5" dirty="0" err="1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Beeswarm</a:t>
              </a:r>
              <a:r>
                <a:rPr lang="en-US" sz="3000" u="none" spc="5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 </a:t>
              </a:r>
              <a:r>
                <a:rPr lang="en-US" sz="3000" u="none" spc="5" dirty="0" smtClean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Plot (global feature and impact)</a:t>
              </a:r>
              <a:endParaRPr lang="en-US" sz="3000" u="none" spc="5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05681" y="5798051"/>
              <a:ext cx="5641605" cy="45510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400" u="none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Beeswarm</a:t>
              </a:r>
              <a:r>
                <a:rPr lang="en-US" sz="24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 plots show feature importance and distributions of SHAP values</a:t>
              </a:r>
              <a:r>
                <a:rPr lang="en-US" sz="2400" u="none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.</a:t>
              </a:r>
              <a:endParaRPr lang="en-US" sz="2400" u="none" dirty="0" smtClean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342900" indent="-342900">
                <a:lnSpc>
                  <a:spcPts val="3500"/>
                </a:lnSpc>
                <a:spcBef>
                  <a:spcPct val="0"/>
                </a:spcBef>
                <a:buFont typeface="Wingdings" panose="05000000000000000000" pitchFamily="2" charset="2"/>
                <a:buChar char="v"/>
              </a:pPr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snapshot – each dot is one row of </a:t>
              </a: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  <a:endPara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ts val="3500"/>
                </a:lnSpc>
                <a:spcBef>
                  <a:spcPct val="0"/>
                </a:spcBef>
                <a:buFont typeface="Wingdings" panose="05000000000000000000" pitchFamily="2" charset="2"/>
                <a:buChar char="v"/>
              </a:pP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Horizontal </a:t>
              </a:r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spread ⇒ impact size (right = raises prediction, left = </a:t>
              </a: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lowers prediction)</a:t>
              </a:r>
              <a:endPara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ts val="3500"/>
                </a:lnSpc>
                <a:spcBef>
                  <a:spcPct val="0"/>
                </a:spcBef>
                <a:buFont typeface="Wingdings" panose="05000000000000000000" pitchFamily="2" charset="2"/>
                <a:buChar char="v"/>
              </a:pP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Colour </a:t>
              </a:r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⇒ original feature value (red = high, blue = low).</a:t>
              </a:r>
              <a:endParaRPr lang="en-US" sz="24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800" y="1790700"/>
            <a:ext cx="5410200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Understanding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SHAP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Visualizations</a:t>
            </a:r>
            <a:endParaRPr lang="en-US" sz="7200" u="none" spc="-136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3771900"/>
            <a:ext cx="10502900" cy="595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304800" y="1790700"/>
            <a:ext cx="5410200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Understanding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SHAP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Visualizations</a:t>
            </a:r>
            <a:endParaRPr lang="en-US" sz="7200" u="none" spc="-136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grpSp>
        <p:nvGrpSpPr>
          <p:cNvPr id="8" name="Group 6"/>
          <p:cNvGrpSpPr/>
          <p:nvPr/>
        </p:nvGrpSpPr>
        <p:grpSpPr>
          <a:xfrm>
            <a:off x="326676" y="5981700"/>
            <a:ext cx="7206552" cy="2910205"/>
            <a:chOff x="0" y="114824"/>
            <a:chExt cx="3791692" cy="6881482"/>
          </a:xfrm>
        </p:grpSpPr>
        <p:sp>
          <p:nvSpPr>
            <p:cNvPr id="9" name="AutoShape 7"/>
            <p:cNvSpPr/>
            <p:nvPr/>
          </p:nvSpPr>
          <p:spPr>
            <a:xfrm flipH="1">
              <a:off x="0" y="1628024"/>
              <a:ext cx="2554394" cy="0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TextBox 8"/>
            <p:cNvSpPr txBox="1"/>
            <p:nvPr/>
          </p:nvSpPr>
          <p:spPr>
            <a:xfrm>
              <a:off x="0" y="114824"/>
              <a:ext cx="3791692" cy="12432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110"/>
                </a:lnSpc>
              </a:pPr>
              <a:r>
                <a:rPr lang="en-US" sz="3000" u="none" spc="5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Bar </a:t>
              </a:r>
              <a:r>
                <a:rPr lang="en-US" sz="3000" u="none" spc="5" dirty="0" smtClean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Plot (ranked mean |SHAP| )</a:t>
              </a:r>
              <a:endParaRPr lang="en-US" sz="3000" u="none" spc="5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0" y="1689922"/>
              <a:ext cx="3396482" cy="53063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4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Bar plots provide clear comparisons of feature </a:t>
              </a:r>
              <a:endParaRPr lang="en-US" sz="24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4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contributions to model predictions</a:t>
              </a:r>
              <a:r>
                <a:rPr lang="en-US" sz="2400" u="none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.</a:t>
              </a:r>
              <a:endParaRPr lang="en-US" sz="2400" u="none" dirty="0" smtClean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Wingdings" panose="05000000000000000000" pitchFamily="2" charset="2"/>
                <a:buChar char="v"/>
              </a:pP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Mean </a:t>
              </a:r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|SHAP| ranks overall </a:t>
              </a: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importance.</a:t>
              </a:r>
              <a:endPara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Wingdings" panose="05000000000000000000" pitchFamily="2" charset="2"/>
                <a:buChar char="v"/>
              </a:pP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Fast </a:t>
              </a:r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“top-10 drivers” view for </a:t>
              </a: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executives.</a:t>
              </a:r>
              <a:endPara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Wingdings" panose="05000000000000000000" pitchFamily="2" charset="2"/>
                <a:buChar char="v"/>
              </a:pP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Good </a:t>
              </a:r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starting point before deeper dives</a:t>
              </a:r>
              <a:r>
                <a:rPr lang="en-US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4585" y="1621155"/>
            <a:ext cx="11732260" cy="7536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457200" y="495300"/>
            <a:ext cx="5410200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Understanding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SHAP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Visualizations</a:t>
            </a:r>
            <a:endParaRPr lang="en-US" sz="7200" u="none" spc="-136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grpSp>
        <p:nvGrpSpPr>
          <p:cNvPr id="8" name="Group 6"/>
          <p:cNvGrpSpPr/>
          <p:nvPr/>
        </p:nvGrpSpPr>
        <p:grpSpPr>
          <a:xfrm>
            <a:off x="533400" y="3551555"/>
            <a:ext cx="7937500" cy="5089545"/>
            <a:chOff x="0" y="-1426385"/>
            <a:chExt cx="5412454" cy="13310828"/>
          </a:xfrm>
        </p:grpSpPr>
        <p:sp>
          <p:nvSpPr>
            <p:cNvPr id="9" name="AutoShape 7"/>
            <p:cNvSpPr/>
            <p:nvPr/>
          </p:nvSpPr>
          <p:spPr>
            <a:xfrm flipH="1">
              <a:off x="0" y="19049"/>
              <a:ext cx="3241396" cy="0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TextBox 8"/>
            <p:cNvSpPr txBox="1"/>
            <p:nvPr/>
          </p:nvSpPr>
          <p:spPr>
            <a:xfrm>
              <a:off x="0" y="-1426385"/>
              <a:ext cx="5412454" cy="1378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10"/>
                </a:lnSpc>
              </a:pPr>
              <a:r>
                <a:rPr lang="en-US" altLang="en-US" sz="3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Waterfall Plot (single prediction explanation)</a:t>
              </a:r>
              <a:endParaRPr lang="en-US" sz="3000" u="none" spc="5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0" y="146382"/>
              <a:ext cx="5412454" cy="11738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Waterfall plots decompose an individual prediction into contributions from each feature.</a:t>
              </a:r>
              <a:endPara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endPara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Bars: Show how each feature pushes the prediction from the base value toward the final output.</a:t>
              </a:r>
              <a:endPara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Explains why a specific prediction was made.</a:t>
              </a:r>
              <a:endPara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Ideal for auditing model decisions at the individual case level.</a:t>
              </a:r>
              <a:endPara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Very useful in regulated settings (e.g., healthcare, finance) where interpretability is required.</a:t>
              </a:r>
              <a:endPara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endParaRPr lang="en-US" sz="24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0" y="2019300"/>
            <a:ext cx="8899525" cy="5323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381000" y="495300"/>
            <a:ext cx="5410200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Understanding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SHAP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Visualizations</a:t>
            </a:r>
            <a:endParaRPr lang="en-US" sz="7200" u="none" spc="-136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grpSp>
        <p:nvGrpSpPr>
          <p:cNvPr id="8" name="Group 6"/>
          <p:cNvGrpSpPr/>
          <p:nvPr/>
        </p:nvGrpSpPr>
        <p:grpSpPr>
          <a:xfrm>
            <a:off x="317500" y="3771900"/>
            <a:ext cx="8559165" cy="6181090"/>
            <a:chOff x="0" y="-1426385"/>
            <a:chExt cx="5464754" cy="12226124"/>
          </a:xfrm>
        </p:grpSpPr>
        <p:sp>
          <p:nvSpPr>
            <p:cNvPr id="9" name="AutoShape 7"/>
            <p:cNvSpPr/>
            <p:nvPr/>
          </p:nvSpPr>
          <p:spPr>
            <a:xfrm flipH="1">
              <a:off x="0" y="19049"/>
              <a:ext cx="3241396" cy="0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TextBox 8"/>
            <p:cNvSpPr txBox="1"/>
            <p:nvPr/>
          </p:nvSpPr>
          <p:spPr>
            <a:xfrm>
              <a:off x="0" y="-1426385"/>
              <a:ext cx="5412454" cy="1042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10"/>
                </a:lnSpc>
              </a:pPr>
              <a:r>
                <a:rPr lang="en-US" sz="3000" u="none" spc="5" dirty="0" smtClean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Dependence Plot </a:t>
              </a:r>
              <a:r>
                <a:rPr lang="en-US" altLang="en-US" sz="3000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(feature interactions)</a:t>
              </a:r>
              <a:endParaRPr lang="en-US" sz="3000" u="none" spc="5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0" y="146155"/>
              <a:ext cx="5464754" cy="106535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8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Dependence plots show how the SHAP value of a feature changes with its value, while also visualizing interaction effects.</a:t>
              </a:r>
              <a:endParaRPr lang="en-US" altLang="en-US" sz="28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8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- X-axis: The value of a selected feature.</a:t>
              </a:r>
              <a:endParaRPr lang="en-US" altLang="en-US" sz="28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8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- Y-axis: SHAP value (impact on model output).</a:t>
              </a:r>
              <a:endParaRPr lang="en-US" altLang="en-US" sz="28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8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- Color: (Optional) Interaction feature (auto-selected by SHAP if not specified).</a:t>
              </a:r>
              <a:endParaRPr lang="en-US" altLang="en-US" sz="28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8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- Helps identify non-linear effects and potential interactions between features.</a:t>
              </a:r>
              <a:endParaRPr lang="en-US" altLang="en-US" sz="28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altLang="en-US" sz="2800" u="none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- Great for understanding marginal effects of a feature across the dataset.</a:t>
              </a:r>
              <a:endParaRPr lang="en-US" altLang="en-US" sz="28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just">
                <a:lnSpc>
                  <a:spcPts val="3500"/>
                </a:lnSpc>
                <a:spcBef>
                  <a:spcPct val="0"/>
                </a:spcBef>
              </a:pPr>
              <a:endParaRPr lang="en-US" altLang="en-US" sz="2800" u="none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5653"/>
          <a:stretch>
            <a:fillRect/>
          </a:stretch>
        </p:blipFill>
        <p:spPr>
          <a:xfrm>
            <a:off x="9067800" y="647700"/>
            <a:ext cx="9097645" cy="5894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457200" y="419100"/>
            <a:ext cx="5410200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Understanding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SHAP </a:t>
            </a:r>
            <a:endParaRPr lang="en-US" sz="7200" u="none" spc="-136" dirty="0" smtClean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200" u="none" spc="-136" dirty="0" smtClean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Visualizations</a:t>
            </a:r>
            <a:endParaRPr lang="en-US" sz="7200" u="none" spc="-136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sp>
        <p:nvSpPr>
          <p:cNvPr id="9" name="AutoShape 7"/>
          <p:cNvSpPr/>
          <p:nvPr/>
        </p:nvSpPr>
        <p:spPr>
          <a:xfrm flipH="1">
            <a:off x="533400" y="4277995"/>
            <a:ext cx="7002145" cy="0"/>
          </a:xfrm>
          <a:prstGeom prst="line">
            <a:avLst/>
          </a:prstGeom>
          <a:ln w="38100" cap="flat">
            <a:solidFill>
              <a:srgbClr val="FCFCF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8"/>
          <p:cNvSpPr txBox="1"/>
          <p:nvPr/>
        </p:nvSpPr>
        <p:spPr>
          <a:xfrm>
            <a:off x="609600" y="3695700"/>
            <a:ext cx="7807325" cy="5168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/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Scatter Plot (single-feature SHAP values)</a:t>
            </a:r>
            <a:endParaRPr lang="en-US" altLang="en-US" sz="3000" u="none" spc="5" dirty="0">
              <a:solidFill>
                <a:schemeClr val="bg1"/>
              </a:solidFill>
              <a:latin typeface="Arial" panose="020B0604020202020204" pitchFamily="34" charset="0"/>
              <a:ea typeface="Arsenica Antiqua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81000" y="4533900"/>
            <a:ext cx="8678545" cy="5433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 scatter plots focus on one feature and how its values affect model predictions.</a:t>
            </a:r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X-axis: Feature values (e.g., `hour_cos`).</a:t>
            </a:r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Y-axis: Corresponding SHAP values.</a:t>
            </a:r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Unlike dependence plots, this does not include interaction coloring.</a:t>
            </a:r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Clean, focused view of how a feature individually contributes to prediction shifts.</a:t>
            </a:r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Useful when you want to drill into one specific feature's behavior.</a:t>
            </a:r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altLang="en-US" sz="3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6065" y="1562100"/>
            <a:ext cx="9006840" cy="6442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530023"/>
            <a:ext cx="18288000" cy="4756977"/>
            <a:chOff x="0" y="0"/>
            <a:chExt cx="312477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776" cy="812800"/>
            </a:xfrm>
            <a:custGeom>
              <a:avLst/>
              <a:gdLst/>
              <a:ahLst/>
              <a:cxnLst/>
              <a:rect l="l" t="t" r="r" b="b"/>
              <a:pathLst>
                <a:path w="3124776" h="812800">
                  <a:moveTo>
                    <a:pt x="0" y="0"/>
                  </a:moveTo>
                  <a:lnTo>
                    <a:pt x="3124776" y="0"/>
                  </a:lnTo>
                  <a:lnTo>
                    <a:pt x="312477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"/>
              <a:stretch>
                <a:fillRect t="-77915" b="-7791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5522989" y="2765011"/>
            <a:ext cx="2765011" cy="2765011"/>
          </a:xfrm>
          <a:custGeom>
            <a:avLst/>
            <a:gdLst/>
            <a:ahLst/>
            <a:cxnLst/>
            <a:rect l="l" t="t" r="r" b="b"/>
            <a:pathLst>
              <a:path w="2765011" h="2765011">
                <a:moveTo>
                  <a:pt x="0" y="0"/>
                </a:moveTo>
                <a:lnTo>
                  <a:pt x="2765011" y="0"/>
                </a:lnTo>
                <a:lnTo>
                  <a:pt x="2765011" y="2765012"/>
                </a:lnTo>
                <a:lnTo>
                  <a:pt x="0" y="276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757977" y="0"/>
            <a:ext cx="2765011" cy="2765011"/>
          </a:xfrm>
          <a:custGeom>
            <a:avLst/>
            <a:gdLst/>
            <a:ahLst/>
            <a:cxnLst/>
            <a:rect l="l" t="t" r="r" b="b"/>
            <a:pathLst>
              <a:path w="2765011" h="2765011">
                <a:moveTo>
                  <a:pt x="0" y="0"/>
                </a:moveTo>
                <a:lnTo>
                  <a:pt x="2765012" y="0"/>
                </a:lnTo>
                <a:lnTo>
                  <a:pt x="2765012" y="2765011"/>
                </a:lnTo>
                <a:lnTo>
                  <a:pt x="0" y="276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985837"/>
            <a:ext cx="11087100" cy="4256850"/>
            <a:chOff x="0" y="-57151"/>
            <a:chExt cx="14782800" cy="56758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1"/>
              <a:ext cx="14071600" cy="14704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625"/>
                </a:lnSpc>
              </a:pPr>
              <a:r>
                <a:rPr lang="en-US" sz="8800" spc="-149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Real World Case Study</a:t>
              </a:r>
              <a:endParaRPr lang="en-US" sz="8800" spc="-149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56" y="1525221"/>
              <a:ext cx="14643044" cy="40934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SHAP insights for municipal utilities yield significant cost savings</a:t>
              </a: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.</a:t>
              </a:r>
              <a:endPara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pPr marL="0" lvl="0" indent="0" algn="l">
                <a:lnSpc>
                  <a:spcPts val="3500"/>
                </a:lnSpc>
              </a:pP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 Case: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Municipal utility introduces dynamic </a:t>
              </a: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pricing</a:t>
              </a:r>
              <a:endPara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Insight from SHAP: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hour cost 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 Voltage drive peak loads at 18:00</a:t>
              </a: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Action: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Shift tariffs → 💰 Saved $120k/year with 3% peak shaving</a:t>
              </a: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l">
                <a:lnSpc>
                  <a:spcPts val="3500"/>
                </a:lnSpc>
              </a:pPr>
              <a:endPara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 flipV="1">
            <a:off x="0" y="6682253"/>
            <a:ext cx="18473484" cy="4188244"/>
          </a:xfrm>
          <a:custGeom>
            <a:avLst/>
            <a:gdLst/>
            <a:ahLst/>
            <a:cxnLst/>
            <a:rect l="l" t="t" r="r" b="b"/>
            <a:pathLst>
              <a:path w="18473484" h="4188244">
                <a:moveTo>
                  <a:pt x="18473484" y="4188244"/>
                </a:moveTo>
                <a:lnTo>
                  <a:pt x="0" y="4188244"/>
                </a:lnTo>
                <a:lnTo>
                  <a:pt x="0" y="0"/>
                </a:lnTo>
                <a:lnTo>
                  <a:pt x="18473484" y="0"/>
                </a:lnTo>
                <a:lnTo>
                  <a:pt x="18473484" y="4188244"/>
                </a:lnTo>
                <a:close/>
              </a:path>
            </a:pathLst>
          </a:custGeom>
          <a:blipFill>
            <a:blip r:embed="rId1"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05230" y="1028700"/>
            <a:ext cx="1654070" cy="1331739"/>
          </a:xfrm>
          <a:custGeom>
            <a:avLst/>
            <a:gdLst/>
            <a:ahLst/>
            <a:cxnLst/>
            <a:rect l="l" t="t" r="r" b="b"/>
            <a:pathLst>
              <a:path w="1654070" h="1331739">
                <a:moveTo>
                  <a:pt x="0" y="0"/>
                </a:moveTo>
                <a:lnTo>
                  <a:pt x="1654070" y="0"/>
                </a:lnTo>
                <a:lnTo>
                  <a:pt x="1654070" y="1331739"/>
                </a:lnTo>
                <a:lnTo>
                  <a:pt x="0" y="133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49388" y="1028700"/>
            <a:ext cx="1374214" cy="1331739"/>
          </a:xfrm>
          <a:custGeom>
            <a:avLst/>
            <a:gdLst/>
            <a:ahLst/>
            <a:cxnLst/>
            <a:rect l="l" t="t" r="r" b="b"/>
            <a:pathLst>
              <a:path w="1374214" h="1331739">
                <a:moveTo>
                  <a:pt x="0" y="0"/>
                </a:moveTo>
                <a:lnTo>
                  <a:pt x="1374214" y="0"/>
                </a:lnTo>
                <a:lnTo>
                  <a:pt x="1374214" y="1331739"/>
                </a:lnTo>
                <a:lnTo>
                  <a:pt x="0" y="1331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3938" y="971550"/>
            <a:ext cx="10694929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5"/>
              </a:lnSpc>
            </a:pPr>
            <a:r>
              <a:rPr lang="en-US" sz="8800" spc="-149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SHAP Best Practices</a:t>
            </a:r>
            <a:endParaRPr lang="en-US" sz="8800" spc="-149" dirty="0">
              <a:solidFill>
                <a:srgbClr val="F4F5F8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23938" y="3848100"/>
          <a:ext cx="16578262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79285"/>
                <a:gridCol w="959897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Concern</a:t>
                      </a:r>
                      <a:endParaRPr lang="en-US" sz="40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  <a:endParaRPr lang="en-US" sz="40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 cost</a:t>
                      </a:r>
                      <a:endParaRPr lang="en-US" sz="40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sampling or </a:t>
                      </a:r>
                      <a:r>
                        <a:rPr lang="en-US" sz="40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TreeSHAP</a:t>
                      </a:r>
                      <a:endParaRPr lang="en-US" sz="40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correlation</a:t>
                      </a:r>
                      <a:endParaRPr lang="en-US" sz="40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SHAP interaction values</a:t>
                      </a:r>
                      <a:endParaRPr lang="en-US" sz="40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 support</a:t>
                      </a:r>
                      <a:endParaRPr lang="en-US" sz="40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US" sz="40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TreeSHAP</a:t>
                      </a:r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tress, </a:t>
                      </a:r>
                      <a:r>
                        <a:rPr lang="en-US" sz="40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KernelSHAP</a:t>
                      </a:r>
                      <a:r>
                        <a:rPr lang="en-US" sz="4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others</a:t>
                      </a:r>
                      <a:endParaRPr lang="en-US" sz="40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612515"/>
            <a:ext cx="7197090" cy="3118468"/>
            <a:chOff x="0" y="654051"/>
            <a:chExt cx="11331222" cy="4157685"/>
          </a:xfrm>
        </p:grpSpPr>
        <p:sp>
          <p:nvSpPr>
            <p:cNvPr id="3" name="TextBox 3"/>
            <p:cNvSpPr txBox="1"/>
            <p:nvPr/>
          </p:nvSpPr>
          <p:spPr>
            <a:xfrm>
              <a:off x="0" y="654051"/>
              <a:ext cx="9723119" cy="26803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840"/>
                </a:lnSpc>
              </a:pPr>
              <a:r>
                <a:rPr lang="en-US" sz="8000" spc="-136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Lab Tasks for </a:t>
              </a:r>
              <a:endParaRPr lang="en-US" sz="8000" spc="-136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  <a:p>
              <a:pPr marL="0" lvl="0" indent="0" algn="l">
                <a:lnSpc>
                  <a:spcPts val="7840"/>
                </a:lnSpc>
              </a:pPr>
              <a:r>
                <a:rPr lang="en-US" sz="8000" spc="-136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SHAP Analysis</a:t>
              </a:r>
              <a:endParaRPr lang="en-US" sz="8000" spc="-136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800" y="4256359"/>
              <a:ext cx="11280422" cy="555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</a:pPr>
              <a:r>
                <a:rPr lang="en-US" sz="2500" dirty="0">
                  <a:solidFill>
                    <a:srgbClr val="F4F5F8"/>
                  </a:solidFill>
                  <a:latin typeface="Times New Roman" panose="02020603050405020304" pitchFamily="18" charset="0"/>
                  <a:ea typeface="Rugrats Sans"/>
                  <a:cs typeface="Times New Roman" panose="02020603050405020304" pitchFamily="18" charset="0"/>
                  <a:sym typeface="Rugrats Sans"/>
                </a:rPr>
                <a:t>Engage with practical tasks to understand SHAP better</a:t>
              </a:r>
              <a:endParaRPr lang="en-US" sz="25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endParaRPr>
            </a:p>
          </p:txBody>
        </p:sp>
        <p:sp>
          <p:nvSpPr>
            <p:cNvPr id="5" name="AutoShape 5"/>
            <p:cNvSpPr/>
            <p:nvPr/>
          </p:nvSpPr>
          <p:spPr>
            <a:xfrm flipH="1" flipV="1">
              <a:off x="23707" y="3606378"/>
              <a:ext cx="8337126" cy="33867"/>
            </a:xfrm>
            <a:prstGeom prst="line">
              <a:avLst/>
            </a:prstGeom>
            <a:ln w="38100" cap="flat">
              <a:solidFill>
                <a:srgbClr val="FCFCFD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Freeform 6"/>
          <p:cNvSpPr/>
          <p:nvPr/>
        </p:nvSpPr>
        <p:spPr>
          <a:xfrm>
            <a:off x="16777970" y="0"/>
            <a:ext cx="1510030" cy="1221105"/>
          </a:xfrm>
          <a:custGeom>
            <a:avLst/>
            <a:gdLst/>
            <a:ahLst/>
            <a:cxnLst/>
            <a:rect l="l" t="t" r="r" b="b"/>
            <a:pathLst>
              <a:path w="2350957" h="2350957">
                <a:moveTo>
                  <a:pt x="0" y="0"/>
                </a:moveTo>
                <a:lnTo>
                  <a:pt x="2350957" y="0"/>
                </a:lnTo>
                <a:lnTo>
                  <a:pt x="2350957" y="2350957"/>
                </a:lnTo>
                <a:lnTo>
                  <a:pt x="0" y="23509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" y="8267494"/>
            <a:ext cx="2171906" cy="2171906"/>
          </a:xfrm>
          <a:custGeom>
            <a:avLst/>
            <a:gdLst/>
            <a:ahLst/>
            <a:cxnLst/>
            <a:rect l="l" t="t" r="r" b="b"/>
            <a:pathLst>
              <a:path w="2171906" h="2171906">
                <a:moveTo>
                  <a:pt x="0" y="0"/>
                </a:moveTo>
                <a:lnTo>
                  <a:pt x="2171906" y="0"/>
                </a:lnTo>
                <a:lnTo>
                  <a:pt x="2171906" y="2171906"/>
                </a:lnTo>
                <a:lnTo>
                  <a:pt x="0" y="2171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8610600" y="1943100"/>
            <a:ext cx="9465945" cy="7479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Compute SHAP values using your dataset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Generate visual plots for results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Reflect on the insights gained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Bonus interaction with peers for discussion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Compare SHAP results with traditional methods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Document your findings for future reference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Explore additional resources for deeper understanding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3600" dirty="0">
                <a:solidFill>
                  <a:srgbClr val="F4F5F8"/>
                </a:solidFill>
                <a:latin typeface="Times New Roman" panose="02020603050405020304" pitchFamily="18" charset="0"/>
                <a:ea typeface="Rugrats Sans"/>
                <a:cs typeface="Times New Roman" panose="02020603050405020304" pitchFamily="18" charset="0"/>
                <a:sym typeface="Rugrats Sans"/>
              </a:rPr>
              <a:t>Share results with the class for feedback</a:t>
            </a:r>
            <a:endParaRPr lang="en-US" sz="3600" dirty="0">
              <a:solidFill>
                <a:srgbClr val="F4F5F8"/>
              </a:solidFill>
              <a:latin typeface="Times New Roman" panose="02020603050405020304" pitchFamily="18" charset="0"/>
              <a:ea typeface="Rugrats Sans"/>
              <a:cs typeface="Times New Roman" panose="02020603050405020304" pitchFamily="18" charset="0"/>
              <a:sym typeface="Rugrats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1562100"/>
            <a:ext cx="10647045" cy="5167630"/>
            <a:chOff x="0" y="-57149"/>
            <a:chExt cx="13900336" cy="6890175"/>
          </a:xfrm>
        </p:grpSpPr>
        <p:sp>
          <p:nvSpPr>
            <p:cNvPr id="3" name="TextBox 3"/>
            <p:cNvSpPr txBox="1"/>
            <p:nvPr/>
          </p:nvSpPr>
          <p:spPr>
            <a:xfrm>
              <a:off x="0" y="-57149"/>
              <a:ext cx="13900336" cy="2680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8000" u="none" spc="-136" dirty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“SHAP bridges accuracy and </a:t>
              </a:r>
              <a:r>
                <a:rPr lang="en-US" sz="8000" u="none" spc="-136" dirty="0" smtClean="0">
                  <a:solidFill>
                    <a:srgbClr val="F4F5F8"/>
                  </a:solidFill>
                  <a:latin typeface="Times New Roman" panose="02020603050405020304" pitchFamily="18" charset="0"/>
                  <a:ea typeface="Arsenica Antiqua"/>
                  <a:cs typeface="Times New Roman" panose="02020603050405020304" pitchFamily="18" charset="0"/>
                  <a:sym typeface="Arsenica Antiqua"/>
                </a:rPr>
                <a:t>trust”</a:t>
              </a:r>
              <a:endParaRPr lang="en-US" sz="8000" u="none" spc="-136" dirty="0">
                <a:solidFill>
                  <a:srgbClr val="F4F5F8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666" y="3116158"/>
              <a:ext cx="12439408" cy="371686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By translating feature importance into visual, human-understandable insights, SHAP empowers</a:t>
              </a:r>
              <a:r>
                <a:rPr lang="en-US" sz="32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Analysts</a:t>
              </a:r>
              <a:endPara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Policy </a:t>
              </a:r>
              <a:r>
                <a:rPr lang="en-US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makers</a:t>
              </a:r>
              <a:endPara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Engineers</a:t>
              </a:r>
              <a:endPara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141897" y="0"/>
            <a:ext cx="5146103" cy="5146103"/>
          </a:xfrm>
          <a:custGeom>
            <a:avLst/>
            <a:gdLst/>
            <a:ahLst/>
            <a:cxnLst/>
            <a:rect l="l" t="t" r="r" b="b"/>
            <a:pathLst>
              <a:path w="5146103" h="5146103">
                <a:moveTo>
                  <a:pt x="0" y="0"/>
                </a:moveTo>
                <a:lnTo>
                  <a:pt x="5146103" y="0"/>
                </a:lnTo>
                <a:lnTo>
                  <a:pt x="5146103" y="5146103"/>
                </a:lnTo>
                <a:lnTo>
                  <a:pt x="0" y="51461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41897" y="5140897"/>
            <a:ext cx="5146103" cy="5146103"/>
          </a:xfrm>
          <a:custGeom>
            <a:avLst/>
            <a:gdLst/>
            <a:ahLst/>
            <a:cxnLst/>
            <a:rect l="l" t="t" r="r" b="b"/>
            <a:pathLst>
              <a:path w="5146103" h="5146103">
                <a:moveTo>
                  <a:pt x="0" y="0"/>
                </a:moveTo>
                <a:lnTo>
                  <a:pt x="5146103" y="0"/>
                </a:lnTo>
                <a:lnTo>
                  <a:pt x="5146103" y="5146103"/>
                </a:lnTo>
                <a:lnTo>
                  <a:pt x="0" y="5146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155924" cy="10269368"/>
          </a:xfrm>
          <a:custGeom>
            <a:avLst/>
            <a:gdLst/>
            <a:ahLst/>
            <a:cxnLst/>
            <a:rect l="l" t="t" r="r" b="b"/>
            <a:pathLst>
              <a:path w="6155924" h="10269368">
                <a:moveTo>
                  <a:pt x="0" y="0"/>
                </a:moveTo>
                <a:lnTo>
                  <a:pt x="6155924" y="0"/>
                </a:lnTo>
                <a:lnTo>
                  <a:pt x="6155924" y="10269368"/>
                </a:lnTo>
                <a:lnTo>
                  <a:pt x="0" y="102693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682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200" y="4841106"/>
            <a:ext cx="5800060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30"/>
              </a:lnSpc>
              <a:spcBef>
                <a:spcPct val="0"/>
              </a:spcBef>
            </a:pPr>
            <a:r>
              <a:rPr lang="en-US" sz="8500" u="none" spc="-144" dirty="0" smtClean="0">
                <a:solidFill>
                  <a:schemeClr val="bg1"/>
                </a:solidFill>
                <a:latin typeface="Times New Roman" panose="02020603050405020304" pitchFamily="18" charset="0"/>
                <a:ea typeface="Arsenica Antiqua"/>
                <a:cs typeface="Times New Roman" panose="02020603050405020304" pitchFamily="18" charset="0"/>
                <a:sym typeface="Arsenica Antiqua"/>
              </a:rPr>
              <a:t>The End</a:t>
            </a:r>
            <a:endParaRPr lang="en-US" sz="8500" u="none" spc="-144" dirty="0">
              <a:solidFill>
                <a:schemeClr val="bg1"/>
              </a:solidFill>
              <a:latin typeface="Times New Roman" panose="02020603050405020304" pitchFamily="18" charset="0"/>
              <a:ea typeface="Arsenica Antiqua"/>
              <a:cs typeface="Times New Roman" panose="02020603050405020304" pitchFamily="18" charset="0"/>
              <a:sym typeface="Arsenica Antiqu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89324" y="3896261"/>
            <a:ext cx="112176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5"/>
          <p:cNvSpPr/>
          <p:nvPr/>
        </p:nvSpPr>
        <p:spPr>
          <a:xfrm>
            <a:off x="10972800" y="1379561"/>
            <a:ext cx="1915717" cy="1846054"/>
          </a:xfrm>
          <a:custGeom>
            <a:avLst/>
            <a:gdLst/>
            <a:ahLst/>
            <a:cxnLst/>
            <a:rect l="l" t="t" r="r" b="b"/>
            <a:pathLst>
              <a:path w="2554289" h="2461405">
                <a:moveTo>
                  <a:pt x="0" y="0"/>
                </a:moveTo>
                <a:lnTo>
                  <a:pt x="2554289" y="0"/>
                </a:lnTo>
                <a:lnTo>
                  <a:pt x="2554289" y="2461405"/>
                </a:lnTo>
                <a:lnTo>
                  <a:pt x="0" y="2461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4476</Words>
  <Application>WPS Presentation</Application>
  <PresentationFormat>Custom</PresentationFormat>
  <Paragraphs>173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Arsenica Antiqua</vt:lpstr>
      <vt:lpstr>Euphorigenic</vt:lpstr>
      <vt:lpstr>Rugrats Sans</vt:lpstr>
      <vt:lpstr>Arial Unicode MS</vt:lpstr>
      <vt:lpstr>Arial</vt:lpstr>
      <vt:lpstr>Microsoft YaHei</vt:lpstr>
      <vt:lpstr>Arial Unicode MS</vt:lpstr>
      <vt:lpstr>Calibri</vt:lpstr>
      <vt:lpstr>Algerian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Explainable AI with SHAP</dc:title>
  <dc:creator/>
  <dc:description>Presentation - Explainable AI with SHAP</dc:description>
  <cp:lastModifiedBy>Grace</cp:lastModifiedBy>
  <cp:revision>17</cp:revision>
  <dcterms:created xsi:type="dcterms:W3CDTF">2006-08-16T00:00:00Z</dcterms:created>
  <dcterms:modified xsi:type="dcterms:W3CDTF">2025-07-13T06:14:43Z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42912440C4814F48985A45F296D02C28_12</vt:lpwstr>
  </property>
  <property fmtid="{D5CDD505-2E9C-101B-9397-08002B2CF9AE}" pid="3" name="KSOProductBuildVer">
    <vt:lpwstr>1033-12.2.0.21931</vt:lpwstr>
  </property>
</Properties>
</file>