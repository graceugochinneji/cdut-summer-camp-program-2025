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70" r:id="rId6"/>
    <p:sldId id="260" r:id="rId7"/>
    <p:sldId id="261" r:id="rId8"/>
    <p:sldId id="262" r:id="rId9"/>
    <p:sldId id="263" r:id="rId10"/>
    <p:sldId id="264" r:id="rId11"/>
    <p:sldId id="265" r:id="rId12"/>
    <p:sldId id="266" r:id="rId13"/>
    <p:sldId id="267" r:id="rId14"/>
    <p:sldId id="268" r:id="rId15"/>
    <p:sldId id="269" r:id="rId16"/>
  </p:sldIdLst>
  <p:sldSz cx="18288000" cy="10287000"/>
  <p:notesSz cx="6858000" cy="9144000"/>
  <p:embeddedFontLst>
    <p:embeddedFont>
      <p:font typeface="Antic" charset="0"/>
      <p:regular r:id="rId17"/>
    </p:embeddedFont>
    <p:embeddedFont>
      <p:font typeface="Atkinson Hyperlegible" charset="0"/>
      <p:regular r:id="rId18"/>
    </p:embeddedFont>
    <p:embeddedFont>
      <p:font typeface="Atkinson Hyperlegible Bold" charset="0"/>
      <p:bold r:id="rId19"/>
    </p:embeddedFont>
    <p:embeddedFont>
      <p:font typeface="Calibri"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85" autoAdjust="0"/>
    <p:restoredTop sz="94622" autoAdjust="0"/>
  </p:normalViewPr>
  <p:slideViewPr>
    <p:cSldViewPr>
      <p:cViewPr>
        <p:scale>
          <a:sx n="55" d="100"/>
          <a:sy n="55" d="100"/>
        </p:scale>
        <p:origin x="-1512" y="-98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7/7/2025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18" Type="http://schemas.openxmlformats.org/officeDocument/2006/relationships/image" Target="../media/image17.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17" Type="http://schemas.openxmlformats.org/officeDocument/2006/relationships/image" Target="../media/image9.png"/><Relationship Id="rId2" Type="http://schemas.openxmlformats.org/officeDocument/2006/relationships/image" Target="../media/image1.png"/><Relationship Id="rId16"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19" Type="http://schemas.openxmlformats.org/officeDocument/2006/relationships/image" Target="../media/image10.jpe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2.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8.pn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2.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7.png"/><Relationship Id="rId5" Type="http://schemas.openxmlformats.org/officeDocument/2006/relationships/image" Target="../media/image26.svg"/><Relationship Id="rId10" Type="http://schemas.openxmlformats.org/officeDocument/2006/relationships/image" Target="../media/image30.svg"/><Relationship Id="rId4" Type="http://schemas.openxmlformats.org/officeDocument/2006/relationships/image" Target="../media/image14.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4.svg"/><Relationship Id="rId7" Type="http://schemas.openxmlformats.org/officeDocument/2006/relationships/image" Target="../media/image8.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6.sv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40.sv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46.svg"/><Relationship Id="rId10" Type="http://schemas.openxmlformats.org/officeDocument/2006/relationships/image" Target="../media/image8.png"/><Relationship Id="rId4" Type="http://schemas.openxmlformats.org/officeDocument/2006/relationships/image" Target="../media/image24.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0.svg"/><Relationship Id="rId7" Type="http://schemas.openxmlformats.org/officeDocument/2006/relationships/image" Target="../media/image54.svg"/><Relationship Id="rId12" Type="http://schemas.openxmlformats.org/officeDocument/2006/relationships/image" Target="../media/image58.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0.png"/><Relationship Id="rId5" Type="http://schemas.openxmlformats.org/officeDocument/2006/relationships/image" Target="../media/image52.svg"/><Relationship Id="rId10" Type="http://schemas.openxmlformats.org/officeDocument/2006/relationships/image" Target="../media/image8.png"/><Relationship Id="rId4" Type="http://schemas.openxmlformats.org/officeDocument/2006/relationships/image" Target="../media/image27.png"/><Relationship Id="rId9" Type="http://schemas.openxmlformats.org/officeDocument/2006/relationships/image" Target="../media/image56.svg"/></Relationships>
</file>

<file path=ppt/slides/_rels/slide8.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hyperlink" Target="https://www.python.org/downloads/" TargetMode="External"/><Relationship Id="rId5" Type="http://schemas.openxmlformats.org/officeDocument/2006/relationships/image" Target="../media/image22.sv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hyperlink" Target="https://www.anaconda.com/products/distribution" TargetMode="External"/><Relationship Id="rId5" Type="http://schemas.openxmlformats.org/officeDocument/2006/relationships/image" Target="../media/image22.sv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svg"/><Relationship Id="rId7" Type="http://schemas.openxmlformats.org/officeDocument/2006/relationships/image" Target="../media/image3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6.svg"/><Relationship Id="rId10"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58.sv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52.svg"/><Relationship Id="rId10" Type="http://schemas.openxmlformats.org/officeDocument/2006/relationships/image" Target="../media/image8.png"/><Relationship Id="rId4" Type="http://schemas.openxmlformats.org/officeDocument/2006/relationships/image" Target="../media/image27.png"/><Relationship Id="rId9" Type="http://schemas.openxmlformats.org/officeDocument/2006/relationships/image" Target="../media/image56.svg"/></Relationships>
</file>

<file path=ppt/slides/_rels/slide12.xml.rels><?xml version="1.0" encoding="UTF-8" standalone="yes"?>
<Relationships xmlns="http://schemas.openxmlformats.org/package/2006/relationships"><Relationship Id="rId8" Type="http://schemas.openxmlformats.org/officeDocument/2006/relationships/image" Target="../media/image65.svg"/><Relationship Id="rId13" Type="http://schemas.openxmlformats.org/officeDocument/2006/relationships/hyperlink" Target="https://pandas.pydata.org/docs/" TargetMode="External"/><Relationship Id="rId18" Type="http://schemas.openxmlformats.org/officeDocument/2006/relationships/hyperlink" Target="https://supabase.com/docs" TargetMode="External"/><Relationship Id="rId3" Type="http://schemas.openxmlformats.org/officeDocument/2006/relationships/image" Target="../media/image60.svg"/><Relationship Id="rId7" Type="http://schemas.openxmlformats.org/officeDocument/2006/relationships/image" Target="../media/image34.png"/><Relationship Id="rId12" Type="http://schemas.openxmlformats.org/officeDocument/2006/relationships/hyperlink" Target="https://numpy.org/doc/" TargetMode="External"/><Relationship Id="rId17" Type="http://schemas.openxmlformats.org/officeDocument/2006/relationships/hyperlink" Target="https://docs.streamlit.io" TargetMode="External"/><Relationship Id="rId2" Type="http://schemas.openxmlformats.org/officeDocument/2006/relationships/image" Target="../media/image31.png"/><Relationship Id="rId16" Type="http://schemas.openxmlformats.org/officeDocument/2006/relationships/hyperlink" Target="https://scikit-learn.org/stable/user_guide.html" TargetMode="External"/><Relationship Id="rId1" Type="http://schemas.openxmlformats.org/officeDocument/2006/relationships/slideLayout" Target="../slideLayouts/slideLayout7.xml"/><Relationship Id="rId6" Type="http://schemas.openxmlformats.org/officeDocument/2006/relationships/image" Target="../media/image33.jpeg"/><Relationship Id="rId11" Type="http://schemas.openxmlformats.org/officeDocument/2006/relationships/image" Target="../media/image8.png"/><Relationship Id="rId5" Type="http://schemas.openxmlformats.org/officeDocument/2006/relationships/image" Target="../media/image62.svg"/><Relationship Id="rId15" Type="http://schemas.openxmlformats.org/officeDocument/2006/relationships/hyperlink" Target="https://seaborn.pydata.org" TargetMode="External"/><Relationship Id="rId10" Type="http://schemas.openxmlformats.org/officeDocument/2006/relationships/image" Target="../media/image67.svg"/><Relationship Id="rId4" Type="http://schemas.openxmlformats.org/officeDocument/2006/relationships/image" Target="../media/image32.png"/><Relationship Id="rId9" Type="http://schemas.openxmlformats.org/officeDocument/2006/relationships/image" Target="../media/image35.png"/><Relationship Id="rId14" Type="http://schemas.openxmlformats.org/officeDocument/2006/relationships/hyperlink" Target="https://matplotlib.org/stable/contents.html"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10.svg"/><Relationship Id="rId18" Type="http://schemas.openxmlformats.org/officeDocument/2006/relationships/image" Target="../media/image8.png"/><Relationship Id="rId3" Type="http://schemas.openxmlformats.org/officeDocument/2006/relationships/image" Target="../media/image69.svg"/><Relationship Id="rId7" Type="http://schemas.openxmlformats.org/officeDocument/2006/relationships/image" Target="../media/image4.svg"/><Relationship Id="rId12" Type="http://schemas.openxmlformats.org/officeDocument/2006/relationships/image" Target="../media/image5.png"/><Relationship Id="rId17" Type="http://schemas.openxmlformats.org/officeDocument/2006/relationships/image" Target="../media/image14.svg"/><Relationship Id="rId2" Type="http://schemas.openxmlformats.org/officeDocument/2006/relationships/image" Target="../media/image36.png"/><Relationship Id="rId16"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8.svg"/><Relationship Id="rId5" Type="http://schemas.openxmlformats.org/officeDocument/2006/relationships/image" Target="../media/image2.svg"/><Relationship Id="rId15" Type="http://schemas.openxmlformats.org/officeDocument/2006/relationships/image" Target="../media/image12.svg"/><Relationship Id="rId10"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image" Target="../media/image6.svg"/><Relationship Id="rId1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10.svg"/><Relationship Id="rId18" Type="http://schemas.openxmlformats.org/officeDocument/2006/relationships/image" Target="../media/image8.png"/><Relationship Id="rId3" Type="http://schemas.openxmlformats.org/officeDocument/2006/relationships/image" Target="../media/image69.svg"/><Relationship Id="rId7" Type="http://schemas.openxmlformats.org/officeDocument/2006/relationships/image" Target="../media/image4.svg"/><Relationship Id="rId12" Type="http://schemas.openxmlformats.org/officeDocument/2006/relationships/image" Target="../media/image5.png"/><Relationship Id="rId17" Type="http://schemas.openxmlformats.org/officeDocument/2006/relationships/image" Target="../media/image14.svg"/><Relationship Id="rId2" Type="http://schemas.openxmlformats.org/officeDocument/2006/relationships/image" Target="../media/image36.png"/><Relationship Id="rId16"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8.svg"/><Relationship Id="rId5" Type="http://schemas.openxmlformats.org/officeDocument/2006/relationships/image" Target="../media/image2.svg"/><Relationship Id="rId15" Type="http://schemas.openxmlformats.org/officeDocument/2006/relationships/image" Target="../media/image12.svg"/><Relationship Id="rId10"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image" Target="../media/image6.svg"/><Relationship Id="rId1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a:off x="-5358853" y="-6495664"/>
            <a:ext cx="6761467" cy="7763688"/>
          </a:xfrm>
          <a:custGeom>
            <a:avLst/>
            <a:gdLst/>
            <a:ahLst/>
            <a:cxnLst/>
            <a:rect l="l" t="t" r="r" b="b"/>
            <a:pathLst>
              <a:path w="6761467" h="7763688">
                <a:moveTo>
                  <a:pt x="0" y="0"/>
                </a:moveTo>
                <a:lnTo>
                  <a:pt x="6761466" y="0"/>
                </a:lnTo>
                <a:lnTo>
                  <a:pt x="6761466" y="7763688"/>
                </a:lnTo>
                <a:lnTo>
                  <a:pt x="0" y="7763688"/>
                </a:lnTo>
                <a:lnTo>
                  <a:pt x="0" y="0"/>
                </a:lnTo>
                <a:close/>
              </a:path>
            </a:pathLst>
          </a:custGeom>
          <a:blipFill>
            <a:blip r:embed="rId2">
              <a:alphaModFix amt="0"/>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17499545" y="535253"/>
            <a:ext cx="493447" cy="493447"/>
            <a:chOff x="0" y="0"/>
            <a:chExt cx="657929" cy="657929"/>
          </a:xfrm>
        </p:grpSpPr>
        <p:grpSp>
          <p:nvGrpSpPr>
            <p:cNvPr id="4" name="Group 4"/>
            <p:cNvGrpSpPr>
              <a:grpSpLocks noChangeAspect="1"/>
            </p:cNvGrpSpPr>
            <p:nvPr/>
          </p:nvGrpSpPr>
          <p:grpSpPr>
            <a:xfrm>
              <a:off x="0" y="0"/>
              <a:ext cx="657929" cy="657929"/>
              <a:chOff x="0" y="0"/>
              <a:chExt cx="6355080" cy="6355080"/>
            </a:xfrm>
          </p:grpSpPr>
          <p:sp>
            <p:nvSpPr>
              <p:cNvPr id="5" name="Freeform 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5B2E2"/>
              </a:solidFill>
            </p:spPr>
          </p:sp>
        </p:grpSp>
        <p:sp>
          <p:nvSpPr>
            <p:cNvPr id="6" name="Freeform 6"/>
            <p:cNvSpPr/>
            <p:nvPr/>
          </p:nvSpPr>
          <p:spPr>
            <a:xfrm rot="5400000">
              <a:off x="109655" y="109655"/>
              <a:ext cx="438619" cy="438619"/>
            </a:xfrm>
            <a:custGeom>
              <a:avLst/>
              <a:gdLst/>
              <a:ahLst/>
              <a:cxnLst/>
              <a:rect l="l" t="t" r="r" b="b"/>
              <a:pathLst>
                <a:path w="438619" h="438619">
                  <a:moveTo>
                    <a:pt x="0" y="0"/>
                  </a:moveTo>
                  <a:lnTo>
                    <a:pt x="438619" y="0"/>
                  </a:lnTo>
                  <a:lnTo>
                    <a:pt x="438619" y="438619"/>
                  </a:lnTo>
                  <a:lnTo>
                    <a:pt x="0" y="43861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sp>
        <p:nvSpPr>
          <p:cNvPr id="7" name="Freeform 7"/>
          <p:cNvSpPr/>
          <p:nvPr/>
        </p:nvSpPr>
        <p:spPr>
          <a:xfrm>
            <a:off x="-486577" y="8010213"/>
            <a:ext cx="3144050" cy="3144050"/>
          </a:xfrm>
          <a:custGeom>
            <a:avLst/>
            <a:gdLst/>
            <a:ahLst/>
            <a:cxnLst/>
            <a:rect l="l" t="t" r="r" b="b"/>
            <a:pathLst>
              <a:path w="3144050" h="3144050">
                <a:moveTo>
                  <a:pt x="0" y="0"/>
                </a:moveTo>
                <a:lnTo>
                  <a:pt x="3144050" y="0"/>
                </a:lnTo>
                <a:lnTo>
                  <a:pt x="3144050" y="3144050"/>
                </a:lnTo>
                <a:lnTo>
                  <a:pt x="0" y="314405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Freeform 8"/>
          <p:cNvSpPr/>
          <p:nvPr/>
        </p:nvSpPr>
        <p:spPr>
          <a:xfrm rot="5400000" flipV="1">
            <a:off x="14159427" y="0"/>
            <a:ext cx="4128573" cy="4128573"/>
          </a:xfrm>
          <a:custGeom>
            <a:avLst/>
            <a:gdLst/>
            <a:ahLst/>
            <a:cxnLst/>
            <a:rect l="l" t="t" r="r" b="b"/>
            <a:pathLst>
              <a:path w="4128573" h="4128573">
                <a:moveTo>
                  <a:pt x="0" y="4128573"/>
                </a:moveTo>
                <a:lnTo>
                  <a:pt x="4128573" y="4128573"/>
                </a:lnTo>
                <a:lnTo>
                  <a:pt x="4128573" y="0"/>
                </a:lnTo>
                <a:lnTo>
                  <a:pt x="0" y="0"/>
                </a:lnTo>
                <a:lnTo>
                  <a:pt x="0" y="4128573"/>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9" name="Freeform 9"/>
          <p:cNvSpPr/>
          <p:nvPr/>
        </p:nvSpPr>
        <p:spPr>
          <a:xfrm rot="-2532842">
            <a:off x="16867505" y="7632065"/>
            <a:ext cx="2555240" cy="2882900"/>
          </a:xfrm>
          <a:custGeom>
            <a:avLst/>
            <a:gdLst/>
            <a:ahLst/>
            <a:cxnLst/>
            <a:rect l="l" t="t" r="r" b="b"/>
            <a:pathLst>
              <a:path w="3824111" h="3639073">
                <a:moveTo>
                  <a:pt x="0" y="0"/>
                </a:moveTo>
                <a:lnTo>
                  <a:pt x="3824111" y="0"/>
                </a:lnTo>
                <a:lnTo>
                  <a:pt x="3824111" y="3639074"/>
                </a:lnTo>
                <a:lnTo>
                  <a:pt x="0" y="363907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0" name="Freeform 10"/>
          <p:cNvSpPr/>
          <p:nvPr/>
        </p:nvSpPr>
        <p:spPr>
          <a:xfrm rot="5400000" flipH="1" flipV="1">
            <a:off x="0" y="23297"/>
            <a:ext cx="2500196" cy="2500196"/>
          </a:xfrm>
          <a:custGeom>
            <a:avLst/>
            <a:gdLst/>
            <a:ahLst/>
            <a:cxnLst/>
            <a:rect l="l" t="t" r="r" b="b"/>
            <a:pathLst>
              <a:path w="2500196" h="2500196">
                <a:moveTo>
                  <a:pt x="2500196" y="2500196"/>
                </a:moveTo>
                <a:lnTo>
                  <a:pt x="0" y="2500196"/>
                </a:lnTo>
                <a:lnTo>
                  <a:pt x="0" y="0"/>
                </a:lnTo>
                <a:lnTo>
                  <a:pt x="2500196" y="0"/>
                </a:lnTo>
                <a:lnTo>
                  <a:pt x="2500196" y="2500196"/>
                </a:lnTo>
                <a:close/>
              </a:path>
            </a:pathLst>
          </a:custGeom>
          <a:blipFill>
            <a:blip r:embed="rId12">
              <a:extLst>
                <a:ext uri="{96DAC541-7B7A-43D3-8B79-37D633B846F1}">
                  <asvg:svgBlip xmlns:asvg="http://schemas.microsoft.com/office/drawing/2016/SVG/main" xmlns="" r:embed="rId13"/>
                </a:ext>
              </a:extLst>
            </a:blip>
            <a:stretch>
              <a:fillRect/>
            </a:stretch>
          </a:blipFill>
        </p:spPr>
      </p:sp>
      <p:sp>
        <p:nvSpPr>
          <p:cNvPr id="11" name="Freeform 11"/>
          <p:cNvSpPr/>
          <p:nvPr/>
        </p:nvSpPr>
        <p:spPr>
          <a:xfrm>
            <a:off x="3315269" y="8995175"/>
            <a:ext cx="915819" cy="1174126"/>
          </a:xfrm>
          <a:custGeom>
            <a:avLst/>
            <a:gdLst/>
            <a:ahLst/>
            <a:cxnLst/>
            <a:rect l="l" t="t" r="r" b="b"/>
            <a:pathLst>
              <a:path w="915819" h="1174126">
                <a:moveTo>
                  <a:pt x="0" y="0"/>
                </a:moveTo>
                <a:lnTo>
                  <a:pt x="915819" y="0"/>
                </a:lnTo>
                <a:lnTo>
                  <a:pt x="915819" y="1174126"/>
                </a:lnTo>
                <a:lnTo>
                  <a:pt x="0" y="1174126"/>
                </a:lnTo>
                <a:lnTo>
                  <a:pt x="0" y="0"/>
                </a:lnTo>
                <a:close/>
              </a:path>
            </a:pathLst>
          </a:custGeom>
          <a:blipFill>
            <a:blip r:embed="rId14">
              <a:extLst>
                <a:ext uri="{96DAC541-7B7A-43D3-8B79-37D633B846F1}">
                  <asvg:svgBlip xmlns:asvg="http://schemas.microsoft.com/office/drawing/2016/SVG/main" xmlns="" r:embed="rId15"/>
                </a:ext>
              </a:extLst>
            </a:blip>
            <a:stretch>
              <a:fillRect/>
            </a:stretch>
          </a:blipFill>
        </p:spPr>
      </p:sp>
      <p:sp>
        <p:nvSpPr>
          <p:cNvPr id="12" name="Freeform 12"/>
          <p:cNvSpPr/>
          <p:nvPr/>
        </p:nvSpPr>
        <p:spPr>
          <a:xfrm>
            <a:off x="15968950" y="23297"/>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16"/>
            <a:stretch>
              <a:fillRect/>
            </a:stretch>
          </a:blipFill>
        </p:spPr>
      </p:sp>
      <p:sp>
        <p:nvSpPr>
          <p:cNvPr id="13" name="Freeform 13"/>
          <p:cNvSpPr/>
          <p:nvPr/>
        </p:nvSpPr>
        <p:spPr>
          <a:xfrm rot="-2700000">
            <a:off x="12150998" y="2721687"/>
            <a:ext cx="6030951" cy="6030951"/>
          </a:xfrm>
          <a:custGeom>
            <a:avLst/>
            <a:gdLst/>
            <a:ahLst/>
            <a:cxnLst/>
            <a:rect l="l" t="t" r="r" b="b"/>
            <a:pathLst>
              <a:path w="6030951" h="6030951">
                <a:moveTo>
                  <a:pt x="0" y="0"/>
                </a:moveTo>
                <a:lnTo>
                  <a:pt x="6030951" y="0"/>
                </a:lnTo>
                <a:lnTo>
                  <a:pt x="6030951" y="6030951"/>
                </a:lnTo>
                <a:lnTo>
                  <a:pt x="0" y="6030951"/>
                </a:lnTo>
                <a:lnTo>
                  <a:pt x="0" y="0"/>
                </a:lnTo>
                <a:close/>
              </a:path>
            </a:pathLst>
          </a:custGeom>
          <a:blipFill>
            <a:blip r:embed="rId17">
              <a:extLst>
                <a:ext uri="{96DAC541-7B7A-43D3-8B79-37D633B846F1}">
                  <asvg:svgBlip xmlns:asvg="http://schemas.microsoft.com/office/drawing/2016/SVG/main" xmlns="" r:embed="rId18"/>
                </a:ext>
              </a:extLst>
            </a:blip>
            <a:stretch>
              <a:fillRect/>
            </a:stretch>
          </a:blipFill>
        </p:spPr>
      </p:sp>
      <p:grpSp>
        <p:nvGrpSpPr>
          <p:cNvPr id="14" name="Group 14"/>
          <p:cNvGrpSpPr/>
          <p:nvPr/>
        </p:nvGrpSpPr>
        <p:grpSpPr>
          <a:xfrm>
            <a:off x="501175" y="2926302"/>
            <a:ext cx="12169250" cy="3027186"/>
            <a:chOff x="-203200" y="76200"/>
            <a:chExt cx="16225666" cy="4036248"/>
          </a:xfrm>
        </p:grpSpPr>
        <p:sp>
          <p:nvSpPr>
            <p:cNvPr id="15" name="TextBox 15"/>
            <p:cNvSpPr txBox="1"/>
            <p:nvPr/>
          </p:nvSpPr>
          <p:spPr>
            <a:xfrm>
              <a:off x="-203200" y="76200"/>
              <a:ext cx="16225666" cy="2819399"/>
            </a:xfrm>
            <a:prstGeom prst="rect">
              <a:avLst/>
            </a:prstGeom>
          </p:spPr>
          <p:txBody>
            <a:bodyPr lIns="0" tIns="0" rIns="0" bIns="0" rtlCol="0" anchor="t">
              <a:spAutoFit/>
            </a:bodyPr>
            <a:lstStyle/>
            <a:p>
              <a:pPr marL="0" lvl="0" indent="0" algn="l">
                <a:lnSpc>
                  <a:spcPts val="8250"/>
                </a:lnSpc>
              </a:pPr>
              <a:r>
                <a:rPr lang="en-US" sz="7500" b="1">
                  <a:solidFill>
                    <a:srgbClr val="000000"/>
                  </a:solidFill>
                  <a:latin typeface="Atkinson Hyperlegible Bold"/>
                  <a:ea typeface="Atkinson Hyperlegible Bold"/>
                  <a:cs typeface="Atkinson Hyperlegible Bold"/>
                  <a:sym typeface="Atkinson Hyperlegible Bold"/>
                </a:rPr>
                <a:t>CDUT 2025 International Summer School</a:t>
              </a:r>
            </a:p>
          </p:txBody>
        </p:sp>
        <p:sp>
          <p:nvSpPr>
            <p:cNvPr id="16" name="TextBox 16"/>
            <p:cNvSpPr txBox="1"/>
            <p:nvPr/>
          </p:nvSpPr>
          <p:spPr>
            <a:xfrm>
              <a:off x="-83191" y="3521686"/>
              <a:ext cx="13769914" cy="590762"/>
            </a:xfrm>
            <a:prstGeom prst="rect">
              <a:avLst/>
            </a:prstGeom>
          </p:spPr>
          <p:txBody>
            <a:bodyPr lIns="0" tIns="0" rIns="0" bIns="0" rtlCol="0" anchor="t">
              <a:spAutoFit/>
            </a:bodyPr>
            <a:lstStyle/>
            <a:p>
              <a:pPr marL="0" lvl="0" indent="0" algn="l">
                <a:lnSpc>
                  <a:spcPts val="3640"/>
                </a:lnSpc>
              </a:pPr>
              <a:r>
                <a:rPr lang="en-US" sz="2800" b="1">
                  <a:solidFill>
                    <a:srgbClr val="0845BB"/>
                  </a:solidFill>
                  <a:latin typeface="Atkinson Hyperlegible Bold"/>
                  <a:ea typeface="Atkinson Hyperlegible Bold"/>
                  <a:cs typeface="Atkinson Hyperlegible Bold"/>
                  <a:sym typeface="Atkinson Hyperlegible Bold"/>
                </a:rPr>
                <a:t>Summer Camp on AI-driven Sustainable Urban Development</a:t>
              </a:r>
            </a:p>
          </p:txBody>
        </p:sp>
      </p:grpSp>
      <p:sp>
        <p:nvSpPr>
          <p:cNvPr id="17" name="TextBox 17"/>
          <p:cNvSpPr txBox="1"/>
          <p:nvPr/>
        </p:nvSpPr>
        <p:spPr>
          <a:xfrm>
            <a:off x="897009" y="6298622"/>
            <a:ext cx="6668156" cy="616585"/>
          </a:xfrm>
          <a:prstGeom prst="rect">
            <a:avLst/>
          </a:prstGeom>
        </p:spPr>
        <p:txBody>
          <a:bodyPr lIns="0" tIns="0" rIns="0" bIns="0" rtlCol="0" anchor="t">
            <a:spAutoFit/>
          </a:bodyPr>
          <a:lstStyle/>
          <a:p>
            <a:pPr marL="0" lvl="0" indent="0" algn="l">
              <a:lnSpc>
                <a:spcPts val="4730"/>
              </a:lnSpc>
            </a:pPr>
            <a:r>
              <a:rPr lang="en-US" sz="4300" b="1">
                <a:solidFill>
                  <a:srgbClr val="8C52FF"/>
                </a:solidFill>
                <a:latin typeface="Atkinson Hyperlegible Bold"/>
                <a:ea typeface="Atkinson Hyperlegible Bold"/>
                <a:cs typeface="Atkinson Hyperlegible Bold"/>
                <a:sym typeface="Atkinson Hyperlegible Bold"/>
              </a:rPr>
              <a:t>July 7 - July 28, 2025</a:t>
            </a:r>
          </a:p>
        </p:txBody>
      </p:sp>
      <p:sp>
        <p:nvSpPr>
          <p:cNvPr id="18" name="TextBox 18"/>
          <p:cNvSpPr txBox="1"/>
          <p:nvPr/>
        </p:nvSpPr>
        <p:spPr>
          <a:xfrm>
            <a:off x="10896600" y="7658100"/>
            <a:ext cx="6744335" cy="2016760"/>
          </a:xfrm>
          <a:prstGeom prst="rect">
            <a:avLst/>
          </a:prstGeom>
        </p:spPr>
        <p:txBody>
          <a:bodyPr wrap="square" lIns="0" tIns="0" rIns="0" bIns="0" rtlCol="0" anchor="t">
            <a:spAutoFit/>
          </a:bodyPr>
          <a:lstStyle/>
          <a:p>
            <a:pPr algn="l">
              <a:lnSpc>
                <a:spcPts val="5330"/>
              </a:lnSpc>
            </a:pPr>
            <a:r>
              <a:rPr lang="en-GB" altLang="en-US" sz="4100" b="1" dirty="0">
                <a:solidFill>
                  <a:srgbClr val="185FAA"/>
                </a:solidFill>
                <a:latin typeface="Atkinson Hyperlegible Bold"/>
                <a:ea typeface="Atkinson Hyperlegible Bold"/>
                <a:cs typeface="Atkinson Hyperlegible Bold"/>
                <a:sym typeface="Atkinson Hyperlegible Bold"/>
              </a:rPr>
              <a:t>Presented by: </a:t>
            </a:r>
          </a:p>
          <a:p>
            <a:pPr algn="l">
              <a:lnSpc>
                <a:spcPts val="5330"/>
              </a:lnSpc>
            </a:pPr>
            <a:r>
              <a:rPr lang="en-GB" altLang="en-US" sz="4100" b="1" dirty="0">
                <a:solidFill>
                  <a:srgbClr val="185FAA"/>
                </a:solidFill>
                <a:latin typeface="Atkinson Hyperlegible Bold"/>
                <a:ea typeface="Atkinson Hyperlegible Bold"/>
                <a:cs typeface="Atkinson Hyperlegible Bold"/>
                <a:sym typeface="Atkinson Hyperlegible Bold"/>
              </a:rPr>
              <a:t>         </a:t>
            </a:r>
            <a:r>
              <a:rPr lang="en-US" sz="4100" b="1" dirty="0" smtClean="0">
                <a:solidFill>
                  <a:srgbClr val="185FAA"/>
                </a:solidFill>
                <a:latin typeface="Atkinson Hyperlegible Bold"/>
                <a:ea typeface="Atkinson Hyperlegible Bold"/>
                <a:cs typeface="Atkinson Hyperlegible Bold"/>
                <a:sym typeface="Atkinson Hyperlegible Bold"/>
              </a:rPr>
              <a:t>Dr </a:t>
            </a:r>
            <a:r>
              <a:rPr lang="en-US" sz="4100" b="1" dirty="0">
                <a:solidFill>
                  <a:srgbClr val="185FAA"/>
                </a:solidFill>
                <a:latin typeface="Atkinson Hyperlegible Bold"/>
                <a:ea typeface="Atkinson Hyperlegible Bold"/>
                <a:cs typeface="Atkinson Hyperlegible Bold"/>
                <a:sym typeface="Atkinson Hyperlegible Bold"/>
              </a:rPr>
              <a:t>Grace U. Nneji</a:t>
            </a:r>
          </a:p>
          <a:p>
            <a:pPr marL="0" lvl="0" indent="0" algn="l">
              <a:lnSpc>
                <a:spcPts val="5070"/>
              </a:lnSpc>
            </a:pPr>
            <a:r>
              <a:rPr lang="en-GB" altLang="en-US" sz="3900" b="1" dirty="0">
                <a:solidFill>
                  <a:srgbClr val="185FAA"/>
                </a:solidFill>
                <a:latin typeface="Atkinson Hyperlegible Bold"/>
                <a:ea typeface="Atkinson Hyperlegible Bold"/>
                <a:cs typeface="Atkinson Hyperlegible Bold"/>
                <a:sym typeface="Atkinson Hyperlegible Bold"/>
              </a:rPr>
              <a:t>        </a:t>
            </a:r>
            <a:r>
              <a:rPr lang="en-GB" altLang="en-US" sz="3900" b="1" dirty="0" smtClean="0">
                <a:solidFill>
                  <a:srgbClr val="185FAA"/>
                </a:solidFill>
                <a:latin typeface="Atkinson Hyperlegible Bold"/>
                <a:ea typeface="Atkinson Hyperlegible Bold"/>
                <a:cs typeface="Atkinson Hyperlegible Bold"/>
                <a:sym typeface="Atkinson Hyperlegible Bold"/>
              </a:rPr>
              <a:t> </a:t>
            </a:r>
            <a:r>
              <a:rPr lang="en-US" sz="3900" b="1" dirty="0">
                <a:solidFill>
                  <a:srgbClr val="185FAA"/>
                </a:solidFill>
                <a:latin typeface="Atkinson Hyperlegible Bold"/>
                <a:ea typeface="Atkinson Hyperlegible Bold"/>
                <a:cs typeface="Atkinson Hyperlegible Bold"/>
                <a:sym typeface="Atkinson Hyperlegible Bold"/>
              </a:rPr>
              <a:t>Dr Happy N. Monday</a:t>
            </a:r>
          </a:p>
        </p:txBody>
      </p:sp>
      <p:grpSp>
        <p:nvGrpSpPr>
          <p:cNvPr id="19" name="Group 19"/>
          <p:cNvGrpSpPr/>
          <p:nvPr/>
        </p:nvGrpSpPr>
        <p:grpSpPr>
          <a:xfrm>
            <a:off x="11802735" y="3965590"/>
            <a:ext cx="3513465" cy="3561360"/>
            <a:chOff x="0" y="0"/>
            <a:chExt cx="812800" cy="823880"/>
          </a:xfrm>
        </p:grpSpPr>
        <p:sp>
          <p:nvSpPr>
            <p:cNvPr id="20" name="Freeform 20"/>
            <p:cNvSpPr/>
            <p:nvPr/>
          </p:nvSpPr>
          <p:spPr>
            <a:xfrm>
              <a:off x="0" y="0"/>
              <a:ext cx="812800" cy="823880"/>
            </a:xfrm>
            <a:custGeom>
              <a:avLst/>
              <a:gdLst/>
              <a:ahLst/>
              <a:cxnLst/>
              <a:rect l="l" t="t" r="r" b="b"/>
              <a:pathLst>
                <a:path w="812800" h="823880">
                  <a:moveTo>
                    <a:pt x="406400" y="0"/>
                  </a:moveTo>
                  <a:cubicBezTo>
                    <a:pt x="181951" y="0"/>
                    <a:pt x="0" y="184432"/>
                    <a:pt x="0" y="411940"/>
                  </a:cubicBezTo>
                  <a:cubicBezTo>
                    <a:pt x="0" y="639448"/>
                    <a:pt x="181951" y="823880"/>
                    <a:pt x="406400" y="823880"/>
                  </a:cubicBezTo>
                  <a:cubicBezTo>
                    <a:pt x="630849" y="823880"/>
                    <a:pt x="812800" y="639448"/>
                    <a:pt x="812800" y="411940"/>
                  </a:cubicBezTo>
                  <a:cubicBezTo>
                    <a:pt x="812800" y="184432"/>
                    <a:pt x="630849" y="0"/>
                    <a:pt x="406400" y="0"/>
                  </a:cubicBezTo>
                  <a:close/>
                </a:path>
              </a:pathLst>
            </a:custGeom>
            <a:blipFill>
              <a:blip r:embed="rId19"/>
              <a:stretch>
                <a:fillRect l="-681" r="-681"/>
              </a:stretch>
            </a:blipFill>
          </p:spPr>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34225" cy="10287000"/>
            <a:chOff x="0" y="0"/>
            <a:chExt cx="1878973" cy="2709333"/>
          </a:xfrm>
        </p:grpSpPr>
        <p:sp>
          <p:nvSpPr>
            <p:cNvPr id="3" name="Freeform 3"/>
            <p:cNvSpPr/>
            <p:nvPr/>
          </p:nvSpPr>
          <p:spPr>
            <a:xfrm>
              <a:off x="0" y="0"/>
              <a:ext cx="1878973" cy="2709333"/>
            </a:xfrm>
            <a:custGeom>
              <a:avLst/>
              <a:gdLst/>
              <a:ahLst/>
              <a:cxnLst/>
              <a:rect l="l" t="t" r="r" b="b"/>
              <a:pathLst>
                <a:path w="1878973" h="2709333">
                  <a:moveTo>
                    <a:pt x="0" y="0"/>
                  </a:moveTo>
                  <a:lnTo>
                    <a:pt x="1878973" y="0"/>
                  </a:lnTo>
                  <a:lnTo>
                    <a:pt x="1878973" y="2709333"/>
                  </a:lnTo>
                  <a:lnTo>
                    <a:pt x="0" y="2709333"/>
                  </a:lnTo>
                  <a:close/>
                </a:path>
              </a:pathLst>
            </a:custGeom>
            <a:solidFill>
              <a:srgbClr val="FFFFFF"/>
            </a:solidFill>
          </p:spPr>
        </p:sp>
        <p:sp>
          <p:nvSpPr>
            <p:cNvPr id="4" name="TextBox 4"/>
            <p:cNvSpPr txBox="1"/>
            <p:nvPr/>
          </p:nvSpPr>
          <p:spPr>
            <a:xfrm>
              <a:off x="0" y="-47625"/>
              <a:ext cx="1878973" cy="2756958"/>
            </a:xfrm>
            <a:prstGeom prst="rect">
              <a:avLst/>
            </a:prstGeom>
          </p:spPr>
          <p:txBody>
            <a:bodyPr lIns="50800" tIns="50800" rIns="50800" bIns="50800" rtlCol="0" anchor="ctr"/>
            <a:lstStyle/>
            <a:p>
              <a:pPr algn="ctr">
                <a:lnSpc>
                  <a:spcPts val="3360"/>
                </a:lnSpc>
              </a:pPr>
              <a:endParaRPr/>
            </a:p>
          </p:txBody>
        </p:sp>
      </p:grpSp>
      <p:sp>
        <p:nvSpPr>
          <p:cNvPr id="5" name="Freeform 5"/>
          <p:cNvSpPr/>
          <p:nvPr/>
        </p:nvSpPr>
        <p:spPr>
          <a:xfrm rot="5400000" flipV="1">
            <a:off x="71342" y="-4728201"/>
            <a:ext cx="6991541" cy="7134225"/>
          </a:xfrm>
          <a:custGeom>
            <a:avLst/>
            <a:gdLst/>
            <a:ahLst/>
            <a:cxnLst/>
            <a:rect l="l" t="t" r="r" b="b"/>
            <a:pathLst>
              <a:path w="6991541" h="7134225">
                <a:moveTo>
                  <a:pt x="0" y="7134225"/>
                </a:moveTo>
                <a:lnTo>
                  <a:pt x="6991541" y="7134225"/>
                </a:lnTo>
                <a:lnTo>
                  <a:pt x="6991541" y="0"/>
                </a:lnTo>
                <a:lnTo>
                  <a:pt x="0" y="0"/>
                </a:lnTo>
                <a:lnTo>
                  <a:pt x="0" y="7134225"/>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rot="-5400000" flipV="1">
            <a:off x="71342" y="8185881"/>
            <a:ext cx="6991541" cy="7134225"/>
          </a:xfrm>
          <a:custGeom>
            <a:avLst/>
            <a:gdLst/>
            <a:ahLst/>
            <a:cxnLst/>
            <a:rect l="l" t="t" r="r" b="b"/>
            <a:pathLst>
              <a:path w="6991541" h="7134225">
                <a:moveTo>
                  <a:pt x="0" y="7134225"/>
                </a:moveTo>
                <a:lnTo>
                  <a:pt x="6991541" y="7134225"/>
                </a:lnTo>
                <a:lnTo>
                  <a:pt x="6991541" y="0"/>
                </a:lnTo>
                <a:lnTo>
                  <a:pt x="0" y="0"/>
                </a:lnTo>
                <a:lnTo>
                  <a:pt x="0" y="7134225"/>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7" name="Group 7"/>
          <p:cNvGrpSpPr/>
          <p:nvPr/>
        </p:nvGrpSpPr>
        <p:grpSpPr>
          <a:xfrm>
            <a:off x="8545059" y="1245235"/>
            <a:ext cx="7971991" cy="7491114"/>
            <a:chOff x="0" y="475607"/>
            <a:chExt cx="10629322" cy="9988152"/>
          </a:xfrm>
        </p:grpSpPr>
        <p:sp>
          <p:nvSpPr>
            <p:cNvPr id="8" name="Freeform 8"/>
            <p:cNvSpPr/>
            <p:nvPr/>
          </p:nvSpPr>
          <p:spPr>
            <a:xfrm>
              <a:off x="0" y="3004929"/>
              <a:ext cx="10540081" cy="229965"/>
            </a:xfrm>
            <a:custGeom>
              <a:avLst/>
              <a:gdLst/>
              <a:ahLst/>
              <a:cxnLst/>
              <a:rect l="l" t="t" r="r" b="b"/>
              <a:pathLst>
                <a:path w="10540080" h="229965">
                  <a:moveTo>
                    <a:pt x="0" y="0"/>
                  </a:moveTo>
                  <a:lnTo>
                    <a:pt x="10540080" y="0"/>
                  </a:lnTo>
                  <a:lnTo>
                    <a:pt x="10540080" y="229965"/>
                  </a:lnTo>
                  <a:lnTo>
                    <a:pt x="0" y="22996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a:off x="0" y="6587694"/>
              <a:ext cx="10540081" cy="229965"/>
            </a:xfrm>
            <a:custGeom>
              <a:avLst/>
              <a:gdLst/>
              <a:ahLst/>
              <a:cxnLst/>
              <a:rect l="l" t="t" r="r" b="b"/>
              <a:pathLst>
                <a:path w="10540080" h="229965">
                  <a:moveTo>
                    <a:pt x="0" y="0"/>
                  </a:moveTo>
                  <a:lnTo>
                    <a:pt x="10540080" y="0"/>
                  </a:lnTo>
                  <a:lnTo>
                    <a:pt x="10540080" y="229966"/>
                  </a:lnTo>
                  <a:lnTo>
                    <a:pt x="0" y="22996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TextBox 10"/>
            <p:cNvSpPr txBox="1"/>
            <p:nvPr/>
          </p:nvSpPr>
          <p:spPr>
            <a:xfrm>
              <a:off x="0" y="475607"/>
              <a:ext cx="10629322" cy="2251287"/>
            </a:xfrm>
            <a:prstGeom prst="rect">
              <a:avLst/>
            </a:prstGeom>
          </p:spPr>
          <p:txBody>
            <a:bodyPr lIns="0" tIns="0" rIns="0" bIns="0" rtlCol="0" anchor="t">
              <a:spAutoFit/>
            </a:bodyPr>
            <a:lstStyle/>
            <a:p>
              <a:pPr marL="0" lvl="0" indent="0" algn="just">
                <a:lnSpc>
                  <a:spcPts val="4390"/>
                </a:lnSpc>
              </a:pPr>
              <a:r>
                <a:rPr lang="en-US" sz="2925" dirty="0">
                  <a:solidFill>
                    <a:srgbClr val="000000"/>
                  </a:solidFill>
                  <a:latin typeface="Atkinson Hyperlegible"/>
                  <a:ea typeface="Atkinson Hyperlegible"/>
                  <a:cs typeface="Atkinson Hyperlegible"/>
                  <a:sym typeface="Atkinson Hyperlegible"/>
                </a:rPr>
                <a:t>By the end of </a:t>
              </a:r>
              <a:r>
                <a:rPr lang="en-GB" altLang="en-US" sz="2925" dirty="0">
                  <a:solidFill>
                    <a:srgbClr val="000000"/>
                  </a:solidFill>
                  <a:latin typeface="Atkinson Hyperlegible"/>
                  <a:ea typeface="Atkinson Hyperlegible"/>
                  <a:cs typeface="Atkinson Hyperlegible"/>
                  <a:sym typeface="Atkinson Hyperlegible"/>
                </a:rPr>
                <a:t>today</a:t>
              </a:r>
              <a:r>
                <a:rPr lang="en-US" sz="2925" dirty="0">
                  <a:solidFill>
                    <a:srgbClr val="000000"/>
                  </a:solidFill>
                  <a:latin typeface="Atkinson Hyperlegible"/>
                  <a:ea typeface="Atkinson Hyperlegible"/>
                  <a:cs typeface="Atkinson Hyperlegible"/>
                  <a:sym typeface="Atkinson Hyperlegible"/>
                </a:rPr>
                <a:t>, you will </a:t>
              </a:r>
              <a:r>
                <a:rPr lang="en-US" sz="2925" b="1" dirty="0">
                  <a:solidFill>
                    <a:srgbClr val="000000"/>
                  </a:solidFill>
                  <a:latin typeface="Atkinson Hyperlegible Bold"/>
                  <a:ea typeface="Atkinson Hyperlegible Bold"/>
                  <a:cs typeface="Atkinson Hyperlegible Bold"/>
                  <a:sym typeface="Atkinson Hyperlegible Bold"/>
                </a:rPr>
                <a:t>understand the importance</a:t>
              </a:r>
              <a:r>
                <a:rPr lang="en-US" sz="2925" dirty="0">
                  <a:solidFill>
                    <a:srgbClr val="000000"/>
                  </a:solidFill>
                  <a:latin typeface="Atkinson Hyperlegible"/>
                  <a:ea typeface="Atkinson Hyperlegible"/>
                  <a:cs typeface="Atkinson Hyperlegible"/>
                  <a:sym typeface="Atkinson Hyperlegible"/>
                </a:rPr>
                <a:t> of environment setup in AI workflows and how to avoid common pitfalls.</a:t>
              </a:r>
            </a:p>
          </p:txBody>
        </p:sp>
        <p:sp>
          <p:nvSpPr>
            <p:cNvPr id="11" name="TextBox 11"/>
            <p:cNvSpPr txBox="1"/>
            <p:nvPr/>
          </p:nvSpPr>
          <p:spPr>
            <a:xfrm>
              <a:off x="0" y="3646738"/>
              <a:ext cx="10629322" cy="2209323"/>
            </a:xfrm>
            <a:prstGeom prst="rect">
              <a:avLst/>
            </a:prstGeom>
          </p:spPr>
          <p:txBody>
            <a:bodyPr lIns="0" tIns="0" rIns="0" bIns="0" rtlCol="0" anchor="t">
              <a:spAutoFit/>
            </a:bodyPr>
            <a:lstStyle/>
            <a:p>
              <a:pPr marL="0" lvl="0" indent="0" algn="just">
                <a:lnSpc>
                  <a:spcPts val="4390"/>
                </a:lnSpc>
              </a:pPr>
              <a:r>
                <a:rPr lang="en-US" sz="2925" dirty="0">
                  <a:solidFill>
                    <a:srgbClr val="000000"/>
                  </a:solidFill>
                  <a:latin typeface="Atkinson Hyperlegible"/>
                  <a:ea typeface="Atkinson Hyperlegible"/>
                  <a:cs typeface="Atkinson Hyperlegible"/>
                  <a:sym typeface="Atkinson Hyperlegible"/>
                </a:rPr>
                <a:t>You will learn to </a:t>
              </a:r>
              <a:r>
                <a:rPr lang="en-US" sz="2925" b="1" dirty="0">
                  <a:solidFill>
                    <a:srgbClr val="000000"/>
                  </a:solidFill>
                  <a:latin typeface="Atkinson Hyperlegible Bold"/>
                  <a:ea typeface="Atkinson Hyperlegible Bold"/>
                  <a:cs typeface="Atkinson Hyperlegible Bold"/>
                  <a:sym typeface="Atkinson Hyperlegible Bold"/>
                </a:rPr>
                <a:t>install and manage</a:t>
              </a:r>
              <a:r>
                <a:rPr lang="en-US" sz="2925" dirty="0">
                  <a:solidFill>
                    <a:srgbClr val="000000"/>
                  </a:solidFill>
                  <a:latin typeface="Atkinson Hyperlegible"/>
                  <a:ea typeface="Atkinson Hyperlegible"/>
                  <a:cs typeface="Atkinson Hyperlegible"/>
                  <a:sym typeface="Atkinson Hyperlegible"/>
                </a:rPr>
                <a:t> essential AI libraries, ensuring that your projects run smoothly without compatibility issues.</a:t>
              </a:r>
            </a:p>
          </p:txBody>
        </p:sp>
        <p:sp>
          <p:nvSpPr>
            <p:cNvPr id="12" name="TextBox 12"/>
            <p:cNvSpPr txBox="1"/>
            <p:nvPr/>
          </p:nvSpPr>
          <p:spPr>
            <a:xfrm>
              <a:off x="0" y="7502094"/>
              <a:ext cx="10629322" cy="2961665"/>
            </a:xfrm>
            <a:prstGeom prst="rect">
              <a:avLst/>
            </a:prstGeom>
          </p:spPr>
          <p:txBody>
            <a:bodyPr lIns="0" tIns="0" rIns="0" bIns="0" rtlCol="0" anchor="t">
              <a:spAutoFit/>
            </a:bodyPr>
            <a:lstStyle/>
            <a:p>
              <a:pPr marL="0" lvl="0" indent="0" algn="just">
                <a:lnSpc>
                  <a:spcPts val="4390"/>
                </a:lnSpc>
              </a:pPr>
              <a:r>
                <a:rPr lang="en-US" sz="2925" dirty="0">
                  <a:solidFill>
                    <a:srgbClr val="000000"/>
                  </a:solidFill>
                  <a:latin typeface="Atkinson Hyperlegible"/>
                  <a:ea typeface="Atkinson Hyperlegible"/>
                  <a:cs typeface="Atkinson Hyperlegible"/>
                  <a:sym typeface="Atkinson Hyperlegible"/>
                </a:rPr>
                <a:t>You will be able to </a:t>
              </a:r>
              <a:r>
                <a:rPr lang="en-US" sz="2925" b="1" dirty="0">
                  <a:solidFill>
                    <a:srgbClr val="000000"/>
                  </a:solidFill>
                  <a:latin typeface="Atkinson Hyperlegible Bold"/>
                  <a:ea typeface="Atkinson Hyperlegible Bold"/>
                  <a:cs typeface="Atkinson Hyperlegible Bold"/>
                  <a:sym typeface="Atkinson Hyperlegible Bold"/>
                </a:rPr>
                <a:t>set up and test</a:t>
              </a:r>
              <a:r>
                <a:rPr lang="en-US" sz="2925" dirty="0">
                  <a:solidFill>
                    <a:srgbClr val="000000"/>
                  </a:solidFill>
                  <a:latin typeface="Atkinson Hyperlegible"/>
                  <a:ea typeface="Atkinson Hyperlegible"/>
                  <a:cs typeface="Atkinson Hyperlegible"/>
                  <a:sym typeface="Atkinson Hyperlegible"/>
                </a:rPr>
                <a:t> a reproducible development environment, which is crucial for collaboration and experimentation in machine learning projects.</a:t>
              </a:r>
            </a:p>
          </p:txBody>
        </p:sp>
      </p:grpSp>
      <p:grpSp>
        <p:nvGrpSpPr>
          <p:cNvPr id="13" name="Group 13"/>
          <p:cNvGrpSpPr/>
          <p:nvPr/>
        </p:nvGrpSpPr>
        <p:grpSpPr>
          <a:xfrm>
            <a:off x="776230" y="3416253"/>
            <a:ext cx="5978373" cy="3454494"/>
            <a:chOff x="0" y="0"/>
            <a:chExt cx="7971164" cy="4605992"/>
          </a:xfrm>
        </p:grpSpPr>
        <p:sp>
          <p:nvSpPr>
            <p:cNvPr id="14" name="TextBox 14"/>
            <p:cNvSpPr txBox="1"/>
            <p:nvPr/>
          </p:nvSpPr>
          <p:spPr>
            <a:xfrm>
              <a:off x="0" y="66675"/>
              <a:ext cx="7971164" cy="3120176"/>
            </a:xfrm>
            <a:prstGeom prst="rect">
              <a:avLst/>
            </a:prstGeom>
          </p:spPr>
          <p:txBody>
            <a:bodyPr lIns="0" tIns="0" rIns="0" bIns="0" rtlCol="0" anchor="t">
              <a:spAutoFit/>
            </a:bodyPr>
            <a:lstStyle/>
            <a:p>
              <a:pPr marL="0" lvl="0" indent="0" algn="ctr">
                <a:lnSpc>
                  <a:spcPts val="9020"/>
                </a:lnSpc>
              </a:pPr>
              <a:r>
                <a:rPr lang="en-US" sz="8200" b="1">
                  <a:solidFill>
                    <a:srgbClr val="000000"/>
                  </a:solidFill>
                  <a:latin typeface="Atkinson Hyperlegible Bold"/>
                  <a:ea typeface="Atkinson Hyperlegible Bold"/>
                  <a:cs typeface="Atkinson Hyperlegible Bold"/>
                  <a:sym typeface="Atkinson Hyperlegible Bold"/>
                </a:rPr>
                <a:t>Learning Objectives</a:t>
              </a:r>
            </a:p>
          </p:txBody>
        </p:sp>
        <p:sp>
          <p:nvSpPr>
            <p:cNvPr id="15" name="TextBox 15"/>
            <p:cNvSpPr txBox="1"/>
            <p:nvPr/>
          </p:nvSpPr>
          <p:spPr>
            <a:xfrm>
              <a:off x="0" y="3411980"/>
              <a:ext cx="7971164" cy="1194013"/>
            </a:xfrm>
            <a:prstGeom prst="rect">
              <a:avLst/>
            </a:prstGeom>
          </p:spPr>
          <p:txBody>
            <a:bodyPr lIns="0" tIns="0" rIns="0" bIns="0" rtlCol="0" anchor="t">
              <a:spAutoFit/>
            </a:bodyPr>
            <a:lstStyle/>
            <a:p>
              <a:pPr marL="0" lvl="0" indent="0" algn="ctr">
                <a:lnSpc>
                  <a:spcPts val="3520"/>
                </a:lnSpc>
              </a:pPr>
              <a:r>
                <a:rPr lang="en-US" sz="3200" b="1">
                  <a:solidFill>
                    <a:srgbClr val="000000"/>
                  </a:solidFill>
                  <a:latin typeface="Atkinson Hyperlegible Bold"/>
                  <a:ea typeface="Atkinson Hyperlegible Bold"/>
                  <a:cs typeface="Atkinson Hyperlegible Bold"/>
                  <a:sym typeface="Atkinson Hyperlegible Bold"/>
                </a:rPr>
                <a:t>Mastering Environment Setup for AI</a:t>
              </a:r>
            </a:p>
          </p:txBody>
        </p:sp>
      </p:grpSp>
      <p:sp>
        <p:nvSpPr>
          <p:cNvPr id="16" name="Freeform 16"/>
          <p:cNvSpPr/>
          <p:nvPr/>
        </p:nvSpPr>
        <p:spPr>
          <a:xfrm>
            <a:off x="16517050" y="0"/>
            <a:ext cx="1770950" cy="1770950"/>
          </a:xfrm>
          <a:custGeom>
            <a:avLst/>
            <a:gdLst/>
            <a:ahLst/>
            <a:cxnLst/>
            <a:rect l="l" t="t" r="r" b="b"/>
            <a:pathLst>
              <a:path w="1770950" h="1770950">
                <a:moveTo>
                  <a:pt x="0" y="0"/>
                </a:moveTo>
                <a:lnTo>
                  <a:pt x="1770950" y="0"/>
                </a:lnTo>
                <a:lnTo>
                  <a:pt x="1770950" y="1770950"/>
                </a:lnTo>
                <a:lnTo>
                  <a:pt x="0" y="1770950"/>
                </a:lnTo>
                <a:lnTo>
                  <a:pt x="0" y="0"/>
                </a:lnTo>
                <a:close/>
              </a:path>
            </a:pathLst>
          </a:custGeom>
          <a:blipFill>
            <a:blip r:embed="rId6"/>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5583719" y="0"/>
            <a:ext cx="10081260" cy="10287000"/>
          </a:xfrm>
          <a:custGeom>
            <a:avLst/>
            <a:gdLst/>
            <a:ahLst/>
            <a:cxnLst/>
            <a:rect l="l" t="t" r="r" b="b"/>
            <a:pathLst>
              <a:path w="10081260" h="10287000">
                <a:moveTo>
                  <a:pt x="0" y="10287000"/>
                </a:moveTo>
                <a:lnTo>
                  <a:pt x="10081260" y="10287000"/>
                </a:lnTo>
                <a:lnTo>
                  <a:pt x="10081260" y="0"/>
                </a:lnTo>
                <a:lnTo>
                  <a:pt x="0" y="0"/>
                </a:lnTo>
                <a:lnTo>
                  <a:pt x="0" y="1028700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2135315">
            <a:off x="4693490" y="9174482"/>
            <a:ext cx="2225037" cy="2225037"/>
          </a:xfrm>
          <a:custGeom>
            <a:avLst/>
            <a:gdLst/>
            <a:ahLst/>
            <a:cxnLst/>
            <a:rect l="l" t="t" r="r" b="b"/>
            <a:pathLst>
              <a:path w="2225037" h="2225037">
                <a:moveTo>
                  <a:pt x="0" y="0"/>
                </a:moveTo>
                <a:lnTo>
                  <a:pt x="2225037" y="0"/>
                </a:lnTo>
                <a:lnTo>
                  <a:pt x="2225037" y="2225036"/>
                </a:lnTo>
                <a:lnTo>
                  <a:pt x="0" y="222503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rot="-2282481">
            <a:off x="4694914" y="7539071"/>
            <a:ext cx="2424448" cy="3115529"/>
          </a:xfrm>
          <a:custGeom>
            <a:avLst/>
            <a:gdLst/>
            <a:ahLst/>
            <a:cxnLst/>
            <a:rect l="l" t="t" r="r" b="b"/>
            <a:pathLst>
              <a:path w="2424448" h="3115529">
                <a:moveTo>
                  <a:pt x="0" y="0"/>
                </a:moveTo>
                <a:lnTo>
                  <a:pt x="2424448" y="0"/>
                </a:lnTo>
                <a:lnTo>
                  <a:pt x="2424448" y="3115529"/>
                </a:lnTo>
                <a:lnTo>
                  <a:pt x="0" y="311552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5" name="Group 5"/>
          <p:cNvGrpSpPr/>
          <p:nvPr/>
        </p:nvGrpSpPr>
        <p:grpSpPr>
          <a:xfrm>
            <a:off x="1028700" y="1698906"/>
            <a:ext cx="6544413" cy="6544413"/>
            <a:chOff x="0" y="0"/>
            <a:chExt cx="6350000" cy="6350000"/>
          </a:xfrm>
        </p:grpSpPr>
        <p:sp>
          <p:nvSpPr>
            <p:cNvPr id="6" name="Freeform 6"/>
            <p:cNvSpPr/>
            <p:nvPr/>
          </p:nvSpPr>
          <p:spPr>
            <a:xfrm>
              <a:off x="0" y="0"/>
              <a:ext cx="6352540" cy="6351270"/>
            </a:xfrm>
            <a:custGeom>
              <a:avLst/>
              <a:gdLst/>
              <a:ahLst/>
              <a:cxnLst/>
              <a:rect l="l" t="t" r="r" b="b"/>
              <a:pathLst>
                <a:path w="6352540" h="6351270">
                  <a:moveTo>
                    <a:pt x="5472430" y="2223770"/>
                  </a:moveTo>
                  <a:cubicBezTo>
                    <a:pt x="5795010" y="1845310"/>
                    <a:pt x="5772150" y="1281430"/>
                    <a:pt x="5420360" y="929640"/>
                  </a:cubicBezTo>
                  <a:cubicBezTo>
                    <a:pt x="5068570" y="577850"/>
                    <a:pt x="4505960" y="554990"/>
                    <a:pt x="4126230" y="877570"/>
                  </a:cubicBezTo>
                  <a:cubicBezTo>
                    <a:pt x="4086860" y="382270"/>
                    <a:pt x="3672840" y="0"/>
                    <a:pt x="3175000" y="0"/>
                  </a:cubicBezTo>
                  <a:cubicBezTo>
                    <a:pt x="2677160" y="0"/>
                    <a:pt x="2263140" y="382270"/>
                    <a:pt x="2223770" y="878840"/>
                  </a:cubicBezTo>
                  <a:cubicBezTo>
                    <a:pt x="1845310" y="556260"/>
                    <a:pt x="1281430" y="579120"/>
                    <a:pt x="929640" y="930910"/>
                  </a:cubicBezTo>
                  <a:cubicBezTo>
                    <a:pt x="577850" y="1282700"/>
                    <a:pt x="554990" y="1845310"/>
                    <a:pt x="877570" y="2225040"/>
                  </a:cubicBezTo>
                  <a:cubicBezTo>
                    <a:pt x="382270" y="2263140"/>
                    <a:pt x="0" y="2677160"/>
                    <a:pt x="0" y="3175000"/>
                  </a:cubicBezTo>
                  <a:cubicBezTo>
                    <a:pt x="0" y="3672840"/>
                    <a:pt x="382270" y="4086860"/>
                    <a:pt x="878840" y="4126230"/>
                  </a:cubicBezTo>
                  <a:cubicBezTo>
                    <a:pt x="556260" y="4504690"/>
                    <a:pt x="579120" y="5068570"/>
                    <a:pt x="930910" y="5420360"/>
                  </a:cubicBezTo>
                  <a:cubicBezTo>
                    <a:pt x="1282700" y="5772150"/>
                    <a:pt x="1845310" y="5795010"/>
                    <a:pt x="2225040" y="5472430"/>
                  </a:cubicBezTo>
                  <a:cubicBezTo>
                    <a:pt x="2264410" y="5969000"/>
                    <a:pt x="2678430" y="6351270"/>
                    <a:pt x="3176270" y="6351270"/>
                  </a:cubicBezTo>
                  <a:cubicBezTo>
                    <a:pt x="3674110" y="6351270"/>
                    <a:pt x="4088130" y="5969000"/>
                    <a:pt x="4127500" y="5473700"/>
                  </a:cubicBezTo>
                  <a:cubicBezTo>
                    <a:pt x="4505960" y="5796280"/>
                    <a:pt x="5069840" y="5773420"/>
                    <a:pt x="5421630" y="5421630"/>
                  </a:cubicBezTo>
                  <a:cubicBezTo>
                    <a:pt x="5773420" y="5069840"/>
                    <a:pt x="5796280" y="4507230"/>
                    <a:pt x="5473700" y="4127500"/>
                  </a:cubicBezTo>
                  <a:cubicBezTo>
                    <a:pt x="5970270" y="4088130"/>
                    <a:pt x="6352540" y="3674110"/>
                    <a:pt x="6352540" y="3176270"/>
                  </a:cubicBezTo>
                  <a:cubicBezTo>
                    <a:pt x="6350000" y="2677160"/>
                    <a:pt x="5967730" y="2263140"/>
                    <a:pt x="5472430" y="2223770"/>
                  </a:cubicBezTo>
                  <a:close/>
                </a:path>
              </a:pathLst>
            </a:custGeom>
            <a:blipFill>
              <a:blip r:embed="rId8"/>
              <a:stretch>
                <a:fillRect t="-9" b="-9"/>
              </a:stretch>
            </a:blipFill>
          </p:spPr>
        </p:sp>
      </p:grpSp>
      <p:sp>
        <p:nvSpPr>
          <p:cNvPr id="7" name="Freeform 7"/>
          <p:cNvSpPr/>
          <p:nvPr/>
        </p:nvSpPr>
        <p:spPr>
          <a:xfrm rot="-2521433">
            <a:off x="5236565" y="6999007"/>
            <a:ext cx="1138888" cy="1138888"/>
          </a:xfrm>
          <a:custGeom>
            <a:avLst/>
            <a:gdLst/>
            <a:ahLst/>
            <a:cxnLst/>
            <a:rect l="l" t="t" r="r" b="b"/>
            <a:pathLst>
              <a:path w="1138888" h="1138888">
                <a:moveTo>
                  <a:pt x="0" y="0"/>
                </a:moveTo>
                <a:lnTo>
                  <a:pt x="1138888" y="0"/>
                </a:lnTo>
                <a:lnTo>
                  <a:pt x="1138888" y="1138887"/>
                </a:lnTo>
                <a:lnTo>
                  <a:pt x="0" y="1138887"/>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8" name="Freeform 8"/>
          <p:cNvSpPr/>
          <p:nvPr/>
        </p:nvSpPr>
        <p:spPr>
          <a:xfrm>
            <a:off x="11412292" y="9051305"/>
            <a:ext cx="7315200" cy="1050729"/>
          </a:xfrm>
          <a:custGeom>
            <a:avLst/>
            <a:gdLst/>
            <a:ahLst/>
            <a:cxnLst/>
            <a:rect l="l" t="t" r="r" b="b"/>
            <a:pathLst>
              <a:path w="7315200" h="1050729">
                <a:moveTo>
                  <a:pt x="0" y="0"/>
                </a:moveTo>
                <a:lnTo>
                  <a:pt x="7315200" y="0"/>
                </a:lnTo>
                <a:lnTo>
                  <a:pt x="7315200" y="1050728"/>
                </a:lnTo>
                <a:lnTo>
                  <a:pt x="0" y="1050728"/>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grpSp>
        <p:nvGrpSpPr>
          <p:cNvPr id="9" name="Group 9"/>
          <p:cNvGrpSpPr/>
          <p:nvPr/>
        </p:nvGrpSpPr>
        <p:grpSpPr>
          <a:xfrm>
            <a:off x="7821786" y="1266681"/>
            <a:ext cx="8517223" cy="4620181"/>
            <a:chOff x="0" y="142874"/>
            <a:chExt cx="11356297" cy="6160242"/>
          </a:xfrm>
        </p:grpSpPr>
        <p:sp>
          <p:nvSpPr>
            <p:cNvPr id="10" name="TextBox 10"/>
            <p:cNvSpPr txBox="1"/>
            <p:nvPr/>
          </p:nvSpPr>
          <p:spPr>
            <a:xfrm>
              <a:off x="0" y="142874"/>
              <a:ext cx="11356297" cy="2456392"/>
            </a:xfrm>
            <a:prstGeom prst="rect">
              <a:avLst/>
            </a:prstGeom>
          </p:spPr>
          <p:txBody>
            <a:bodyPr lIns="0" tIns="0" rIns="0" bIns="0" rtlCol="0" anchor="t">
              <a:spAutoFit/>
            </a:bodyPr>
            <a:lstStyle/>
            <a:p>
              <a:pPr marL="0" lvl="0" indent="0" algn="l">
                <a:lnSpc>
                  <a:spcPts val="7000"/>
                </a:lnSpc>
              </a:pPr>
              <a:r>
                <a:rPr lang="en-US" sz="7000" b="1" dirty="0" smtClean="0">
                  <a:solidFill>
                    <a:srgbClr val="000000"/>
                  </a:solidFill>
                  <a:latin typeface="Atkinson Hyperlegible Bold"/>
                  <a:ea typeface="Atkinson Hyperlegible Bold"/>
                  <a:cs typeface="Atkinson Hyperlegible Bold"/>
                  <a:sym typeface="Atkinson Hyperlegible Bold"/>
                </a:rPr>
                <a:t>Why Environment Setup Matters in AI</a:t>
              </a:r>
              <a:endParaRPr lang="en-US" sz="7000" b="1" dirty="0">
                <a:solidFill>
                  <a:srgbClr val="000000"/>
                </a:solidFill>
                <a:latin typeface="Atkinson Hyperlegible Bold"/>
                <a:ea typeface="Atkinson Hyperlegible Bold"/>
                <a:cs typeface="Atkinson Hyperlegible Bold"/>
                <a:sym typeface="Atkinson Hyperlegible Bold"/>
              </a:endParaRPr>
            </a:p>
          </p:txBody>
        </p:sp>
        <p:sp>
          <p:nvSpPr>
            <p:cNvPr id="11" name="TextBox 11"/>
            <p:cNvSpPr txBox="1"/>
            <p:nvPr/>
          </p:nvSpPr>
          <p:spPr>
            <a:xfrm>
              <a:off x="0" y="2876655"/>
              <a:ext cx="11356297" cy="3426461"/>
            </a:xfrm>
            <a:prstGeom prst="rect">
              <a:avLst/>
            </a:prstGeom>
          </p:spPr>
          <p:txBody>
            <a:bodyPr lIns="0" tIns="0" rIns="0" bIns="0" rtlCol="0" anchor="t">
              <a:spAutoFit/>
            </a:bodyPr>
            <a:lstStyle/>
            <a:p>
              <a:pPr marL="0" lvl="0" indent="0" algn="just">
                <a:lnSpc>
                  <a:spcPts val="4200"/>
                </a:lnSpc>
              </a:pPr>
              <a:r>
                <a:rPr lang="en-US" sz="2800" dirty="0">
                  <a:solidFill>
                    <a:srgbClr val="000000"/>
                  </a:solidFill>
                  <a:latin typeface="Atkinson Hyperlegible"/>
                  <a:ea typeface="Atkinson Hyperlegible"/>
                  <a:cs typeface="Atkinson Hyperlegible"/>
                  <a:sym typeface="Atkinson Hyperlegible"/>
                </a:rPr>
                <a:t>A solid environment setup ensures </a:t>
              </a:r>
              <a:r>
                <a:rPr lang="en-US" sz="2800" b="1" dirty="0">
                  <a:solidFill>
                    <a:srgbClr val="000000"/>
                  </a:solidFill>
                  <a:latin typeface="Atkinson Hyperlegible Bold"/>
                  <a:ea typeface="Atkinson Hyperlegible Bold"/>
                  <a:cs typeface="Atkinson Hyperlegible Bold"/>
                  <a:sym typeface="Atkinson Hyperlegible Bold"/>
                </a:rPr>
                <a:t>reproducibility</a:t>
              </a:r>
              <a:r>
                <a:rPr lang="en-US" sz="2800" dirty="0">
                  <a:solidFill>
                    <a:srgbClr val="000000"/>
                  </a:solidFill>
                  <a:latin typeface="Atkinson Hyperlegible"/>
                  <a:ea typeface="Atkinson Hyperlegible"/>
                  <a:cs typeface="Atkinson Hyperlegible"/>
                  <a:sym typeface="Atkinson Hyperlegible"/>
                </a:rPr>
                <a:t> by allowing you to share results and re-run experiments with identical dependencies. This is essential in AI projects where consistent outcomes are necessary for validation.</a:t>
              </a:r>
            </a:p>
          </p:txBody>
        </p:sp>
      </p:grpSp>
      <p:sp>
        <p:nvSpPr>
          <p:cNvPr id="12" name="Freeform 12"/>
          <p:cNvSpPr/>
          <p:nvPr/>
        </p:nvSpPr>
        <p:spPr>
          <a:xfrm>
            <a:off x="15968950" y="0"/>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13"/>
            <a:stretch>
              <a:fillRect/>
            </a:stretch>
          </a:blipFill>
        </p:spPr>
      </p:sp>
      <p:sp>
        <p:nvSpPr>
          <p:cNvPr id="13" name="TextBox 13"/>
          <p:cNvSpPr txBox="1"/>
          <p:nvPr/>
        </p:nvSpPr>
        <p:spPr>
          <a:xfrm>
            <a:off x="7821786" y="6088798"/>
            <a:ext cx="8517223" cy="2646041"/>
          </a:xfrm>
          <a:prstGeom prst="rect">
            <a:avLst/>
          </a:prstGeom>
        </p:spPr>
        <p:txBody>
          <a:bodyPr lIns="0" tIns="0" rIns="0" bIns="0" rtlCol="0" anchor="t">
            <a:spAutoFit/>
          </a:bodyPr>
          <a:lstStyle/>
          <a:p>
            <a:pPr algn="just">
              <a:lnSpc>
                <a:spcPts val="4200"/>
              </a:lnSpc>
            </a:pPr>
            <a:r>
              <a:rPr lang="en-US" sz="2800" dirty="0">
                <a:solidFill>
                  <a:srgbClr val="000000"/>
                </a:solidFill>
                <a:latin typeface="Atkinson Hyperlegible"/>
                <a:ea typeface="Atkinson Hyperlegible"/>
                <a:cs typeface="Atkinson Hyperlegible"/>
                <a:sym typeface="Atkinson Hyperlegible"/>
              </a:rPr>
              <a:t>Understanding environment setups, such as virtual environments and Python distributions, can help prevent issues during development. With the right setup, learners will be prepared to tackle complex AI tasks efficiently.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rot="5400000">
            <a:off x="0" y="0"/>
            <a:ext cx="2108502" cy="2108502"/>
          </a:xfrm>
          <a:custGeom>
            <a:avLst/>
            <a:gdLst/>
            <a:ahLst/>
            <a:cxnLst/>
            <a:rect l="l" t="t" r="r" b="b"/>
            <a:pathLst>
              <a:path w="2108502" h="2108502">
                <a:moveTo>
                  <a:pt x="0" y="0"/>
                </a:moveTo>
                <a:lnTo>
                  <a:pt x="2108502" y="0"/>
                </a:lnTo>
                <a:lnTo>
                  <a:pt x="2108502" y="2108502"/>
                </a:lnTo>
                <a:lnTo>
                  <a:pt x="0" y="210850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400000">
            <a:off x="16168840" y="8178498"/>
            <a:ext cx="2108502" cy="2108502"/>
          </a:xfrm>
          <a:custGeom>
            <a:avLst/>
            <a:gdLst/>
            <a:ahLst/>
            <a:cxnLst/>
            <a:rect l="l" t="t" r="r" b="b"/>
            <a:pathLst>
              <a:path w="2108502" h="2108502">
                <a:moveTo>
                  <a:pt x="0" y="0"/>
                </a:moveTo>
                <a:lnTo>
                  <a:pt x="2108502" y="0"/>
                </a:lnTo>
                <a:lnTo>
                  <a:pt x="2108502" y="2108502"/>
                </a:lnTo>
                <a:lnTo>
                  <a:pt x="0" y="210850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5400000" flipH="1">
            <a:off x="0" y="8399141"/>
            <a:ext cx="1887859" cy="1887859"/>
          </a:xfrm>
          <a:custGeom>
            <a:avLst/>
            <a:gdLst/>
            <a:ahLst/>
            <a:cxnLst/>
            <a:rect l="l" t="t" r="r" b="b"/>
            <a:pathLst>
              <a:path w="1887859" h="1887859">
                <a:moveTo>
                  <a:pt x="1887859" y="0"/>
                </a:moveTo>
                <a:lnTo>
                  <a:pt x="0" y="0"/>
                </a:lnTo>
                <a:lnTo>
                  <a:pt x="0" y="1887859"/>
                </a:lnTo>
                <a:lnTo>
                  <a:pt x="1887859" y="1887859"/>
                </a:lnTo>
                <a:lnTo>
                  <a:pt x="188785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rot="-5400000" flipH="1">
            <a:off x="16389483" y="0"/>
            <a:ext cx="1887859" cy="1887859"/>
          </a:xfrm>
          <a:custGeom>
            <a:avLst/>
            <a:gdLst/>
            <a:ahLst/>
            <a:cxnLst/>
            <a:rect l="l" t="t" r="r" b="b"/>
            <a:pathLst>
              <a:path w="1887859" h="1887859">
                <a:moveTo>
                  <a:pt x="1887859" y="0"/>
                </a:moveTo>
                <a:lnTo>
                  <a:pt x="0" y="0"/>
                </a:lnTo>
                <a:lnTo>
                  <a:pt x="0" y="1887859"/>
                </a:lnTo>
                <a:lnTo>
                  <a:pt x="1887859" y="1887859"/>
                </a:lnTo>
                <a:lnTo>
                  <a:pt x="1887859"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6" name="Group 6"/>
          <p:cNvGrpSpPr/>
          <p:nvPr/>
        </p:nvGrpSpPr>
        <p:grpSpPr>
          <a:xfrm>
            <a:off x="1887859" y="5518113"/>
            <a:ext cx="4222486" cy="3939104"/>
            <a:chOff x="0" y="0"/>
            <a:chExt cx="5629981" cy="5252139"/>
          </a:xfrm>
        </p:grpSpPr>
        <p:sp>
          <p:nvSpPr>
            <p:cNvPr id="7" name="TextBox 7"/>
            <p:cNvSpPr txBox="1"/>
            <p:nvPr/>
          </p:nvSpPr>
          <p:spPr>
            <a:xfrm>
              <a:off x="0" y="1127178"/>
              <a:ext cx="5629981" cy="4124961"/>
            </a:xfrm>
            <a:prstGeom prst="rect">
              <a:avLst/>
            </a:prstGeom>
          </p:spPr>
          <p:txBody>
            <a:bodyPr lIns="0" tIns="0" rIns="0" bIns="0" rtlCol="0" anchor="t">
              <a:spAutoFit/>
            </a:bodyPr>
            <a:lstStyle/>
            <a:p>
              <a:pPr marL="0" lvl="0" indent="0" algn="ctr">
                <a:lnSpc>
                  <a:spcPts val="4200"/>
                </a:lnSpc>
              </a:pPr>
              <a:r>
                <a:rPr lang="en-US" sz="2800" dirty="0">
                  <a:solidFill>
                    <a:srgbClr val="000000"/>
                  </a:solidFill>
                  <a:latin typeface="Atkinson Hyperlegible"/>
                  <a:ea typeface="Atkinson Hyperlegible"/>
                  <a:cs typeface="Atkinson Hyperlegible"/>
                  <a:sym typeface="Atkinson Hyperlegible"/>
                </a:rPr>
                <a:t>For optimal performance, </a:t>
              </a:r>
              <a:r>
                <a:rPr lang="en-US" sz="2800" b="1" dirty="0">
                  <a:solidFill>
                    <a:srgbClr val="000000"/>
                  </a:solidFill>
                  <a:latin typeface="Atkinson Hyperlegible Bold"/>
                  <a:ea typeface="Atkinson Hyperlegible Bold"/>
                  <a:cs typeface="Atkinson Hyperlegible Bold"/>
                  <a:sym typeface="Atkinson Hyperlegible Bold"/>
                </a:rPr>
                <a:t>8 GB RAM</a:t>
              </a:r>
              <a:r>
                <a:rPr lang="en-US" sz="2800" dirty="0">
                  <a:solidFill>
                    <a:srgbClr val="000000"/>
                  </a:solidFill>
                  <a:latin typeface="Atkinson Hyperlegible"/>
                  <a:ea typeface="Atkinson Hyperlegible"/>
                  <a:cs typeface="Atkinson Hyperlegible"/>
                  <a:sym typeface="Atkinson Hyperlegible"/>
                </a:rPr>
                <a:t> is required, but </a:t>
              </a:r>
              <a:r>
                <a:rPr lang="en-US" sz="2800" b="1" dirty="0">
                  <a:solidFill>
                    <a:srgbClr val="000000"/>
                  </a:solidFill>
                  <a:latin typeface="Atkinson Hyperlegible Bold"/>
                  <a:ea typeface="Atkinson Hyperlegible Bold"/>
                  <a:cs typeface="Atkinson Hyperlegible Bold"/>
                  <a:sym typeface="Atkinson Hyperlegible Bold"/>
                </a:rPr>
                <a:t>16 GB or more</a:t>
              </a:r>
              <a:r>
                <a:rPr lang="en-US" sz="2800" dirty="0">
                  <a:solidFill>
                    <a:srgbClr val="000000"/>
                  </a:solidFill>
                  <a:latin typeface="Atkinson Hyperlegible"/>
                  <a:ea typeface="Atkinson Hyperlegible"/>
                  <a:cs typeface="Atkinson Hyperlegible"/>
                  <a:sym typeface="Atkinson Hyperlegible"/>
                </a:rPr>
                <a:t> is preferred to handle intensive AI workloads efficiently.</a:t>
              </a:r>
            </a:p>
          </p:txBody>
        </p:sp>
        <p:sp>
          <p:nvSpPr>
            <p:cNvPr id="8" name="TextBox 8"/>
            <p:cNvSpPr txBox="1"/>
            <p:nvPr/>
          </p:nvSpPr>
          <p:spPr>
            <a:xfrm>
              <a:off x="0" y="-28575"/>
              <a:ext cx="5629981" cy="590762"/>
            </a:xfrm>
            <a:prstGeom prst="rect">
              <a:avLst/>
            </a:prstGeom>
          </p:spPr>
          <p:txBody>
            <a:bodyPr lIns="0" tIns="0" rIns="0" bIns="0" rtlCol="0" anchor="t">
              <a:spAutoFit/>
            </a:bodyPr>
            <a:lstStyle/>
            <a:p>
              <a:pPr algn="ctr">
                <a:lnSpc>
                  <a:spcPts val="3640"/>
                </a:lnSpc>
              </a:pPr>
              <a:r>
                <a:rPr lang="en-US" sz="2800">
                  <a:solidFill>
                    <a:srgbClr val="000000"/>
                  </a:solidFill>
                  <a:latin typeface="Atkinson Hyperlegible"/>
                  <a:ea typeface="Atkinson Hyperlegible"/>
                  <a:cs typeface="Atkinson Hyperlegible"/>
                  <a:sym typeface="Atkinson Hyperlegible"/>
                </a:rPr>
                <a:t>Step 01</a:t>
              </a:r>
            </a:p>
          </p:txBody>
        </p:sp>
      </p:grpSp>
      <p:grpSp>
        <p:nvGrpSpPr>
          <p:cNvPr id="9" name="Group 9"/>
          <p:cNvGrpSpPr/>
          <p:nvPr/>
        </p:nvGrpSpPr>
        <p:grpSpPr>
          <a:xfrm>
            <a:off x="7031076" y="5518113"/>
            <a:ext cx="4236616" cy="3939103"/>
            <a:chOff x="0" y="0"/>
            <a:chExt cx="5648821" cy="5252138"/>
          </a:xfrm>
        </p:grpSpPr>
        <p:sp>
          <p:nvSpPr>
            <p:cNvPr id="10" name="TextBox 10"/>
            <p:cNvSpPr txBox="1"/>
            <p:nvPr/>
          </p:nvSpPr>
          <p:spPr>
            <a:xfrm>
              <a:off x="0" y="1127178"/>
              <a:ext cx="5648821" cy="4124960"/>
            </a:xfrm>
            <a:prstGeom prst="rect">
              <a:avLst/>
            </a:prstGeom>
          </p:spPr>
          <p:txBody>
            <a:bodyPr lIns="0" tIns="0" rIns="0" bIns="0" rtlCol="0" anchor="t">
              <a:spAutoFit/>
            </a:bodyPr>
            <a:lstStyle/>
            <a:p>
              <a:pPr marL="0" lvl="0" indent="0" algn="ctr">
                <a:lnSpc>
                  <a:spcPts val="4200"/>
                </a:lnSpc>
              </a:pPr>
              <a:r>
                <a:rPr lang="en-US" sz="2800" dirty="0">
                  <a:solidFill>
                    <a:srgbClr val="000000"/>
                  </a:solidFill>
                  <a:latin typeface="Atkinson Hyperlegible"/>
                  <a:ea typeface="Atkinson Hyperlegible"/>
                  <a:cs typeface="Atkinson Hyperlegible"/>
                  <a:sym typeface="Atkinson Hyperlegible"/>
                </a:rPr>
                <a:t>A </a:t>
              </a:r>
              <a:r>
                <a:rPr lang="en-US" sz="2800" b="1" dirty="0">
                  <a:solidFill>
                    <a:srgbClr val="000000"/>
                  </a:solidFill>
                  <a:latin typeface="Atkinson Hyperlegible Bold"/>
                  <a:ea typeface="Atkinson Hyperlegible Bold"/>
                  <a:cs typeface="Atkinson Hyperlegible Bold"/>
                  <a:sym typeface="Atkinson Hyperlegible Bold"/>
                </a:rPr>
                <a:t>multi-core Intel/AMD CPU</a:t>
              </a:r>
              <a:r>
                <a:rPr lang="en-US" sz="2800" dirty="0">
                  <a:solidFill>
                    <a:srgbClr val="000000"/>
                  </a:solidFill>
                  <a:latin typeface="Atkinson Hyperlegible"/>
                  <a:ea typeface="Atkinson Hyperlegible"/>
                  <a:cs typeface="Atkinson Hyperlegible"/>
                  <a:sym typeface="Atkinson Hyperlegible"/>
                </a:rPr>
                <a:t> is essential for running multiple processes simultaneously, enhancing the overall performance of AI applications.</a:t>
              </a:r>
            </a:p>
          </p:txBody>
        </p:sp>
        <p:sp>
          <p:nvSpPr>
            <p:cNvPr id="11" name="TextBox 11"/>
            <p:cNvSpPr txBox="1"/>
            <p:nvPr/>
          </p:nvSpPr>
          <p:spPr>
            <a:xfrm>
              <a:off x="0" y="-28575"/>
              <a:ext cx="5648821" cy="590762"/>
            </a:xfrm>
            <a:prstGeom prst="rect">
              <a:avLst/>
            </a:prstGeom>
          </p:spPr>
          <p:txBody>
            <a:bodyPr lIns="0" tIns="0" rIns="0" bIns="0" rtlCol="0" anchor="t">
              <a:spAutoFit/>
            </a:bodyPr>
            <a:lstStyle/>
            <a:p>
              <a:pPr marL="0" lvl="0" indent="0" algn="ctr">
                <a:lnSpc>
                  <a:spcPts val="3640"/>
                </a:lnSpc>
                <a:spcBef>
                  <a:spcPct val="0"/>
                </a:spcBef>
              </a:pPr>
              <a:r>
                <a:rPr lang="en-US" sz="2800" u="none" strike="noStrike">
                  <a:solidFill>
                    <a:srgbClr val="000000"/>
                  </a:solidFill>
                  <a:latin typeface="Atkinson Hyperlegible"/>
                  <a:ea typeface="Atkinson Hyperlegible"/>
                  <a:cs typeface="Atkinson Hyperlegible"/>
                  <a:sym typeface="Atkinson Hyperlegible"/>
                </a:rPr>
                <a:t>Step 02</a:t>
              </a:r>
            </a:p>
          </p:txBody>
        </p:sp>
      </p:grpSp>
      <p:grpSp>
        <p:nvGrpSpPr>
          <p:cNvPr id="12" name="Group 12"/>
          <p:cNvGrpSpPr/>
          <p:nvPr/>
        </p:nvGrpSpPr>
        <p:grpSpPr>
          <a:xfrm>
            <a:off x="12385441" y="5448300"/>
            <a:ext cx="4732376" cy="4419600"/>
            <a:chOff x="0" y="-93084"/>
            <a:chExt cx="6309834" cy="5892800"/>
          </a:xfrm>
        </p:grpSpPr>
        <p:sp>
          <p:nvSpPr>
            <p:cNvPr id="13" name="TextBox 13"/>
            <p:cNvSpPr txBox="1"/>
            <p:nvPr/>
          </p:nvSpPr>
          <p:spPr>
            <a:xfrm>
              <a:off x="0" y="976253"/>
              <a:ext cx="6309834" cy="4823463"/>
            </a:xfrm>
            <a:prstGeom prst="rect">
              <a:avLst/>
            </a:prstGeom>
          </p:spPr>
          <p:txBody>
            <a:bodyPr lIns="0" tIns="0" rIns="0" bIns="0" rtlCol="0" anchor="t">
              <a:spAutoFit/>
            </a:bodyPr>
            <a:lstStyle/>
            <a:p>
              <a:pPr marL="0" lvl="0" indent="0" algn="ctr">
                <a:lnSpc>
                  <a:spcPts val="4200"/>
                </a:lnSpc>
              </a:pPr>
              <a:r>
                <a:rPr lang="en-US" sz="2800" dirty="0">
                  <a:solidFill>
                    <a:srgbClr val="000000"/>
                  </a:solidFill>
                  <a:latin typeface="Atkinson Hyperlegible"/>
                  <a:ea typeface="Atkinson Hyperlegible"/>
                  <a:cs typeface="Atkinson Hyperlegible"/>
                  <a:sym typeface="Atkinson Hyperlegible"/>
                </a:rPr>
                <a:t>An </a:t>
              </a:r>
              <a:r>
                <a:rPr lang="en-US" sz="2800" b="1" dirty="0">
                  <a:solidFill>
                    <a:srgbClr val="000000"/>
                  </a:solidFill>
                  <a:latin typeface="Atkinson Hyperlegible Bold"/>
                  <a:ea typeface="Atkinson Hyperlegible Bold"/>
                  <a:cs typeface="Atkinson Hyperlegible Bold"/>
                  <a:sym typeface="Atkinson Hyperlegible Bold"/>
                </a:rPr>
                <a:t>NVIDIA CUDA-enabled GPU</a:t>
              </a:r>
              <a:r>
                <a:rPr lang="en-US" sz="2800" dirty="0">
                  <a:solidFill>
                    <a:srgbClr val="000000"/>
                  </a:solidFill>
                  <a:latin typeface="Atkinson Hyperlegible"/>
                  <a:ea typeface="Atkinson Hyperlegible"/>
                  <a:cs typeface="Atkinson Hyperlegible"/>
                  <a:sym typeface="Atkinson Hyperlegible"/>
                </a:rPr>
                <a:t> is recommended for deep learning tasks, as it significantly accelerates model training, especially with libraries like TensorFlow or </a:t>
              </a:r>
              <a:r>
                <a:rPr lang="en-US" sz="2800" dirty="0" err="1">
                  <a:solidFill>
                    <a:srgbClr val="000000"/>
                  </a:solidFill>
                  <a:latin typeface="Atkinson Hyperlegible"/>
                  <a:ea typeface="Atkinson Hyperlegible"/>
                  <a:cs typeface="Atkinson Hyperlegible"/>
                  <a:sym typeface="Atkinson Hyperlegible"/>
                </a:rPr>
                <a:t>PyTorch</a:t>
              </a:r>
              <a:r>
                <a:rPr lang="en-US" sz="2800" dirty="0">
                  <a:solidFill>
                    <a:srgbClr val="000000"/>
                  </a:solidFill>
                  <a:latin typeface="Atkinson Hyperlegible"/>
                  <a:ea typeface="Atkinson Hyperlegible"/>
                  <a:cs typeface="Atkinson Hyperlegible"/>
                  <a:sym typeface="Atkinson Hyperlegible"/>
                </a:rPr>
                <a:t>.</a:t>
              </a:r>
            </a:p>
          </p:txBody>
        </p:sp>
        <p:sp>
          <p:nvSpPr>
            <p:cNvPr id="14" name="TextBox 14"/>
            <p:cNvSpPr txBox="1"/>
            <p:nvPr/>
          </p:nvSpPr>
          <p:spPr>
            <a:xfrm>
              <a:off x="0" y="-93084"/>
              <a:ext cx="6309834" cy="590761"/>
            </a:xfrm>
            <a:prstGeom prst="rect">
              <a:avLst/>
            </a:prstGeom>
          </p:spPr>
          <p:txBody>
            <a:bodyPr lIns="0" tIns="0" rIns="0" bIns="0" rtlCol="0" anchor="t">
              <a:spAutoFit/>
            </a:bodyPr>
            <a:lstStyle/>
            <a:p>
              <a:pPr marL="0" lvl="0" indent="0" algn="ctr">
                <a:lnSpc>
                  <a:spcPts val="3640"/>
                </a:lnSpc>
                <a:spcBef>
                  <a:spcPct val="0"/>
                </a:spcBef>
              </a:pPr>
              <a:r>
                <a:rPr lang="en-US" sz="2800" u="none" strike="noStrike" dirty="0">
                  <a:solidFill>
                    <a:srgbClr val="000000"/>
                  </a:solidFill>
                  <a:latin typeface="Atkinson Hyperlegible"/>
                  <a:ea typeface="Atkinson Hyperlegible"/>
                  <a:cs typeface="Atkinson Hyperlegible"/>
                  <a:sym typeface="Atkinson Hyperlegible"/>
                </a:rPr>
                <a:t>Step 03</a:t>
              </a:r>
            </a:p>
          </p:txBody>
        </p:sp>
      </p:grpSp>
      <p:grpSp>
        <p:nvGrpSpPr>
          <p:cNvPr id="15" name="Group 15"/>
          <p:cNvGrpSpPr/>
          <p:nvPr/>
        </p:nvGrpSpPr>
        <p:grpSpPr>
          <a:xfrm>
            <a:off x="2090585" y="2658496"/>
            <a:ext cx="14106830" cy="1937926"/>
            <a:chOff x="0" y="0"/>
            <a:chExt cx="18809107" cy="2583901"/>
          </a:xfrm>
        </p:grpSpPr>
        <p:sp>
          <p:nvSpPr>
            <p:cNvPr id="16" name="TextBox 16"/>
            <p:cNvSpPr txBox="1"/>
            <p:nvPr/>
          </p:nvSpPr>
          <p:spPr>
            <a:xfrm>
              <a:off x="0" y="76200"/>
              <a:ext cx="18809107" cy="1337733"/>
            </a:xfrm>
            <a:prstGeom prst="rect">
              <a:avLst/>
            </a:prstGeom>
          </p:spPr>
          <p:txBody>
            <a:bodyPr lIns="0" tIns="0" rIns="0" bIns="0" rtlCol="0" anchor="t">
              <a:spAutoFit/>
            </a:bodyPr>
            <a:lstStyle/>
            <a:p>
              <a:pPr marL="0" lvl="0" indent="0" algn="ctr">
                <a:lnSpc>
                  <a:spcPts val="7700"/>
                </a:lnSpc>
              </a:pPr>
              <a:r>
                <a:rPr lang="en-US" sz="7000" b="1">
                  <a:solidFill>
                    <a:srgbClr val="000000"/>
                  </a:solidFill>
                  <a:latin typeface="Atkinson Hyperlegible Bold"/>
                  <a:ea typeface="Atkinson Hyperlegible Bold"/>
                  <a:cs typeface="Atkinson Hyperlegible Bold"/>
                  <a:sym typeface="Atkinson Hyperlegible Bold"/>
                </a:rPr>
                <a:t>Recommended Hardware Setup</a:t>
              </a:r>
            </a:p>
          </p:txBody>
        </p:sp>
        <p:sp>
          <p:nvSpPr>
            <p:cNvPr id="17" name="TextBox 17"/>
            <p:cNvSpPr txBox="1"/>
            <p:nvPr/>
          </p:nvSpPr>
          <p:spPr>
            <a:xfrm>
              <a:off x="0" y="1629285"/>
              <a:ext cx="18809107" cy="954617"/>
            </a:xfrm>
            <a:prstGeom prst="rect">
              <a:avLst/>
            </a:prstGeom>
          </p:spPr>
          <p:txBody>
            <a:bodyPr lIns="0" tIns="0" rIns="0" bIns="0" rtlCol="0" anchor="t">
              <a:spAutoFit/>
            </a:bodyPr>
            <a:lstStyle/>
            <a:p>
              <a:pPr marL="0" lvl="0" indent="0" algn="ctr">
                <a:lnSpc>
                  <a:spcPts val="5500"/>
                </a:lnSpc>
              </a:pPr>
              <a:r>
                <a:rPr lang="en-US" sz="5000" b="1">
                  <a:solidFill>
                    <a:srgbClr val="000000"/>
                  </a:solidFill>
                  <a:latin typeface="Atkinson Hyperlegible Bold"/>
                  <a:ea typeface="Atkinson Hyperlegible Bold"/>
                  <a:cs typeface="Atkinson Hyperlegible Bold"/>
                  <a:sym typeface="Atkinson Hyperlegible Bold"/>
                </a:rPr>
                <a:t>Minimum Requirements for AI</a:t>
              </a:r>
            </a:p>
          </p:txBody>
        </p:sp>
      </p:grpSp>
      <p:sp>
        <p:nvSpPr>
          <p:cNvPr id="18" name="Freeform 18"/>
          <p:cNvSpPr/>
          <p:nvPr/>
        </p:nvSpPr>
        <p:spPr>
          <a:xfrm rot="5400000" flipV="1">
            <a:off x="14159427" y="0"/>
            <a:ext cx="4128573" cy="4128573"/>
          </a:xfrm>
          <a:custGeom>
            <a:avLst/>
            <a:gdLst/>
            <a:ahLst/>
            <a:cxnLst/>
            <a:rect l="l" t="t" r="r" b="b"/>
            <a:pathLst>
              <a:path w="4128573" h="4128573">
                <a:moveTo>
                  <a:pt x="0" y="4128573"/>
                </a:moveTo>
                <a:lnTo>
                  <a:pt x="4128573" y="4128573"/>
                </a:lnTo>
                <a:lnTo>
                  <a:pt x="4128573" y="0"/>
                </a:lnTo>
                <a:lnTo>
                  <a:pt x="0" y="0"/>
                </a:lnTo>
                <a:lnTo>
                  <a:pt x="0" y="4128573"/>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9" name="Freeform 19"/>
          <p:cNvSpPr/>
          <p:nvPr/>
        </p:nvSpPr>
        <p:spPr>
          <a:xfrm>
            <a:off x="15958292" y="0"/>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8"/>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rot="5400000">
            <a:off x="0" y="0"/>
            <a:ext cx="2108502" cy="2108502"/>
          </a:xfrm>
          <a:custGeom>
            <a:avLst/>
            <a:gdLst/>
            <a:ahLst/>
            <a:cxnLst/>
            <a:rect l="l" t="t" r="r" b="b"/>
            <a:pathLst>
              <a:path w="2108502" h="2108502">
                <a:moveTo>
                  <a:pt x="0" y="0"/>
                </a:moveTo>
                <a:lnTo>
                  <a:pt x="2108502" y="0"/>
                </a:lnTo>
                <a:lnTo>
                  <a:pt x="2108502" y="2108502"/>
                </a:lnTo>
                <a:lnTo>
                  <a:pt x="0" y="210850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400000">
            <a:off x="16168840" y="8178498"/>
            <a:ext cx="2108502" cy="2108502"/>
          </a:xfrm>
          <a:custGeom>
            <a:avLst/>
            <a:gdLst/>
            <a:ahLst/>
            <a:cxnLst/>
            <a:rect l="l" t="t" r="r" b="b"/>
            <a:pathLst>
              <a:path w="2108502" h="2108502">
                <a:moveTo>
                  <a:pt x="0" y="0"/>
                </a:moveTo>
                <a:lnTo>
                  <a:pt x="2108502" y="0"/>
                </a:lnTo>
                <a:lnTo>
                  <a:pt x="2108502" y="2108502"/>
                </a:lnTo>
                <a:lnTo>
                  <a:pt x="0" y="210850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5400000" flipH="1">
            <a:off x="0" y="8399141"/>
            <a:ext cx="1887859" cy="1887859"/>
          </a:xfrm>
          <a:custGeom>
            <a:avLst/>
            <a:gdLst/>
            <a:ahLst/>
            <a:cxnLst/>
            <a:rect l="l" t="t" r="r" b="b"/>
            <a:pathLst>
              <a:path w="1887859" h="1887859">
                <a:moveTo>
                  <a:pt x="1887859" y="0"/>
                </a:moveTo>
                <a:lnTo>
                  <a:pt x="0" y="0"/>
                </a:lnTo>
                <a:lnTo>
                  <a:pt x="0" y="1887859"/>
                </a:lnTo>
                <a:lnTo>
                  <a:pt x="1887859" y="1887859"/>
                </a:lnTo>
                <a:lnTo>
                  <a:pt x="188785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rot="-5400000" flipH="1">
            <a:off x="16389483" y="0"/>
            <a:ext cx="1887859" cy="1887859"/>
          </a:xfrm>
          <a:custGeom>
            <a:avLst/>
            <a:gdLst/>
            <a:ahLst/>
            <a:cxnLst/>
            <a:rect l="l" t="t" r="r" b="b"/>
            <a:pathLst>
              <a:path w="1887859" h="1887859">
                <a:moveTo>
                  <a:pt x="1887859" y="0"/>
                </a:moveTo>
                <a:lnTo>
                  <a:pt x="0" y="0"/>
                </a:lnTo>
                <a:lnTo>
                  <a:pt x="0" y="1887859"/>
                </a:lnTo>
                <a:lnTo>
                  <a:pt x="1887859" y="1887859"/>
                </a:lnTo>
                <a:lnTo>
                  <a:pt x="188785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TextBox 7"/>
          <p:cNvSpPr txBox="1"/>
          <p:nvPr/>
        </p:nvSpPr>
        <p:spPr>
          <a:xfrm>
            <a:off x="1752600" y="4076700"/>
            <a:ext cx="11473815" cy="5078095"/>
          </a:xfrm>
          <a:prstGeom prst="rect">
            <a:avLst/>
          </a:prstGeom>
        </p:spPr>
        <p:txBody>
          <a:bodyPr wrap="square" lIns="0" tIns="0" rIns="0" bIns="0" rtlCol="0" anchor="t">
            <a:spAutoFit/>
          </a:bodyPr>
          <a:lstStyle/>
          <a:p>
            <a:pPr marL="457200" lvl="0" indent="-457200" algn="l">
              <a:lnSpc>
                <a:spcPct val="150000"/>
              </a:lnSpc>
              <a:buFont typeface="Arial" panose="020B0604020202020204" pitchFamily="34" charset="0"/>
              <a:buChar char="•"/>
            </a:pPr>
            <a:r>
              <a:rPr lang="en-GB" altLang="en-US" sz="4400" dirty="0">
                <a:solidFill>
                  <a:srgbClr val="000000"/>
                </a:solidFill>
                <a:latin typeface="Atkinson Hyperlegible"/>
                <a:ea typeface="Atkinson Hyperlegible"/>
                <a:cs typeface="Atkinson Hyperlegible"/>
                <a:sym typeface="Atkinson Hyperlegible"/>
              </a:rPr>
              <a:t>CPU:  Intel Core i5-12400F</a:t>
            </a:r>
          </a:p>
          <a:p>
            <a:pPr marL="457200" lvl="0" indent="-457200" algn="l">
              <a:lnSpc>
                <a:spcPct val="150000"/>
              </a:lnSpc>
              <a:buFont typeface="Arial" panose="020B0604020202020204" pitchFamily="34" charset="0"/>
              <a:buChar char="•"/>
            </a:pPr>
            <a:r>
              <a:rPr lang="en-GB" altLang="en-US" sz="4400" dirty="0">
                <a:solidFill>
                  <a:srgbClr val="000000"/>
                </a:solidFill>
                <a:latin typeface="Atkinson Hyperlegible"/>
                <a:ea typeface="Atkinson Hyperlegible"/>
                <a:cs typeface="Atkinson Hyperlegible"/>
                <a:sym typeface="Atkinson Hyperlegible"/>
              </a:rPr>
              <a:t>RAM: 32GB</a:t>
            </a:r>
          </a:p>
          <a:p>
            <a:pPr marL="457200" lvl="0" indent="-457200" algn="l">
              <a:lnSpc>
                <a:spcPct val="150000"/>
              </a:lnSpc>
              <a:buFont typeface="Arial" panose="020B0604020202020204" pitchFamily="34" charset="0"/>
              <a:buChar char="•"/>
            </a:pPr>
            <a:r>
              <a:rPr lang="en-GB" altLang="en-US" sz="4400" dirty="0">
                <a:solidFill>
                  <a:srgbClr val="000000"/>
                </a:solidFill>
                <a:latin typeface="Atkinson Hyperlegible"/>
                <a:ea typeface="Atkinson Hyperlegible"/>
                <a:cs typeface="Atkinson Hyperlegible"/>
                <a:sym typeface="Atkinson Hyperlegible"/>
              </a:rPr>
              <a:t>Storage: 500GB SSD</a:t>
            </a:r>
          </a:p>
          <a:p>
            <a:pPr marL="457200" lvl="0" indent="-457200" algn="l">
              <a:lnSpc>
                <a:spcPct val="150000"/>
              </a:lnSpc>
              <a:buFont typeface="Arial" panose="020B0604020202020204" pitchFamily="34" charset="0"/>
              <a:buChar char="•"/>
            </a:pPr>
            <a:r>
              <a:rPr lang="en-GB" altLang="en-US" sz="4400" dirty="0">
                <a:solidFill>
                  <a:srgbClr val="000000"/>
                </a:solidFill>
                <a:latin typeface="Atkinson Hyperlegible"/>
                <a:ea typeface="Atkinson Hyperlegible"/>
                <a:cs typeface="Atkinson Hyperlegible"/>
                <a:sym typeface="Atkinson Hyperlegible"/>
              </a:rPr>
              <a:t>GPU: NVIDIA GeForce RTX 4060</a:t>
            </a:r>
          </a:p>
          <a:p>
            <a:pPr marL="457200" lvl="0" indent="-457200" algn="l">
              <a:lnSpc>
                <a:spcPct val="150000"/>
              </a:lnSpc>
              <a:buFont typeface="Arial" panose="020B0604020202020204" pitchFamily="34" charset="0"/>
              <a:buChar char="•"/>
            </a:pPr>
            <a:r>
              <a:rPr lang="en-GB" altLang="en-US" sz="4400" dirty="0">
                <a:solidFill>
                  <a:srgbClr val="000000"/>
                </a:solidFill>
                <a:latin typeface="Atkinson Hyperlegible"/>
                <a:ea typeface="Atkinson Hyperlegible"/>
                <a:cs typeface="Atkinson Hyperlegible"/>
                <a:sym typeface="Atkinson Hyperlegible"/>
              </a:rPr>
              <a:t>Monitor: </a:t>
            </a:r>
            <a:r>
              <a:rPr lang="en-GB" altLang="en-US" sz="4400" dirty="0" smtClean="0">
                <a:solidFill>
                  <a:srgbClr val="000000"/>
                </a:solidFill>
                <a:latin typeface="Atkinson Hyperlegible"/>
                <a:ea typeface="Atkinson Hyperlegible"/>
                <a:cs typeface="Atkinson Hyperlegible"/>
                <a:sym typeface="Atkinson Hyperlegible"/>
              </a:rPr>
              <a:t>27-inch </a:t>
            </a:r>
            <a:r>
              <a:rPr lang="en-GB" altLang="en-US" sz="4400" dirty="0">
                <a:solidFill>
                  <a:srgbClr val="000000"/>
                </a:solidFill>
                <a:latin typeface="Atkinson Hyperlegible"/>
                <a:ea typeface="Atkinson Hyperlegible"/>
                <a:cs typeface="Atkinson Hyperlegible"/>
                <a:sym typeface="Atkinson Hyperlegible"/>
              </a:rPr>
              <a:t>Full HD monitor</a:t>
            </a:r>
          </a:p>
        </p:txBody>
      </p:sp>
      <p:sp>
        <p:nvSpPr>
          <p:cNvPr id="16" name="TextBox 16"/>
          <p:cNvSpPr txBox="1"/>
          <p:nvPr/>
        </p:nvSpPr>
        <p:spPr>
          <a:xfrm>
            <a:off x="1447800" y="1409700"/>
            <a:ext cx="14106525" cy="1974850"/>
          </a:xfrm>
          <a:prstGeom prst="rect">
            <a:avLst/>
          </a:prstGeom>
        </p:spPr>
        <p:txBody>
          <a:bodyPr lIns="0" tIns="0" rIns="0" bIns="0" rtlCol="0" anchor="t">
            <a:spAutoFit/>
          </a:bodyPr>
          <a:lstStyle/>
          <a:p>
            <a:pPr marL="0" lvl="0" indent="0" algn="ctr">
              <a:lnSpc>
                <a:spcPts val="7700"/>
              </a:lnSpc>
            </a:pPr>
            <a:r>
              <a:rPr lang="en-GB" altLang="en-US" sz="7000" b="1">
                <a:solidFill>
                  <a:srgbClr val="000000"/>
                </a:solidFill>
                <a:latin typeface="Atkinson Hyperlegible Bold"/>
                <a:ea typeface="Atkinson Hyperlegible Bold"/>
                <a:cs typeface="Atkinson Hyperlegible Bold"/>
                <a:sym typeface="Atkinson Hyperlegible Bold"/>
              </a:rPr>
              <a:t>Now what is the h</a:t>
            </a:r>
            <a:r>
              <a:rPr lang="en-US" sz="7000" b="1">
                <a:solidFill>
                  <a:srgbClr val="000000"/>
                </a:solidFill>
                <a:latin typeface="Atkinson Hyperlegible Bold"/>
                <a:ea typeface="Atkinson Hyperlegible Bold"/>
                <a:cs typeface="Atkinson Hyperlegible Bold"/>
                <a:sym typeface="Atkinson Hyperlegible Bold"/>
              </a:rPr>
              <a:t>ardware </a:t>
            </a:r>
            <a:r>
              <a:rPr lang="en-GB" altLang="en-US" sz="7000" b="1">
                <a:solidFill>
                  <a:srgbClr val="000000"/>
                </a:solidFill>
                <a:latin typeface="Atkinson Hyperlegible Bold"/>
                <a:ea typeface="Atkinson Hyperlegible Bold"/>
                <a:cs typeface="Atkinson Hyperlegible Bold"/>
                <a:sym typeface="Atkinson Hyperlegible Bold"/>
              </a:rPr>
              <a:t>s</a:t>
            </a:r>
            <a:r>
              <a:rPr lang="en-US" sz="7000" b="1">
                <a:solidFill>
                  <a:srgbClr val="000000"/>
                </a:solidFill>
                <a:latin typeface="Atkinson Hyperlegible Bold"/>
                <a:ea typeface="Atkinson Hyperlegible Bold"/>
                <a:cs typeface="Atkinson Hyperlegible Bold"/>
                <a:sym typeface="Atkinson Hyperlegible Bold"/>
              </a:rPr>
              <a:t>etup</a:t>
            </a:r>
            <a:r>
              <a:rPr lang="en-GB" altLang="en-US" sz="7000" b="1">
                <a:solidFill>
                  <a:srgbClr val="000000"/>
                </a:solidFill>
                <a:latin typeface="Atkinson Hyperlegible Bold"/>
                <a:ea typeface="Atkinson Hyperlegible Bold"/>
                <a:cs typeface="Atkinson Hyperlegible Bold"/>
                <a:sym typeface="Atkinson Hyperlegible Bold"/>
              </a:rPr>
              <a:t> in front of you?</a:t>
            </a:r>
          </a:p>
        </p:txBody>
      </p:sp>
      <p:sp>
        <p:nvSpPr>
          <p:cNvPr id="18" name="Freeform 18"/>
          <p:cNvSpPr/>
          <p:nvPr/>
        </p:nvSpPr>
        <p:spPr>
          <a:xfrm rot="5400000" flipV="1">
            <a:off x="14159427" y="0"/>
            <a:ext cx="4128573" cy="4128573"/>
          </a:xfrm>
          <a:custGeom>
            <a:avLst/>
            <a:gdLst/>
            <a:ahLst/>
            <a:cxnLst/>
            <a:rect l="l" t="t" r="r" b="b"/>
            <a:pathLst>
              <a:path w="4128573" h="4128573">
                <a:moveTo>
                  <a:pt x="0" y="4128573"/>
                </a:moveTo>
                <a:lnTo>
                  <a:pt x="4128573" y="4128573"/>
                </a:lnTo>
                <a:lnTo>
                  <a:pt x="4128573" y="0"/>
                </a:lnTo>
                <a:lnTo>
                  <a:pt x="0" y="0"/>
                </a:lnTo>
                <a:lnTo>
                  <a:pt x="0" y="4128573"/>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19" name="Freeform 19"/>
          <p:cNvSpPr/>
          <p:nvPr/>
        </p:nvSpPr>
        <p:spPr>
          <a:xfrm>
            <a:off x="15958292" y="0"/>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8"/>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rot="5400000">
            <a:off x="-117089" y="-2274569"/>
            <a:ext cx="4315364" cy="4403432"/>
          </a:xfrm>
          <a:custGeom>
            <a:avLst/>
            <a:gdLst/>
            <a:ahLst/>
            <a:cxnLst/>
            <a:rect l="l" t="t" r="r" b="b"/>
            <a:pathLst>
              <a:path w="4315364" h="4403432">
                <a:moveTo>
                  <a:pt x="0" y="0"/>
                </a:moveTo>
                <a:lnTo>
                  <a:pt x="4315364" y="0"/>
                </a:lnTo>
                <a:lnTo>
                  <a:pt x="4315364" y="4403432"/>
                </a:lnTo>
                <a:lnTo>
                  <a:pt x="0" y="440343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158075" y="4134404"/>
            <a:ext cx="3523765" cy="4114800"/>
          </a:xfrm>
          <a:custGeom>
            <a:avLst/>
            <a:gdLst/>
            <a:ahLst/>
            <a:cxnLst/>
            <a:rect l="l" t="t" r="r" b="b"/>
            <a:pathLst>
              <a:path w="3523765" h="4114800">
                <a:moveTo>
                  <a:pt x="0" y="0"/>
                </a:moveTo>
                <a:lnTo>
                  <a:pt x="3523765" y="0"/>
                </a:lnTo>
                <a:lnTo>
                  <a:pt x="352376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1678142" y="8432675"/>
            <a:ext cx="3356284" cy="1366923"/>
          </a:xfrm>
          <a:custGeom>
            <a:avLst/>
            <a:gdLst/>
            <a:ahLst/>
            <a:cxnLst/>
            <a:rect l="l" t="t" r="r" b="b"/>
            <a:pathLst>
              <a:path w="3356284" h="1366923">
                <a:moveTo>
                  <a:pt x="0" y="0"/>
                </a:moveTo>
                <a:lnTo>
                  <a:pt x="3356284" y="0"/>
                </a:lnTo>
                <a:lnTo>
                  <a:pt x="3356284" y="1366923"/>
                </a:lnTo>
                <a:lnTo>
                  <a:pt x="0" y="136692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TextBox 5"/>
          <p:cNvSpPr txBox="1"/>
          <p:nvPr/>
        </p:nvSpPr>
        <p:spPr>
          <a:xfrm>
            <a:off x="1829257" y="3162300"/>
            <a:ext cx="14980209" cy="1154162"/>
          </a:xfrm>
          <a:prstGeom prst="rect">
            <a:avLst/>
          </a:prstGeom>
        </p:spPr>
        <p:txBody>
          <a:bodyPr wrap="square" lIns="0" tIns="0" rIns="0" bIns="0" rtlCol="0" anchor="t">
            <a:spAutoFit/>
          </a:bodyPr>
          <a:lstStyle/>
          <a:p>
            <a:pPr marL="0" lvl="0" indent="0" algn="l">
              <a:lnSpc>
                <a:spcPts val="9020"/>
              </a:lnSpc>
            </a:pPr>
            <a:r>
              <a:rPr lang="en-US" sz="8200" b="1" dirty="0">
                <a:solidFill>
                  <a:srgbClr val="000000"/>
                </a:solidFill>
                <a:latin typeface="Atkinson Hyperlegible Bold"/>
                <a:ea typeface="Atkinson Hyperlegible Bold"/>
                <a:cs typeface="Atkinson Hyperlegible Bold"/>
                <a:sym typeface="Atkinson Hyperlegible Bold"/>
              </a:rPr>
              <a:t>Environment Setup Essentials</a:t>
            </a:r>
          </a:p>
        </p:txBody>
      </p:sp>
      <p:grpSp>
        <p:nvGrpSpPr>
          <p:cNvPr id="6" name="Group 6"/>
          <p:cNvGrpSpPr/>
          <p:nvPr/>
        </p:nvGrpSpPr>
        <p:grpSpPr>
          <a:xfrm>
            <a:off x="1243504" y="5209371"/>
            <a:ext cx="5316059" cy="3744129"/>
            <a:chOff x="0" y="0"/>
            <a:chExt cx="7088079" cy="4992172"/>
          </a:xfrm>
        </p:grpSpPr>
        <p:sp>
          <p:nvSpPr>
            <p:cNvPr id="7" name="TextBox 7"/>
            <p:cNvSpPr txBox="1"/>
            <p:nvPr/>
          </p:nvSpPr>
          <p:spPr>
            <a:xfrm>
              <a:off x="0" y="1809551"/>
              <a:ext cx="7088079" cy="3182621"/>
            </a:xfrm>
            <a:prstGeom prst="rect">
              <a:avLst/>
            </a:prstGeom>
          </p:spPr>
          <p:txBody>
            <a:bodyPr lIns="0" tIns="0" rIns="0" bIns="0" rtlCol="0" anchor="t">
              <a:spAutoFit/>
            </a:bodyPr>
            <a:lstStyle/>
            <a:p>
              <a:pPr marL="0" lvl="0" indent="0" algn="ctr">
                <a:lnSpc>
                  <a:spcPts val="3900"/>
                </a:lnSpc>
              </a:pPr>
              <a:r>
                <a:rPr lang="en-US" sz="2600" dirty="0">
                  <a:solidFill>
                    <a:srgbClr val="000000"/>
                  </a:solidFill>
                  <a:latin typeface="Atkinson Hyperlegible"/>
                  <a:ea typeface="Atkinson Hyperlegible"/>
                  <a:cs typeface="Atkinson Hyperlegible"/>
                  <a:sym typeface="Atkinson Hyperlegible"/>
                </a:rPr>
                <a:t>A solid development environment ensures </a:t>
              </a:r>
              <a:r>
                <a:rPr lang="en-US" sz="2600" b="1" dirty="0">
                  <a:solidFill>
                    <a:srgbClr val="000000"/>
                  </a:solidFill>
                  <a:latin typeface="Atkinson Hyperlegible Bold"/>
                  <a:ea typeface="Atkinson Hyperlegible Bold"/>
                  <a:cs typeface="Atkinson Hyperlegible Bold"/>
                  <a:sym typeface="Atkinson Hyperlegible Bold"/>
                </a:rPr>
                <a:t>reproducibility</a:t>
              </a:r>
              <a:r>
                <a:rPr lang="en-US" sz="2600" dirty="0">
                  <a:solidFill>
                    <a:srgbClr val="000000"/>
                  </a:solidFill>
                  <a:latin typeface="Atkinson Hyperlegible"/>
                  <a:ea typeface="Atkinson Hyperlegible"/>
                  <a:cs typeface="Atkinson Hyperlegible"/>
                  <a:sym typeface="Atkinson Hyperlegible"/>
                </a:rPr>
                <a:t> and </a:t>
              </a:r>
              <a:r>
                <a:rPr lang="en-US" sz="2600" b="1" dirty="0">
                  <a:solidFill>
                    <a:srgbClr val="000000"/>
                  </a:solidFill>
                  <a:latin typeface="Atkinson Hyperlegible Bold"/>
                  <a:ea typeface="Atkinson Hyperlegible Bold"/>
                  <a:cs typeface="Atkinson Hyperlegible Bold"/>
                  <a:sym typeface="Atkinson Hyperlegible Bold"/>
                </a:rPr>
                <a:t>efficiency</a:t>
              </a:r>
              <a:r>
                <a:rPr lang="en-US" sz="2600" dirty="0">
                  <a:solidFill>
                    <a:srgbClr val="000000"/>
                  </a:solidFill>
                  <a:latin typeface="Atkinson Hyperlegible"/>
                  <a:ea typeface="Atkinson Hyperlegible"/>
                  <a:cs typeface="Atkinson Hyperlegible"/>
                  <a:sym typeface="Atkinson Hyperlegible"/>
                </a:rPr>
                <a:t> in AI projects, minimizing potential errors across your workflows.</a:t>
              </a:r>
            </a:p>
          </p:txBody>
        </p:sp>
        <p:sp>
          <p:nvSpPr>
            <p:cNvPr id="8" name="TextBox 8"/>
            <p:cNvSpPr txBox="1"/>
            <p:nvPr/>
          </p:nvSpPr>
          <p:spPr>
            <a:xfrm>
              <a:off x="580390" y="-28575"/>
              <a:ext cx="5965929" cy="1273175"/>
            </a:xfrm>
            <a:prstGeom prst="rect">
              <a:avLst/>
            </a:prstGeom>
          </p:spPr>
          <p:txBody>
            <a:bodyPr lIns="0" tIns="0" rIns="0" bIns="0" rtlCol="0" anchor="t">
              <a:spAutoFit/>
            </a:bodyPr>
            <a:lstStyle/>
            <a:p>
              <a:pPr marL="0" lvl="0" indent="0" algn="ctr">
                <a:lnSpc>
                  <a:spcPts val="3900"/>
                </a:lnSpc>
              </a:pPr>
              <a:r>
                <a:rPr lang="en-US" sz="3000" b="1" dirty="0">
                  <a:solidFill>
                    <a:srgbClr val="000000"/>
                  </a:solidFill>
                  <a:latin typeface="Atkinson Hyperlegible Bold"/>
                  <a:ea typeface="Atkinson Hyperlegible Bold"/>
                  <a:cs typeface="Atkinson Hyperlegible Bold"/>
                  <a:sym typeface="Atkinson Hyperlegible Bold"/>
                </a:rPr>
                <a:t>Why Environment Matters</a:t>
              </a:r>
            </a:p>
          </p:txBody>
        </p:sp>
      </p:grpSp>
      <p:grpSp>
        <p:nvGrpSpPr>
          <p:cNvPr id="9" name="Group 9"/>
          <p:cNvGrpSpPr/>
          <p:nvPr/>
        </p:nvGrpSpPr>
        <p:grpSpPr>
          <a:xfrm>
            <a:off x="7157365" y="5274469"/>
            <a:ext cx="4323992" cy="3765560"/>
            <a:chOff x="0" y="-28575"/>
            <a:chExt cx="5765323" cy="5020746"/>
          </a:xfrm>
        </p:grpSpPr>
        <p:sp>
          <p:nvSpPr>
            <p:cNvPr id="10" name="TextBox 10"/>
            <p:cNvSpPr txBox="1"/>
            <p:nvPr/>
          </p:nvSpPr>
          <p:spPr>
            <a:xfrm>
              <a:off x="0" y="1161850"/>
              <a:ext cx="5765323" cy="3830321"/>
            </a:xfrm>
            <a:prstGeom prst="rect">
              <a:avLst/>
            </a:prstGeom>
          </p:spPr>
          <p:txBody>
            <a:bodyPr lIns="0" tIns="0" rIns="0" bIns="0" rtlCol="0" anchor="t">
              <a:spAutoFit/>
            </a:bodyPr>
            <a:lstStyle/>
            <a:p>
              <a:pPr marL="0" lvl="0" indent="0" algn="ctr">
                <a:lnSpc>
                  <a:spcPts val="3900"/>
                </a:lnSpc>
              </a:pPr>
              <a:r>
                <a:rPr lang="en-US" sz="2600" dirty="0">
                  <a:solidFill>
                    <a:srgbClr val="000000"/>
                  </a:solidFill>
                  <a:latin typeface="Atkinson Hyperlegible"/>
                  <a:ea typeface="Atkinson Hyperlegible"/>
                  <a:cs typeface="Atkinson Hyperlegible"/>
                  <a:sym typeface="Atkinson Hyperlegible"/>
                </a:rPr>
                <a:t>Python installation is straightforward; visit the official site and follow the setup instructions to configure your environment properly for AI development.</a:t>
              </a:r>
            </a:p>
          </p:txBody>
        </p:sp>
        <p:sp>
          <p:nvSpPr>
            <p:cNvPr id="11" name="TextBox 11"/>
            <p:cNvSpPr txBox="1"/>
            <p:nvPr/>
          </p:nvSpPr>
          <p:spPr>
            <a:xfrm>
              <a:off x="472080" y="-28575"/>
              <a:ext cx="4852585" cy="625475"/>
            </a:xfrm>
            <a:prstGeom prst="rect">
              <a:avLst/>
            </a:prstGeom>
          </p:spPr>
          <p:txBody>
            <a:bodyPr lIns="0" tIns="0" rIns="0" bIns="0" rtlCol="0" anchor="t">
              <a:spAutoFit/>
            </a:bodyPr>
            <a:lstStyle/>
            <a:p>
              <a:pPr marL="0" lvl="0" indent="0" algn="ctr">
                <a:lnSpc>
                  <a:spcPts val="3900"/>
                </a:lnSpc>
                <a:spcBef>
                  <a:spcPct val="0"/>
                </a:spcBef>
              </a:pPr>
              <a:r>
                <a:rPr lang="en-US" sz="3000" b="1" u="none" strike="noStrike" dirty="0">
                  <a:solidFill>
                    <a:srgbClr val="000000"/>
                  </a:solidFill>
                  <a:latin typeface="Atkinson Hyperlegible Bold"/>
                  <a:ea typeface="Atkinson Hyperlegible Bold"/>
                  <a:cs typeface="Atkinson Hyperlegible Bold"/>
                  <a:sym typeface="Atkinson Hyperlegible Bold"/>
                </a:rPr>
                <a:t>Installing Python</a:t>
              </a:r>
            </a:p>
          </p:txBody>
        </p:sp>
      </p:grpSp>
      <p:grpSp>
        <p:nvGrpSpPr>
          <p:cNvPr id="12" name="Group 12"/>
          <p:cNvGrpSpPr/>
          <p:nvPr/>
        </p:nvGrpSpPr>
        <p:grpSpPr>
          <a:xfrm>
            <a:off x="12564640" y="5219700"/>
            <a:ext cx="4563835" cy="3852072"/>
            <a:chOff x="0" y="-143924"/>
            <a:chExt cx="6085113" cy="5136096"/>
          </a:xfrm>
        </p:grpSpPr>
        <p:sp>
          <p:nvSpPr>
            <p:cNvPr id="13" name="TextBox 13"/>
            <p:cNvSpPr txBox="1"/>
            <p:nvPr/>
          </p:nvSpPr>
          <p:spPr>
            <a:xfrm>
              <a:off x="0" y="1161851"/>
              <a:ext cx="6085113" cy="3830321"/>
            </a:xfrm>
            <a:prstGeom prst="rect">
              <a:avLst/>
            </a:prstGeom>
          </p:spPr>
          <p:txBody>
            <a:bodyPr lIns="0" tIns="0" rIns="0" bIns="0" rtlCol="0" anchor="t">
              <a:spAutoFit/>
            </a:bodyPr>
            <a:lstStyle/>
            <a:p>
              <a:pPr marL="0" lvl="0" indent="0" algn="ctr">
                <a:lnSpc>
                  <a:spcPts val="3900"/>
                </a:lnSpc>
              </a:pPr>
              <a:r>
                <a:rPr lang="en-US" sz="2600" dirty="0">
                  <a:solidFill>
                    <a:srgbClr val="000000"/>
                  </a:solidFill>
                  <a:latin typeface="Atkinson Hyperlegible"/>
                  <a:ea typeface="Atkinson Hyperlegible"/>
                  <a:cs typeface="Atkinson Hyperlegible"/>
                  <a:sym typeface="Atkinson Hyperlegible"/>
                </a:rPr>
                <a:t>Anaconda offers a user-friendly interface and package management, making it easier to handle complex AI libraries and maintain isolated environments.</a:t>
              </a:r>
            </a:p>
          </p:txBody>
        </p:sp>
        <p:sp>
          <p:nvSpPr>
            <p:cNvPr id="14" name="TextBox 14"/>
            <p:cNvSpPr txBox="1"/>
            <p:nvPr/>
          </p:nvSpPr>
          <p:spPr>
            <a:xfrm>
              <a:off x="498265" y="-143924"/>
              <a:ext cx="5121746" cy="625475"/>
            </a:xfrm>
            <a:prstGeom prst="rect">
              <a:avLst/>
            </a:prstGeom>
          </p:spPr>
          <p:txBody>
            <a:bodyPr lIns="0" tIns="0" rIns="0" bIns="0" rtlCol="0" anchor="t">
              <a:spAutoFit/>
            </a:bodyPr>
            <a:lstStyle/>
            <a:p>
              <a:pPr marL="0" lvl="0" indent="0" algn="ctr">
                <a:lnSpc>
                  <a:spcPts val="3900"/>
                </a:lnSpc>
                <a:spcBef>
                  <a:spcPct val="0"/>
                </a:spcBef>
              </a:pPr>
              <a:r>
                <a:rPr lang="en-US" sz="3000" b="1" u="none" strike="noStrike" dirty="0">
                  <a:solidFill>
                    <a:srgbClr val="000000"/>
                  </a:solidFill>
                  <a:latin typeface="Atkinson Hyperlegible Bold"/>
                  <a:ea typeface="Atkinson Hyperlegible Bold"/>
                  <a:cs typeface="Atkinson Hyperlegible Bold"/>
                  <a:sym typeface="Atkinson Hyperlegible Bold"/>
                </a:rPr>
                <a:t>Using Anaconda</a:t>
              </a:r>
            </a:p>
          </p:txBody>
        </p:sp>
      </p:grpSp>
      <p:sp>
        <p:nvSpPr>
          <p:cNvPr id="15" name="Freeform 15"/>
          <p:cNvSpPr/>
          <p:nvPr/>
        </p:nvSpPr>
        <p:spPr>
          <a:xfrm rot="5400000" flipV="1">
            <a:off x="14159427" y="0"/>
            <a:ext cx="4128573" cy="4128573"/>
          </a:xfrm>
          <a:custGeom>
            <a:avLst/>
            <a:gdLst/>
            <a:ahLst/>
            <a:cxnLst/>
            <a:rect l="l" t="t" r="r" b="b"/>
            <a:pathLst>
              <a:path w="4128573" h="4128573">
                <a:moveTo>
                  <a:pt x="0" y="4128573"/>
                </a:moveTo>
                <a:lnTo>
                  <a:pt x="4128573" y="4128573"/>
                </a:lnTo>
                <a:lnTo>
                  <a:pt x="4128573" y="0"/>
                </a:lnTo>
                <a:lnTo>
                  <a:pt x="0" y="0"/>
                </a:lnTo>
                <a:lnTo>
                  <a:pt x="0" y="4128573"/>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6" name="Freeform 16"/>
          <p:cNvSpPr/>
          <p:nvPr/>
        </p:nvSpPr>
        <p:spPr>
          <a:xfrm>
            <a:off x="15968950" y="0"/>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10"/>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flipH="1" flipV="1">
            <a:off x="11794303" y="3112253"/>
            <a:ext cx="10081260" cy="10287000"/>
          </a:xfrm>
          <a:custGeom>
            <a:avLst/>
            <a:gdLst/>
            <a:ahLst/>
            <a:cxnLst/>
            <a:rect l="l" t="t" r="r" b="b"/>
            <a:pathLst>
              <a:path w="10081260" h="10287000">
                <a:moveTo>
                  <a:pt x="10081260" y="10287000"/>
                </a:moveTo>
                <a:lnTo>
                  <a:pt x="0" y="10287000"/>
                </a:lnTo>
                <a:lnTo>
                  <a:pt x="0" y="0"/>
                </a:lnTo>
                <a:lnTo>
                  <a:pt x="10081260" y="0"/>
                </a:lnTo>
                <a:lnTo>
                  <a:pt x="10081260" y="1028700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a:off x="9144000" y="7610356"/>
            <a:ext cx="3905250" cy="2151438"/>
          </a:xfrm>
          <a:custGeom>
            <a:avLst/>
            <a:gdLst/>
            <a:ahLst/>
            <a:cxnLst/>
            <a:rect l="l" t="t" r="r" b="b"/>
            <a:pathLst>
              <a:path w="3905250" h="2151438">
                <a:moveTo>
                  <a:pt x="3905250" y="0"/>
                </a:moveTo>
                <a:lnTo>
                  <a:pt x="0" y="0"/>
                </a:lnTo>
                <a:lnTo>
                  <a:pt x="0" y="2151437"/>
                </a:lnTo>
                <a:lnTo>
                  <a:pt x="3905250" y="2151437"/>
                </a:lnTo>
                <a:lnTo>
                  <a:pt x="390525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549302" y="8183791"/>
            <a:ext cx="3156005" cy="3156005"/>
          </a:xfrm>
          <a:custGeom>
            <a:avLst/>
            <a:gdLst/>
            <a:ahLst/>
            <a:cxnLst/>
            <a:rect l="l" t="t" r="r" b="b"/>
            <a:pathLst>
              <a:path w="3156005" h="3156005">
                <a:moveTo>
                  <a:pt x="0" y="0"/>
                </a:moveTo>
                <a:lnTo>
                  <a:pt x="3156004" y="0"/>
                </a:lnTo>
                <a:lnTo>
                  <a:pt x="3156004" y="3156005"/>
                </a:lnTo>
                <a:lnTo>
                  <a:pt x="0" y="315600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a:off x="11357578" y="2363970"/>
            <a:ext cx="873451" cy="1496567"/>
          </a:xfrm>
          <a:custGeom>
            <a:avLst/>
            <a:gdLst/>
            <a:ahLst/>
            <a:cxnLst/>
            <a:rect l="l" t="t" r="r" b="b"/>
            <a:pathLst>
              <a:path w="873451" h="1496567">
                <a:moveTo>
                  <a:pt x="0" y="0"/>
                </a:moveTo>
                <a:lnTo>
                  <a:pt x="873451" y="0"/>
                </a:lnTo>
                <a:lnTo>
                  <a:pt x="873451" y="1496566"/>
                </a:lnTo>
                <a:lnTo>
                  <a:pt x="0" y="149656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grpSp>
        <p:nvGrpSpPr>
          <p:cNvPr id="6" name="Group 6"/>
          <p:cNvGrpSpPr/>
          <p:nvPr/>
        </p:nvGrpSpPr>
        <p:grpSpPr>
          <a:xfrm>
            <a:off x="1187631" y="1023399"/>
            <a:ext cx="9908994" cy="8110412"/>
            <a:chOff x="0" y="0"/>
            <a:chExt cx="13211992" cy="10813883"/>
          </a:xfrm>
        </p:grpSpPr>
        <p:sp>
          <p:nvSpPr>
            <p:cNvPr id="7" name="TextBox 7"/>
            <p:cNvSpPr txBox="1"/>
            <p:nvPr/>
          </p:nvSpPr>
          <p:spPr>
            <a:xfrm>
              <a:off x="0" y="76200"/>
              <a:ext cx="13211992" cy="1337733"/>
            </a:xfrm>
            <a:prstGeom prst="rect">
              <a:avLst/>
            </a:prstGeom>
          </p:spPr>
          <p:txBody>
            <a:bodyPr lIns="0" tIns="0" rIns="0" bIns="0" rtlCol="0" anchor="t">
              <a:spAutoFit/>
            </a:bodyPr>
            <a:lstStyle/>
            <a:p>
              <a:pPr marL="0" lvl="0" indent="0" algn="l">
                <a:lnSpc>
                  <a:spcPts val="7700"/>
                </a:lnSpc>
              </a:pPr>
              <a:r>
                <a:rPr lang="en-US" sz="7000" b="1">
                  <a:solidFill>
                    <a:srgbClr val="000000"/>
                  </a:solidFill>
                  <a:latin typeface="Atkinson Hyperlegible Bold"/>
                  <a:ea typeface="Atkinson Hyperlegible Bold"/>
                  <a:cs typeface="Atkinson Hyperlegible Bold"/>
                  <a:sym typeface="Atkinson Hyperlegible Bold"/>
                </a:rPr>
                <a:t>Virtual Environments</a:t>
              </a:r>
            </a:p>
          </p:txBody>
        </p:sp>
        <p:sp>
          <p:nvSpPr>
            <p:cNvPr id="8" name="TextBox 8"/>
            <p:cNvSpPr txBox="1"/>
            <p:nvPr/>
          </p:nvSpPr>
          <p:spPr>
            <a:xfrm>
              <a:off x="0" y="3387557"/>
              <a:ext cx="13211992" cy="7426326"/>
            </a:xfrm>
            <a:prstGeom prst="rect">
              <a:avLst/>
            </a:prstGeom>
          </p:spPr>
          <p:txBody>
            <a:bodyPr lIns="0" tIns="0" rIns="0" bIns="0" rtlCol="0" anchor="t">
              <a:spAutoFit/>
            </a:bodyPr>
            <a:lstStyle/>
            <a:p>
              <a:pPr marL="0" lvl="0" indent="0" algn="just">
                <a:lnSpc>
                  <a:spcPts val="4500"/>
                </a:lnSpc>
              </a:pPr>
              <a:r>
                <a:rPr lang="en-US" sz="3000" dirty="0">
                  <a:solidFill>
                    <a:srgbClr val="000000"/>
                  </a:solidFill>
                  <a:latin typeface="Atkinson Hyperlegible"/>
                  <a:ea typeface="Atkinson Hyperlegible"/>
                  <a:cs typeface="Atkinson Hyperlegible"/>
                  <a:sym typeface="Atkinson Hyperlegible"/>
                </a:rPr>
                <a:t>Virtual environments are essential for managing dependencies in AI projects. They allow developers to create isolated environments, ensuring that package versions do not conflict across different projects. This isolation is crucial for reproducibility, as it enables teams to share results and rerun experiments with identical setups. Furthermore, virtual environments facilitate collaboration, making it easier for multiple users to work on the same project without encountering versioning issues.</a:t>
              </a:r>
            </a:p>
          </p:txBody>
        </p:sp>
        <p:sp>
          <p:nvSpPr>
            <p:cNvPr id="9" name="TextBox 9"/>
            <p:cNvSpPr txBox="1"/>
            <p:nvPr/>
          </p:nvSpPr>
          <p:spPr>
            <a:xfrm>
              <a:off x="307432" y="1904956"/>
              <a:ext cx="12290577" cy="672988"/>
            </a:xfrm>
            <a:prstGeom prst="rect">
              <a:avLst/>
            </a:prstGeom>
          </p:spPr>
          <p:txBody>
            <a:bodyPr lIns="0" tIns="0" rIns="0" bIns="0" rtlCol="0" anchor="t">
              <a:spAutoFit/>
            </a:bodyPr>
            <a:lstStyle/>
            <a:p>
              <a:pPr marL="0" lvl="0" indent="0" algn="l">
                <a:lnSpc>
                  <a:spcPts val="4150"/>
                </a:lnSpc>
              </a:pPr>
              <a:r>
                <a:rPr lang="en-US" sz="3195">
                  <a:solidFill>
                    <a:srgbClr val="000000"/>
                  </a:solidFill>
                  <a:latin typeface="Atkinson Hyperlegible"/>
                  <a:ea typeface="Atkinson Hyperlegible"/>
                  <a:cs typeface="Atkinson Hyperlegible"/>
                  <a:sym typeface="Atkinson Hyperlegible"/>
                </a:rPr>
                <a:t>Understanding Their Importance</a:t>
              </a:r>
            </a:p>
          </p:txBody>
        </p:sp>
      </p:grpSp>
      <p:sp>
        <p:nvSpPr>
          <p:cNvPr id="10" name="Freeform 10"/>
          <p:cNvSpPr/>
          <p:nvPr/>
        </p:nvSpPr>
        <p:spPr>
          <a:xfrm>
            <a:off x="15632029" y="180248"/>
            <a:ext cx="2405808" cy="2405808"/>
          </a:xfrm>
          <a:custGeom>
            <a:avLst/>
            <a:gdLst/>
            <a:ahLst/>
            <a:cxnLst/>
            <a:rect l="l" t="t" r="r" b="b"/>
            <a:pathLst>
              <a:path w="2405808" h="2405808">
                <a:moveTo>
                  <a:pt x="0" y="0"/>
                </a:moveTo>
                <a:lnTo>
                  <a:pt x="2405808" y="0"/>
                </a:lnTo>
                <a:lnTo>
                  <a:pt x="2405808" y="2405808"/>
                </a:lnTo>
                <a:lnTo>
                  <a:pt x="0" y="2405808"/>
                </a:lnTo>
                <a:lnTo>
                  <a:pt x="0" y="0"/>
                </a:lnTo>
                <a:close/>
              </a:path>
            </a:pathLst>
          </a:custGeom>
          <a:blipFill>
            <a:blip r:embed="rId10"/>
            <a:stretch>
              <a:fillRect/>
            </a:stretch>
          </a:blipFill>
        </p:spPr>
      </p:sp>
      <p:sp>
        <p:nvSpPr>
          <p:cNvPr id="11" name="Freeform 11"/>
          <p:cNvSpPr/>
          <p:nvPr/>
        </p:nvSpPr>
        <p:spPr>
          <a:xfrm>
            <a:off x="13923442" y="-1528340"/>
            <a:ext cx="5822983" cy="5822983"/>
          </a:xfrm>
          <a:custGeom>
            <a:avLst/>
            <a:gdLst/>
            <a:ahLst/>
            <a:cxnLst/>
            <a:rect l="l" t="t" r="r" b="b"/>
            <a:pathLst>
              <a:path w="5822983" h="5822983">
                <a:moveTo>
                  <a:pt x="0" y="0"/>
                </a:moveTo>
                <a:lnTo>
                  <a:pt x="5822983" y="0"/>
                </a:lnTo>
                <a:lnTo>
                  <a:pt x="5822983" y="5822984"/>
                </a:lnTo>
                <a:lnTo>
                  <a:pt x="0" y="5822984"/>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34225" cy="10287000"/>
            <a:chOff x="0" y="0"/>
            <a:chExt cx="1878973" cy="2709333"/>
          </a:xfrm>
        </p:grpSpPr>
        <p:sp>
          <p:nvSpPr>
            <p:cNvPr id="3" name="Freeform 3"/>
            <p:cNvSpPr/>
            <p:nvPr/>
          </p:nvSpPr>
          <p:spPr>
            <a:xfrm>
              <a:off x="0" y="0"/>
              <a:ext cx="1878973" cy="2709333"/>
            </a:xfrm>
            <a:custGeom>
              <a:avLst/>
              <a:gdLst/>
              <a:ahLst/>
              <a:cxnLst/>
              <a:rect l="l" t="t" r="r" b="b"/>
              <a:pathLst>
                <a:path w="1878973" h="2709333">
                  <a:moveTo>
                    <a:pt x="0" y="0"/>
                  </a:moveTo>
                  <a:lnTo>
                    <a:pt x="1878973" y="0"/>
                  </a:lnTo>
                  <a:lnTo>
                    <a:pt x="1878973" y="2709333"/>
                  </a:lnTo>
                  <a:lnTo>
                    <a:pt x="0" y="2709333"/>
                  </a:lnTo>
                  <a:close/>
                </a:path>
              </a:pathLst>
            </a:custGeom>
            <a:solidFill>
              <a:srgbClr val="FFFFFF"/>
            </a:solidFill>
          </p:spPr>
        </p:sp>
        <p:sp>
          <p:nvSpPr>
            <p:cNvPr id="4" name="TextBox 4"/>
            <p:cNvSpPr txBox="1"/>
            <p:nvPr/>
          </p:nvSpPr>
          <p:spPr>
            <a:xfrm>
              <a:off x="0" y="-47625"/>
              <a:ext cx="1878973" cy="2756958"/>
            </a:xfrm>
            <a:prstGeom prst="rect">
              <a:avLst/>
            </a:prstGeom>
          </p:spPr>
          <p:txBody>
            <a:bodyPr lIns="50800" tIns="50800" rIns="50800" bIns="50800" rtlCol="0" anchor="ctr"/>
            <a:lstStyle/>
            <a:p>
              <a:pPr algn="ctr">
                <a:lnSpc>
                  <a:spcPts val="3360"/>
                </a:lnSpc>
              </a:pPr>
              <a:endParaRPr/>
            </a:p>
          </p:txBody>
        </p:sp>
      </p:grpSp>
      <p:sp>
        <p:nvSpPr>
          <p:cNvPr id="5" name="Freeform 5"/>
          <p:cNvSpPr/>
          <p:nvPr/>
        </p:nvSpPr>
        <p:spPr>
          <a:xfrm rot="5400000" flipV="1">
            <a:off x="71342" y="-4728201"/>
            <a:ext cx="6991541" cy="7134225"/>
          </a:xfrm>
          <a:custGeom>
            <a:avLst/>
            <a:gdLst/>
            <a:ahLst/>
            <a:cxnLst/>
            <a:rect l="l" t="t" r="r" b="b"/>
            <a:pathLst>
              <a:path w="6991541" h="7134225">
                <a:moveTo>
                  <a:pt x="0" y="7134225"/>
                </a:moveTo>
                <a:lnTo>
                  <a:pt x="6991541" y="7134225"/>
                </a:lnTo>
                <a:lnTo>
                  <a:pt x="6991541" y="0"/>
                </a:lnTo>
                <a:lnTo>
                  <a:pt x="0" y="0"/>
                </a:lnTo>
                <a:lnTo>
                  <a:pt x="0" y="7134225"/>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rot="-5400000" flipV="1">
            <a:off x="71342" y="8185881"/>
            <a:ext cx="6991541" cy="7134225"/>
          </a:xfrm>
          <a:custGeom>
            <a:avLst/>
            <a:gdLst/>
            <a:ahLst/>
            <a:cxnLst/>
            <a:rect l="l" t="t" r="r" b="b"/>
            <a:pathLst>
              <a:path w="6991541" h="7134225">
                <a:moveTo>
                  <a:pt x="0" y="7134225"/>
                </a:moveTo>
                <a:lnTo>
                  <a:pt x="6991541" y="7134225"/>
                </a:lnTo>
                <a:lnTo>
                  <a:pt x="6991541" y="0"/>
                </a:lnTo>
                <a:lnTo>
                  <a:pt x="0" y="0"/>
                </a:lnTo>
                <a:lnTo>
                  <a:pt x="0" y="7134225"/>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7696422" y="1943100"/>
            <a:ext cx="9228883" cy="201357"/>
          </a:xfrm>
          <a:custGeom>
            <a:avLst/>
            <a:gdLst/>
            <a:ahLst/>
            <a:cxnLst/>
            <a:rect l="l" t="t" r="r" b="b"/>
            <a:pathLst>
              <a:path w="9228883" h="201357">
                <a:moveTo>
                  <a:pt x="0" y="0"/>
                </a:moveTo>
                <a:lnTo>
                  <a:pt x="9228883" y="0"/>
                </a:lnTo>
                <a:lnTo>
                  <a:pt x="9228883" y="201358"/>
                </a:lnTo>
                <a:lnTo>
                  <a:pt x="0" y="2013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a:off x="7729604" y="7019231"/>
            <a:ext cx="9223006" cy="201229"/>
          </a:xfrm>
          <a:custGeom>
            <a:avLst/>
            <a:gdLst/>
            <a:ahLst/>
            <a:cxnLst/>
            <a:rect l="l" t="t" r="r" b="b"/>
            <a:pathLst>
              <a:path w="9223006" h="201229">
                <a:moveTo>
                  <a:pt x="0" y="0"/>
                </a:moveTo>
                <a:lnTo>
                  <a:pt x="9223006" y="0"/>
                </a:lnTo>
                <a:lnTo>
                  <a:pt x="9223006" y="201229"/>
                </a:lnTo>
                <a:lnTo>
                  <a:pt x="0" y="20122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TextBox 9"/>
          <p:cNvSpPr txBox="1"/>
          <p:nvPr/>
        </p:nvSpPr>
        <p:spPr>
          <a:xfrm>
            <a:off x="7695949" y="266700"/>
            <a:ext cx="9301096" cy="1650365"/>
          </a:xfrm>
          <a:prstGeom prst="rect">
            <a:avLst/>
          </a:prstGeom>
        </p:spPr>
        <p:txBody>
          <a:bodyPr lIns="0" tIns="0" rIns="0" bIns="0" rtlCol="0" anchor="t">
            <a:spAutoFit/>
          </a:bodyPr>
          <a:lstStyle/>
          <a:p>
            <a:pPr marL="0" lvl="0" indent="0" algn="just">
              <a:lnSpc>
                <a:spcPts val="4290"/>
              </a:lnSpc>
            </a:pPr>
            <a:r>
              <a:rPr lang="en-US" sz="2600" dirty="0">
                <a:solidFill>
                  <a:srgbClr val="000000"/>
                </a:solidFill>
                <a:latin typeface="Atkinson Hyperlegible"/>
                <a:ea typeface="Atkinson Hyperlegible"/>
                <a:cs typeface="Atkinson Hyperlegible"/>
                <a:sym typeface="Atkinson Hyperlegible"/>
              </a:rPr>
              <a:t>Python is a widely used high-level programming language known for its simplicity and vast ecosystem of scientific libraries. Most AI frameworks are Python-based.</a:t>
            </a:r>
            <a:endParaRPr sz="2600" dirty="0"/>
          </a:p>
        </p:txBody>
      </p:sp>
      <p:sp>
        <p:nvSpPr>
          <p:cNvPr id="10" name="TextBox 10"/>
          <p:cNvSpPr txBox="1"/>
          <p:nvPr/>
        </p:nvSpPr>
        <p:spPr>
          <a:xfrm>
            <a:off x="7689215" y="2095500"/>
            <a:ext cx="9913620" cy="5097145"/>
          </a:xfrm>
          <a:prstGeom prst="rect">
            <a:avLst/>
          </a:prstGeom>
        </p:spPr>
        <p:txBody>
          <a:bodyPr wrap="square" lIns="0" tIns="0" rIns="0" bIns="0" rtlCol="0" anchor="t">
            <a:spAutoFit/>
          </a:bodyPr>
          <a:lstStyle/>
          <a:p>
            <a:pPr algn="l">
              <a:lnSpc>
                <a:spcPts val="3840"/>
              </a:lnSpc>
            </a:pPr>
            <a:r>
              <a:rPr lang="en-US" sz="2600" b="1" dirty="0">
                <a:solidFill>
                  <a:srgbClr val="000000"/>
                </a:solidFill>
                <a:latin typeface="Atkinson Hyperlegible Bold"/>
                <a:ea typeface="Atkinson Hyperlegible Bold"/>
                <a:cs typeface="Atkinson Hyperlegible Bold"/>
                <a:sym typeface="Atkinson Hyperlegible Bold"/>
              </a:rPr>
              <a:t>Step-by-step:</a:t>
            </a:r>
          </a:p>
          <a:p>
            <a:pPr marL="0" lvl="0" indent="0" algn="l">
              <a:lnSpc>
                <a:spcPts val="3840"/>
              </a:lnSpc>
            </a:pPr>
            <a:r>
              <a:rPr lang="en-US" sz="2600" dirty="0">
                <a:solidFill>
                  <a:srgbClr val="000000"/>
                </a:solidFill>
                <a:latin typeface="Atkinson Hyperlegible"/>
                <a:ea typeface="Atkinson Hyperlegible"/>
                <a:cs typeface="Atkinson Hyperlegible"/>
                <a:sym typeface="Atkinson Hyperlegible"/>
              </a:rPr>
              <a:t>1. Go to </a:t>
            </a:r>
            <a:r>
              <a:rPr lang="en-GB" altLang="en-US" sz="2600" u="sng" dirty="0">
                <a:solidFill>
                  <a:srgbClr val="000000"/>
                </a:solidFill>
                <a:latin typeface="Atkinson Hyperlegible"/>
                <a:ea typeface="Atkinson Hyperlegible"/>
                <a:cs typeface="Atkinson Hyperlegible"/>
                <a:sym typeface="Atkinson Hyperlegible"/>
                <a:hlinkClick r:id="rId6" tooltip="https://www.python.org/downloads/"/>
              </a:rPr>
              <a:t>www.p</a:t>
            </a:r>
            <a:r>
              <a:rPr lang="en-US" sz="2600" u="sng" dirty="0">
                <a:solidFill>
                  <a:srgbClr val="000000"/>
                </a:solidFill>
                <a:latin typeface="Atkinson Hyperlegible"/>
                <a:ea typeface="Atkinson Hyperlegible"/>
                <a:cs typeface="Atkinson Hyperlegible"/>
                <a:sym typeface="Atkinson Hyperlegible"/>
                <a:hlinkClick r:id="rId6" tooltip="https://www.python.org/downloads/"/>
              </a:rPr>
              <a:t>ython.org/downloads</a:t>
            </a:r>
            <a:r>
              <a:rPr lang="en-US" sz="2600" dirty="0">
                <a:solidFill>
                  <a:srgbClr val="000000"/>
                </a:solidFill>
                <a:latin typeface="Atkinson Hyperlegible"/>
                <a:ea typeface="Atkinson Hyperlegible"/>
                <a:cs typeface="Atkinson Hyperlegible"/>
                <a:sym typeface="Atkinson Hyperlegible"/>
              </a:rPr>
              <a:t> (</a:t>
            </a:r>
            <a:r>
              <a:rPr lang="en-US" sz="2600" u="sng" dirty="0">
                <a:solidFill>
                  <a:srgbClr val="000000"/>
                </a:solidFill>
                <a:latin typeface="Atkinson Hyperlegible"/>
                <a:ea typeface="Atkinson Hyperlegible"/>
                <a:cs typeface="Atkinson Hyperlegible"/>
                <a:sym typeface="Atkinson Hyperlegible"/>
                <a:hlinkClick r:id="rId6" tooltip="https://www.python.org/downloads/"/>
              </a:rPr>
              <a:t>https://www.python.org/downloads/</a:t>
            </a:r>
            <a:r>
              <a:rPr lang="en-US" sz="2600" dirty="0">
                <a:solidFill>
                  <a:srgbClr val="000000"/>
                </a:solidFill>
                <a:latin typeface="Atkinson Hyperlegible"/>
                <a:ea typeface="Atkinson Hyperlegible"/>
                <a:cs typeface="Atkinson Hyperlegible"/>
                <a:sym typeface="Atkinson Hyperlegible"/>
              </a:rPr>
              <a:t>)</a:t>
            </a:r>
          </a:p>
          <a:p>
            <a:pPr marL="0" lvl="0" indent="0" algn="just">
              <a:lnSpc>
                <a:spcPts val="3840"/>
              </a:lnSpc>
            </a:pPr>
            <a:r>
              <a:rPr lang="en-US" sz="2600" dirty="0">
                <a:solidFill>
                  <a:srgbClr val="000000"/>
                </a:solidFill>
                <a:latin typeface="Atkinson Hyperlegible"/>
                <a:ea typeface="Atkinson Hyperlegible"/>
                <a:cs typeface="Atkinson Hyperlegible"/>
                <a:sym typeface="Atkinson Hyperlegible"/>
              </a:rPr>
              <a:t>2. C</a:t>
            </a:r>
            <a:r>
              <a:rPr lang="en-GB" altLang="en-US" sz="2600" dirty="0">
                <a:solidFill>
                  <a:srgbClr val="000000"/>
                </a:solidFill>
                <a:latin typeface="Atkinson Hyperlegible"/>
                <a:ea typeface="Atkinson Hyperlegible"/>
                <a:cs typeface="Atkinson Hyperlegible"/>
                <a:sym typeface="Atkinson Hyperlegible"/>
              </a:rPr>
              <a:t>lick on Download</a:t>
            </a:r>
            <a:r>
              <a:rPr lang="en-US" sz="2600" dirty="0">
                <a:solidFill>
                  <a:srgbClr val="000000"/>
                </a:solidFill>
                <a:latin typeface="Atkinson Hyperlegible"/>
                <a:ea typeface="Atkinson Hyperlegible"/>
                <a:cs typeface="Atkinson Hyperlegible"/>
                <a:sym typeface="Atkinson Hyperlegible"/>
              </a:rPr>
              <a:t> Python 3.1</a:t>
            </a:r>
            <a:r>
              <a:rPr lang="en-GB" altLang="en-US" sz="2600" dirty="0">
                <a:solidFill>
                  <a:srgbClr val="000000"/>
                </a:solidFill>
                <a:latin typeface="Atkinson Hyperlegible"/>
                <a:ea typeface="Atkinson Hyperlegible"/>
                <a:cs typeface="Atkinson Hyperlegible"/>
                <a:sym typeface="Atkinson Hyperlegible"/>
              </a:rPr>
              <a:t>3.5</a:t>
            </a:r>
            <a:r>
              <a:rPr lang="en-US" sz="2600" dirty="0">
                <a:solidFill>
                  <a:srgbClr val="000000"/>
                </a:solidFill>
                <a:latin typeface="Atkinson Hyperlegible"/>
                <a:ea typeface="Atkinson Hyperlegible"/>
                <a:cs typeface="Atkinson Hyperlegible"/>
                <a:sym typeface="Atkinson Hyperlegible"/>
              </a:rPr>
              <a:t> for Windows</a:t>
            </a:r>
            <a:r>
              <a:rPr lang="en-GB" altLang="en-US" sz="2600" dirty="0">
                <a:solidFill>
                  <a:srgbClr val="000000"/>
                </a:solidFill>
                <a:latin typeface="Atkinson Hyperlegible"/>
                <a:ea typeface="Atkinson Hyperlegible"/>
                <a:cs typeface="Atkinson Hyperlegible"/>
                <a:sym typeface="Atkinson Hyperlegible"/>
              </a:rPr>
              <a:t> (latest version as at June 2025) </a:t>
            </a:r>
          </a:p>
          <a:p>
            <a:pPr marL="0" lvl="0" indent="0" algn="just">
              <a:lnSpc>
                <a:spcPts val="3840"/>
              </a:lnSpc>
            </a:pPr>
            <a:r>
              <a:rPr lang="en-GB" altLang="en-US" sz="2600" dirty="0">
                <a:solidFill>
                  <a:srgbClr val="000000"/>
                </a:solidFill>
                <a:latin typeface="Atkinson Hyperlegible"/>
                <a:ea typeface="Atkinson Hyperlegible"/>
                <a:cs typeface="Atkinson Hyperlegible"/>
                <a:sym typeface="Atkinson Hyperlegible"/>
              </a:rPr>
              <a:t>3. Click on Run</a:t>
            </a:r>
            <a:endParaRPr lang="en-US" sz="2600" dirty="0">
              <a:solidFill>
                <a:srgbClr val="000000"/>
              </a:solidFill>
              <a:latin typeface="Atkinson Hyperlegible"/>
              <a:ea typeface="Atkinson Hyperlegible"/>
              <a:cs typeface="Atkinson Hyperlegible"/>
              <a:sym typeface="Atkinson Hyperlegible"/>
            </a:endParaRPr>
          </a:p>
          <a:p>
            <a:pPr marL="0" lvl="0" indent="0" algn="just">
              <a:lnSpc>
                <a:spcPts val="4290"/>
              </a:lnSpc>
            </a:pPr>
            <a:r>
              <a:rPr lang="en-US" sz="2600" dirty="0">
                <a:solidFill>
                  <a:srgbClr val="000000"/>
                </a:solidFill>
                <a:latin typeface="Atkinson Hyperlegible"/>
                <a:ea typeface="Atkinson Hyperlegible"/>
                <a:cs typeface="Atkinson Hyperlegible"/>
                <a:sym typeface="Atkinson Hyperlegible"/>
              </a:rPr>
              <a:t>3. During setup</a:t>
            </a:r>
            <a:r>
              <a:rPr lang="en-GB" altLang="en-US" sz="2600" dirty="0">
                <a:solidFill>
                  <a:srgbClr val="000000"/>
                </a:solidFill>
                <a:latin typeface="Atkinson Hyperlegible"/>
                <a:ea typeface="Atkinson Hyperlegible"/>
                <a:cs typeface="Atkinson Hyperlegible"/>
                <a:sym typeface="Atkinson Hyperlegible"/>
              </a:rPr>
              <a:t>/installation</a:t>
            </a:r>
            <a:r>
              <a:rPr lang="en-US" sz="2600" dirty="0">
                <a:solidFill>
                  <a:srgbClr val="000000"/>
                </a:solidFill>
                <a:latin typeface="Atkinson Hyperlegible"/>
                <a:ea typeface="Atkinson Hyperlegible"/>
                <a:cs typeface="Atkinson Hyperlegible"/>
                <a:sym typeface="Atkinson Hyperlegible"/>
              </a:rPr>
              <a:t>, enable:</a:t>
            </a:r>
          </a:p>
          <a:p>
            <a:pPr marL="457200" lvl="0" indent="-457200" algn="just">
              <a:lnSpc>
                <a:spcPts val="4290"/>
              </a:lnSpc>
              <a:buFont typeface="Wingdings" pitchFamily="2" charset="2"/>
              <a:buChar char="v"/>
            </a:pPr>
            <a:r>
              <a:rPr lang="en-US" sz="2600" dirty="0" smtClean="0">
                <a:solidFill>
                  <a:srgbClr val="000000"/>
                </a:solidFill>
                <a:latin typeface="Atkinson Hyperlegible"/>
                <a:ea typeface="Atkinson Hyperlegible"/>
                <a:cs typeface="Atkinson Hyperlegible"/>
                <a:sym typeface="Atkinson Hyperlegible"/>
              </a:rPr>
              <a:t> </a:t>
            </a:r>
            <a:r>
              <a:rPr lang="en-US" sz="2600" dirty="0">
                <a:solidFill>
                  <a:srgbClr val="000000"/>
                </a:solidFill>
                <a:latin typeface="Atkinson Hyperlegible"/>
                <a:ea typeface="Atkinson Hyperlegible"/>
                <a:cs typeface="Atkinson Hyperlegible"/>
                <a:sym typeface="Atkinson Hyperlegible"/>
              </a:rPr>
              <a:t>"Add Python to PATH" (adds Python to system environment variables)</a:t>
            </a:r>
          </a:p>
          <a:p>
            <a:pPr marL="457200" lvl="0" indent="-457200" algn="just">
              <a:lnSpc>
                <a:spcPts val="3840"/>
              </a:lnSpc>
              <a:buFont typeface="Wingdings" pitchFamily="2" charset="2"/>
              <a:buChar char="v"/>
            </a:pPr>
            <a:r>
              <a:rPr lang="en-US" sz="2600" dirty="0">
                <a:solidFill>
                  <a:srgbClr val="000000"/>
                </a:solidFill>
                <a:latin typeface="Atkinson Hyperlegible"/>
                <a:ea typeface="Atkinson Hyperlegible"/>
                <a:cs typeface="Atkinson Hyperlegible"/>
                <a:sym typeface="Atkinson Hyperlegible"/>
              </a:rPr>
              <a:t> </a:t>
            </a:r>
            <a:r>
              <a:rPr lang="en-US" sz="2600" dirty="0" smtClean="0">
                <a:solidFill>
                  <a:srgbClr val="000000"/>
                </a:solidFill>
                <a:latin typeface="Atkinson Hyperlegible"/>
                <a:ea typeface="Atkinson Hyperlegible"/>
                <a:cs typeface="Atkinson Hyperlegible"/>
                <a:sym typeface="Atkinson Hyperlegible"/>
              </a:rPr>
              <a:t>"</a:t>
            </a:r>
            <a:r>
              <a:rPr lang="en-US" sz="2600" dirty="0">
                <a:solidFill>
                  <a:srgbClr val="000000"/>
                </a:solidFill>
                <a:latin typeface="Atkinson Hyperlegible"/>
                <a:ea typeface="Atkinson Hyperlegible"/>
                <a:cs typeface="Atkinson Hyperlegible"/>
                <a:sym typeface="Atkinson Hyperlegible"/>
              </a:rPr>
              <a:t>Install launcher for all users"</a:t>
            </a:r>
            <a:endParaRPr sz="2600" dirty="0"/>
          </a:p>
        </p:txBody>
      </p:sp>
      <p:sp>
        <p:nvSpPr>
          <p:cNvPr id="11" name="TextBox 11"/>
          <p:cNvSpPr txBox="1"/>
          <p:nvPr/>
        </p:nvSpPr>
        <p:spPr>
          <a:xfrm>
            <a:off x="7799927" y="7229985"/>
            <a:ext cx="9301096" cy="3012440"/>
          </a:xfrm>
          <a:prstGeom prst="rect">
            <a:avLst/>
          </a:prstGeom>
        </p:spPr>
        <p:txBody>
          <a:bodyPr lIns="0" tIns="0" rIns="0" bIns="0" rtlCol="0" anchor="t">
            <a:spAutoFit/>
          </a:bodyPr>
          <a:lstStyle/>
          <a:p>
            <a:pPr marL="0" lvl="0" indent="0" algn="l">
              <a:lnSpc>
                <a:spcPts val="3840"/>
              </a:lnSpc>
            </a:pPr>
            <a:r>
              <a:rPr lang="en-US" sz="2560" b="1" dirty="0">
                <a:solidFill>
                  <a:srgbClr val="000000"/>
                </a:solidFill>
                <a:latin typeface="Atkinson Hyperlegible Bold"/>
                <a:ea typeface="Atkinson Hyperlegible Bold"/>
                <a:cs typeface="Atkinson Hyperlegible Bold"/>
                <a:sym typeface="Atkinson Hyperlegible Bold"/>
              </a:rPr>
              <a:t>Confirm Installation:</a:t>
            </a:r>
            <a:r>
              <a:rPr lang="en-GB" altLang="en-US" sz="2560" b="1" dirty="0">
                <a:solidFill>
                  <a:srgbClr val="000000"/>
                </a:solidFill>
                <a:latin typeface="Atkinson Hyperlegible Bold"/>
                <a:ea typeface="Atkinson Hyperlegible Bold"/>
                <a:cs typeface="Atkinson Hyperlegible Bold"/>
                <a:sym typeface="Atkinson Hyperlegible Bold"/>
              </a:rPr>
              <a:t> Go to cmd prompt and type;</a:t>
            </a:r>
            <a:endParaRPr lang="en-US" sz="2560" b="1" dirty="0">
              <a:solidFill>
                <a:srgbClr val="000000"/>
              </a:solidFill>
              <a:latin typeface="Atkinson Hyperlegible Bold"/>
              <a:ea typeface="Atkinson Hyperlegible Bold"/>
              <a:cs typeface="Atkinson Hyperlegible Bold"/>
              <a:sym typeface="Atkinson Hyperlegible Bold"/>
            </a:endParaRPr>
          </a:p>
          <a:p>
            <a:pPr marL="0" lvl="0" indent="0" algn="l">
              <a:lnSpc>
                <a:spcPts val="4290"/>
              </a:lnSpc>
            </a:pPr>
            <a:r>
              <a:rPr lang="en-US" sz="2860" dirty="0">
                <a:solidFill>
                  <a:srgbClr val="000000"/>
                </a:solidFill>
                <a:latin typeface="Antic"/>
                <a:ea typeface="Antic"/>
                <a:cs typeface="Antic"/>
                <a:sym typeface="Antic"/>
              </a:rPr>
              <a:t>python --version</a:t>
            </a:r>
          </a:p>
          <a:p>
            <a:pPr marL="0" lvl="0" indent="0" algn="l">
              <a:lnSpc>
                <a:spcPts val="3840"/>
              </a:lnSpc>
            </a:pPr>
            <a:r>
              <a:rPr lang="en-US" sz="2560" dirty="0">
                <a:solidFill>
                  <a:srgbClr val="000000"/>
                </a:solidFill>
                <a:latin typeface="Antic"/>
                <a:ea typeface="Antic"/>
                <a:cs typeface="Antic"/>
                <a:sym typeface="Antic"/>
              </a:rPr>
              <a:t>pip --version</a:t>
            </a:r>
          </a:p>
          <a:p>
            <a:pPr marL="0" lvl="0" indent="0" algn="l">
              <a:lnSpc>
                <a:spcPts val="3840"/>
              </a:lnSpc>
            </a:pPr>
            <a:r>
              <a:rPr lang="en-US" sz="2560" b="1" dirty="0">
                <a:solidFill>
                  <a:srgbClr val="000000"/>
                </a:solidFill>
                <a:latin typeface="Atkinson Hyperlegible Bold"/>
                <a:ea typeface="Atkinson Hyperlegible Bold"/>
                <a:cs typeface="Atkinson Hyperlegible Bold"/>
                <a:sym typeface="Atkinson Hyperlegible Bold"/>
              </a:rPr>
              <a:t>Expected output: </a:t>
            </a:r>
          </a:p>
          <a:p>
            <a:pPr marL="0" lvl="0" indent="0" algn="l">
              <a:lnSpc>
                <a:spcPts val="3840"/>
              </a:lnSpc>
            </a:pPr>
            <a:r>
              <a:rPr lang="en-US" sz="2560" dirty="0">
                <a:solidFill>
                  <a:srgbClr val="000000"/>
                </a:solidFill>
                <a:latin typeface="Antic"/>
                <a:ea typeface="Antic"/>
                <a:cs typeface="Antic"/>
                <a:sym typeface="Antic"/>
              </a:rPr>
              <a:t>Python 3.1</a:t>
            </a:r>
            <a:r>
              <a:rPr lang="en-GB" altLang="en-US" sz="2560" dirty="0">
                <a:solidFill>
                  <a:srgbClr val="000000"/>
                </a:solidFill>
                <a:latin typeface="Antic"/>
                <a:ea typeface="Antic"/>
                <a:cs typeface="Antic"/>
                <a:sym typeface="Antic"/>
              </a:rPr>
              <a:t>3.5</a:t>
            </a:r>
            <a:r>
              <a:rPr lang="en-US" sz="2560" dirty="0">
                <a:solidFill>
                  <a:srgbClr val="000000"/>
                </a:solidFill>
                <a:latin typeface="Antic"/>
                <a:ea typeface="Antic"/>
                <a:cs typeface="Antic"/>
                <a:sym typeface="Antic"/>
              </a:rPr>
              <a:t> </a:t>
            </a:r>
          </a:p>
          <a:p>
            <a:pPr marL="0" lvl="0" indent="0" algn="l">
              <a:lnSpc>
                <a:spcPts val="3840"/>
              </a:lnSpc>
            </a:pPr>
            <a:r>
              <a:rPr lang="en-US" sz="2560" dirty="0">
                <a:solidFill>
                  <a:srgbClr val="000000"/>
                </a:solidFill>
                <a:latin typeface="Antic"/>
                <a:ea typeface="Antic"/>
                <a:cs typeface="Antic"/>
                <a:sym typeface="Antic"/>
              </a:rPr>
              <a:t>pip 2</a:t>
            </a:r>
            <a:r>
              <a:rPr lang="en-GB" altLang="en-US" sz="2560" dirty="0">
                <a:solidFill>
                  <a:srgbClr val="000000"/>
                </a:solidFill>
                <a:latin typeface="Antic"/>
                <a:ea typeface="Antic"/>
                <a:cs typeface="Antic"/>
                <a:sym typeface="Antic"/>
              </a:rPr>
              <a:t>5.1.1</a:t>
            </a:r>
          </a:p>
        </p:txBody>
      </p:sp>
      <p:grpSp>
        <p:nvGrpSpPr>
          <p:cNvPr id="12" name="Group 12"/>
          <p:cNvGrpSpPr/>
          <p:nvPr/>
        </p:nvGrpSpPr>
        <p:grpSpPr>
          <a:xfrm>
            <a:off x="776230" y="3512875"/>
            <a:ext cx="6001490" cy="2816957"/>
            <a:chOff x="0" y="0"/>
            <a:chExt cx="8001987" cy="3755942"/>
          </a:xfrm>
        </p:grpSpPr>
        <p:sp>
          <p:nvSpPr>
            <p:cNvPr id="13" name="TextBox 13"/>
            <p:cNvSpPr txBox="1"/>
            <p:nvPr/>
          </p:nvSpPr>
          <p:spPr>
            <a:xfrm>
              <a:off x="0" y="66675"/>
              <a:ext cx="8001987" cy="2854325"/>
            </a:xfrm>
            <a:prstGeom prst="rect">
              <a:avLst/>
            </a:prstGeom>
          </p:spPr>
          <p:txBody>
            <a:bodyPr lIns="0" tIns="0" rIns="0" bIns="0" rtlCol="0" anchor="t">
              <a:spAutoFit/>
            </a:bodyPr>
            <a:lstStyle/>
            <a:p>
              <a:pPr marL="0" lvl="0" indent="0" algn="ctr">
                <a:lnSpc>
                  <a:spcPts val="8250"/>
                </a:lnSpc>
              </a:pPr>
              <a:r>
                <a:rPr lang="en-US" sz="7500" b="1">
                  <a:solidFill>
                    <a:srgbClr val="000000"/>
                  </a:solidFill>
                  <a:latin typeface="Atkinson Hyperlegible Bold"/>
                  <a:ea typeface="Atkinson Hyperlegible Bold"/>
                  <a:cs typeface="Atkinson Hyperlegible Bold"/>
                  <a:sym typeface="Atkinson Hyperlegible Bold"/>
                </a:rPr>
                <a:t>Python Installation</a:t>
              </a:r>
            </a:p>
          </p:txBody>
        </p:sp>
        <p:sp>
          <p:nvSpPr>
            <p:cNvPr id="14" name="TextBox 14"/>
            <p:cNvSpPr txBox="1"/>
            <p:nvPr/>
          </p:nvSpPr>
          <p:spPr>
            <a:xfrm>
              <a:off x="0" y="3146129"/>
              <a:ext cx="8001987" cy="609813"/>
            </a:xfrm>
            <a:prstGeom prst="rect">
              <a:avLst/>
            </a:prstGeom>
          </p:spPr>
          <p:txBody>
            <a:bodyPr lIns="0" tIns="0" rIns="0" bIns="0" rtlCol="0" anchor="t">
              <a:spAutoFit/>
            </a:bodyPr>
            <a:lstStyle/>
            <a:p>
              <a:pPr marL="0" lvl="0" indent="0" algn="ctr">
                <a:lnSpc>
                  <a:spcPts val="3520"/>
                </a:lnSpc>
              </a:pPr>
              <a:r>
                <a:rPr lang="en-US" sz="3200">
                  <a:solidFill>
                    <a:srgbClr val="000000"/>
                  </a:solidFill>
                  <a:latin typeface="Atkinson Hyperlegible"/>
                  <a:ea typeface="Atkinson Hyperlegible"/>
                  <a:cs typeface="Atkinson Hyperlegible"/>
                  <a:sym typeface="Atkinson Hyperlegible"/>
                </a:rPr>
                <a:t>(Windows)</a:t>
              </a:r>
            </a:p>
          </p:txBody>
        </p:sp>
      </p:grpSp>
      <p:sp>
        <p:nvSpPr>
          <p:cNvPr id="15" name="Freeform 15"/>
          <p:cNvSpPr/>
          <p:nvPr/>
        </p:nvSpPr>
        <p:spPr>
          <a:xfrm>
            <a:off x="15968950" y="7967950"/>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7"/>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134225" cy="10287000"/>
            <a:chOff x="0" y="0"/>
            <a:chExt cx="1878973" cy="2709333"/>
          </a:xfrm>
        </p:grpSpPr>
        <p:sp>
          <p:nvSpPr>
            <p:cNvPr id="3" name="Freeform 3"/>
            <p:cNvSpPr/>
            <p:nvPr/>
          </p:nvSpPr>
          <p:spPr>
            <a:xfrm>
              <a:off x="0" y="0"/>
              <a:ext cx="1878973" cy="2709333"/>
            </a:xfrm>
            <a:custGeom>
              <a:avLst/>
              <a:gdLst/>
              <a:ahLst/>
              <a:cxnLst/>
              <a:rect l="l" t="t" r="r" b="b"/>
              <a:pathLst>
                <a:path w="1878973" h="2709333">
                  <a:moveTo>
                    <a:pt x="0" y="0"/>
                  </a:moveTo>
                  <a:lnTo>
                    <a:pt x="1878973" y="0"/>
                  </a:lnTo>
                  <a:lnTo>
                    <a:pt x="1878973" y="2709333"/>
                  </a:lnTo>
                  <a:lnTo>
                    <a:pt x="0" y="2709333"/>
                  </a:lnTo>
                  <a:close/>
                </a:path>
              </a:pathLst>
            </a:custGeom>
            <a:solidFill>
              <a:srgbClr val="FFFFFF"/>
            </a:solidFill>
          </p:spPr>
        </p:sp>
        <p:sp>
          <p:nvSpPr>
            <p:cNvPr id="4" name="TextBox 4"/>
            <p:cNvSpPr txBox="1"/>
            <p:nvPr/>
          </p:nvSpPr>
          <p:spPr>
            <a:xfrm>
              <a:off x="0" y="-47625"/>
              <a:ext cx="1878973" cy="2756958"/>
            </a:xfrm>
            <a:prstGeom prst="rect">
              <a:avLst/>
            </a:prstGeom>
          </p:spPr>
          <p:txBody>
            <a:bodyPr lIns="50800" tIns="50800" rIns="50800" bIns="50800" rtlCol="0" anchor="ctr"/>
            <a:lstStyle/>
            <a:p>
              <a:pPr algn="ctr">
                <a:lnSpc>
                  <a:spcPts val="3360"/>
                </a:lnSpc>
              </a:pPr>
              <a:endParaRPr/>
            </a:p>
          </p:txBody>
        </p:sp>
      </p:grpSp>
      <p:sp>
        <p:nvSpPr>
          <p:cNvPr id="5" name="Freeform 5"/>
          <p:cNvSpPr/>
          <p:nvPr/>
        </p:nvSpPr>
        <p:spPr>
          <a:xfrm rot="5400000" flipV="1">
            <a:off x="71342" y="-4728201"/>
            <a:ext cx="6991541" cy="7134225"/>
          </a:xfrm>
          <a:custGeom>
            <a:avLst/>
            <a:gdLst/>
            <a:ahLst/>
            <a:cxnLst/>
            <a:rect l="l" t="t" r="r" b="b"/>
            <a:pathLst>
              <a:path w="6991541" h="7134225">
                <a:moveTo>
                  <a:pt x="0" y="7134225"/>
                </a:moveTo>
                <a:lnTo>
                  <a:pt x="6991541" y="7134225"/>
                </a:lnTo>
                <a:lnTo>
                  <a:pt x="6991541" y="0"/>
                </a:lnTo>
                <a:lnTo>
                  <a:pt x="0" y="0"/>
                </a:lnTo>
                <a:lnTo>
                  <a:pt x="0" y="7134225"/>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rot="-5400000" flipV="1">
            <a:off x="71342" y="8185881"/>
            <a:ext cx="6991541" cy="7134225"/>
          </a:xfrm>
          <a:custGeom>
            <a:avLst/>
            <a:gdLst/>
            <a:ahLst/>
            <a:cxnLst/>
            <a:rect l="l" t="t" r="r" b="b"/>
            <a:pathLst>
              <a:path w="6991541" h="7134225">
                <a:moveTo>
                  <a:pt x="0" y="7134225"/>
                </a:moveTo>
                <a:lnTo>
                  <a:pt x="6991541" y="7134225"/>
                </a:lnTo>
                <a:lnTo>
                  <a:pt x="6991541" y="0"/>
                </a:lnTo>
                <a:lnTo>
                  <a:pt x="0" y="0"/>
                </a:lnTo>
                <a:lnTo>
                  <a:pt x="0" y="7134225"/>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7841069" y="2949958"/>
            <a:ext cx="9262051" cy="202081"/>
          </a:xfrm>
          <a:custGeom>
            <a:avLst/>
            <a:gdLst/>
            <a:ahLst/>
            <a:cxnLst/>
            <a:rect l="l" t="t" r="r" b="b"/>
            <a:pathLst>
              <a:path w="9262051" h="202081">
                <a:moveTo>
                  <a:pt x="0" y="0"/>
                </a:moveTo>
                <a:lnTo>
                  <a:pt x="9262051" y="0"/>
                </a:lnTo>
                <a:lnTo>
                  <a:pt x="9262051" y="202081"/>
                </a:lnTo>
                <a:lnTo>
                  <a:pt x="0" y="20208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a:off x="7958204" y="6581081"/>
            <a:ext cx="9223006" cy="201229"/>
          </a:xfrm>
          <a:custGeom>
            <a:avLst/>
            <a:gdLst/>
            <a:ahLst/>
            <a:cxnLst/>
            <a:rect l="l" t="t" r="r" b="b"/>
            <a:pathLst>
              <a:path w="9223006" h="201229">
                <a:moveTo>
                  <a:pt x="0" y="0"/>
                </a:moveTo>
                <a:lnTo>
                  <a:pt x="9223006" y="0"/>
                </a:lnTo>
                <a:lnTo>
                  <a:pt x="9223006" y="201229"/>
                </a:lnTo>
                <a:lnTo>
                  <a:pt x="0" y="20122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TextBox 9"/>
          <p:cNvSpPr txBox="1"/>
          <p:nvPr/>
        </p:nvSpPr>
        <p:spPr>
          <a:xfrm>
            <a:off x="7841069" y="123831"/>
            <a:ext cx="9930683" cy="3114219"/>
          </a:xfrm>
          <a:prstGeom prst="rect">
            <a:avLst/>
          </a:prstGeom>
        </p:spPr>
        <p:txBody>
          <a:bodyPr lIns="0" tIns="0" rIns="0" bIns="0" rtlCol="0" anchor="t">
            <a:spAutoFit/>
          </a:bodyPr>
          <a:lstStyle/>
          <a:p>
            <a:pPr marL="0" lvl="0" indent="0" algn="l">
              <a:lnSpc>
                <a:spcPts val="4140"/>
              </a:lnSpc>
            </a:pPr>
            <a:r>
              <a:rPr lang="en-US" sz="2760" dirty="0">
                <a:solidFill>
                  <a:srgbClr val="000000"/>
                </a:solidFill>
                <a:latin typeface="Atkinson Hyperlegible"/>
                <a:ea typeface="Atkinson Hyperlegible"/>
                <a:cs typeface="Atkinson Hyperlegible"/>
                <a:sym typeface="Atkinson Hyperlegible"/>
              </a:rPr>
              <a:t>Anaconda is a free, open-source distribution of Python and R specifically designed for data science and AI. It includes:</a:t>
            </a:r>
          </a:p>
          <a:p>
            <a:pPr marL="0" lvl="0" indent="0" algn="l">
              <a:lnSpc>
                <a:spcPts val="4140"/>
              </a:lnSpc>
            </a:pPr>
            <a:r>
              <a:rPr lang="en-US" sz="2760" dirty="0">
                <a:solidFill>
                  <a:srgbClr val="000000"/>
                </a:solidFill>
                <a:latin typeface="Atkinson Hyperlegible"/>
                <a:ea typeface="Atkinson Hyperlegible"/>
                <a:cs typeface="Atkinson Hyperlegible"/>
                <a:sym typeface="Atkinson Hyperlegible"/>
              </a:rPr>
              <a:t>· conda (environment and package manager)</a:t>
            </a:r>
          </a:p>
          <a:p>
            <a:pPr marL="0" lvl="0" indent="0" algn="l">
              <a:lnSpc>
                <a:spcPts val="4140"/>
              </a:lnSpc>
            </a:pPr>
            <a:r>
              <a:rPr lang="en-US" sz="2760" dirty="0">
                <a:solidFill>
                  <a:srgbClr val="000000"/>
                </a:solidFill>
                <a:latin typeface="Atkinson Hyperlegible"/>
                <a:ea typeface="Atkinson Hyperlegible"/>
                <a:cs typeface="Atkinson Hyperlegible"/>
                <a:sym typeface="Atkinson Hyperlegible"/>
              </a:rPr>
              <a:t>· Pre-installed libraries like NumPy, Pandas, Matplotlib</a:t>
            </a:r>
          </a:p>
          <a:p>
            <a:pPr marL="0" lvl="0" indent="0" algn="l">
              <a:lnSpc>
                <a:spcPts val="4140"/>
              </a:lnSpc>
            </a:pPr>
            <a:r>
              <a:rPr lang="en-US" sz="2760" dirty="0">
                <a:solidFill>
                  <a:srgbClr val="000000"/>
                </a:solidFill>
                <a:latin typeface="Atkinson Hyperlegible"/>
                <a:ea typeface="Atkinson Hyperlegible"/>
                <a:cs typeface="Atkinson Hyperlegible"/>
                <a:sym typeface="Atkinson Hyperlegible"/>
              </a:rPr>
              <a:t>· </a:t>
            </a:r>
            <a:r>
              <a:rPr lang="en-US" sz="2760" dirty="0" err="1">
                <a:solidFill>
                  <a:srgbClr val="000000"/>
                </a:solidFill>
                <a:latin typeface="Atkinson Hyperlegible"/>
                <a:ea typeface="Atkinson Hyperlegible"/>
                <a:cs typeface="Atkinson Hyperlegible"/>
                <a:sym typeface="Atkinson Hyperlegible"/>
              </a:rPr>
              <a:t>JupyterLab</a:t>
            </a:r>
            <a:r>
              <a:rPr lang="en-US" sz="2760" dirty="0">
                <a:solidFill>
                  <a:srgbClr val="000000"/>
                </a:solidFill>
                <a:latin typeface="Atkinson Hyperlegible"/>
                <a:ea typeface="Atkinson Hyperlegible"/>
                <a:cs typeface="Atkinson Hyperlegible"/>
                <a:sym typeface="Atkinson Hyperlegible"/>
              </a:rPr>
              <a:t> (web-based notebook environment)</a:t>
            </a:r>
          </a:p>
          <a:p>
            <a:pPr marL="0" lvl="0" indent="0" algn="l">
              <a:lnSpc>
                <a:spcPts val="4140"/>
              </a:lnSpc>
            </a:pPr>
            <a:endParaRPr lang="en-US" sz="2760" dirty="0">
              <a:solidFill>
                <a:srgbClr val="000000"/>
              </a:solidFill>
              <a:latin typeface="Atkinson Hyperlegible"/>
              <a:ea typeface="Atkinson Hyperlegible"/>
              <a:cs typeface="Atkinson Hyperlegible"/>
              <a:sym typeface="Atkinson Hyperlegible"/>
            </a:endParaRPr>
          </a:p>
        </p:txBody>
      </p:sp>
      <p:sp>
        <p:nvSpPr>
          <p:cNvPr id="10" name="TextBox 10"/>
          <p:cNvSpPr txBox="1"/>
          <p:nvPr/>
        </p:nvSpPr>
        <p:spPr>
          <a:xfrm>
            <a:off x="7817214" y="3115776"/>
            <a:ext cx="9285906" cy="3539430"/>
          </a:xfrm>
          <a:prstGeom prst="rect">
            <a:avLst/>
          </a:prstGeom>
        </p:spPr>
        <p:txBody>
          <a:bodyPr lIns="0" tIns="0" rIns="0" bIns="0" rtlCol="0" anchor="t">
            <a:spAutoFit/>
          </a:bodyPr>
          <a:lstStyle/>
          <a:p>
            <a:pPr algn="l">
              <a:lnSpc>
                <a:spcPts val="3835"/>
              </a:lnSpc>
            </a:pPr>
            <a:r>
              <a:rPr lang="en-US" sz="2555" b="1" dirty="0">
                <a:solidFill>
                  <a:srgbClr val="000000"/>
                </a:solidFill>
                <a:latin typeface="Atkinson Hyperlegible Bold"/>
                <a:ea typeface="Atkinson Hyperlegible Bold"/>
                <a:cs typeface="Atkinson Hyperlegible Bold"/>
                <a:sym typeface="Atkinson Hyperlegible Bold"/>
              </a:rPr>
              <a:t>Step-by-step:</a:t>
            </a:r>
          </a:p>
          <a:p>
            <a:pPr marL="0" lvl="0" indent="0" algn="l">
              <a:lnSpc>
                <a:spcPts val="3835"/>
              </a:lnSpc>
            </a:pPr>
            <a:r>
              <a:rPr lang="en-US" sz="2555" dirty="0">
                <a:solidFill>
                  <a:srgbClr val="000000"/>
                </a:solidFill>
                <a:latin typeface="Atkinson Hyperlegible"/>
                <a:ea typeface="Atkinson Hyperlegible"/>
                <a:cs typeface="Atkinson Hyperlegible"/>
                <a:sym typeface="Atkinson Hyperlegible"/>
              </a:rPr>
              <a:t>1</a:t>
            </a:r>
            <a:r>
              <a:rPr lang="en-US" sz="2600" dirty="0">
                <a:solidFill>
                  <a:srgbClr val="000000"/>
                </a:solidFill>
                <a:latin typeface="Atkinson Hyperlegible"/>
                <a:ea typeface="Atkinson Hyperlegible"/>
                <a:cs typeface="Atkinson Hyperlegible"/>
                <a:sym typeface="Atkinson Hyperlegible"/>
              </a:rPr>
              <a:t>. Visit </a:t>
            </a:r>
            <a:r>
              <a:rPr lang="en-GB" altLang="en-US" sz="2600" u="sng" dirty="0">
                <a:solidFill>
                  <a:srgbClr val="1B57C4"/>
                </a:solidFill>
                <a:latin typeface="Atkinson Hyperlegible"/>
                <a:ea typeface="Atkinson Hyperlegible"/>
                <a:cs typeface="Atkinson Hyperlegible"/>
                <a:sym typeface="Atkinson Hyperlegible"/>
                <a:hlinkClick r:id="rId6" tooltip="https://www.anaconda.com/products/distribution"/>
              </a:rPr>
              <a:t>www.a</a:t>
            </a:r>
            <a:r>
              <a:rPr lang="en-US" sz="2600" u="sng" dirty="0">
                <a:solidFill>
                  <a:srgbClr val="1B57C4"/>
                </a:solidFill>
                <a:latin typeface="Atkinson Hyperlegible"/>
                <a:ea typeface="Atkinson Hyperlegible"/>
                <a:cs typeface="Atkinson Hyperlegible"/>
                <a:sym typeface="Atkinson Hyperlegible"/>
                <a:hlinkClick r:id="rId6" tooltip="https://www.anaconda.com/products/distribution"/>
              </a:rPr>
              <a:t>naconda.com</a:t>
            </a:r>
            <a:r>
              <a:rPr lang="en-US" sz="2600" dirty="0">
                <a:solidFill>
                  <a:srgbClr val="1B57C4"/>
                </a:solidFill>
                <a:latin typeface="Atkinson Hyperlegible"/>
                <a:ea typeface="Atkinson Hyperlegible"/>
                <a:cs typeface="Atkinson Hyperlegible"/>
                <a:sym typeface="Atkinson Hyperlegible"/>
              </a:rPr>
              <a:t> (</a:t>
            </a:r>
            <a:r>
              <a:rPr lang="en-US" sz="2600" u="sng" dirty="0">
                <a:solidFill>
                  <a:srgbClr val="1B57C4"/>
                </a:solidFill>
                <a:latin typeface="Atkinson Hyperlegible"/>
                <a:ea typeface="Atkinson Hyperlegible"/>
                <a:cs typeface="Atkinson Hyperlegible"/>
                <a:sym typeface="Atkinson Hyperlegible"/>
                <a:hlinkClick r:id="rId6" tooltip="https://www.anaconda.com/products/distribution"/>
              </a:rPr>
              <a:t>https://www.anaconda.com/products/distribution</a:t>
            </a:r>
            <a:r>
              <a:rPr lang="en-US" sz="2600" dirty="0">
                <a:solidFill>
                  <a:srgbClr val="1B57C4"/>
                </a:solidFill>
                <a:latin typeface="Atkinson Hyperlegible"/>
                <a:ea typeface="Atkinson Hyperlegible"/>
                <a:cs typeface="Atkinson Hyperlegible"/>
                <a:sym typeface="Atkinson Hyperlegible"/>
              </a:rPr>
              <a:t>)</a:t>
            </a:r>
          </a:p>
          <a:p>
            <a:pPr marL="0" lvl="0" indent="0" algn="l">
              <a:lnSpc>
                <a:spcPts val="3835"/>
              </a:lnSpc>
            </a:pPr>
            <a:r>
              <a:rPr lang="en-US" sz="2600" dirty="0">
                <a:solidFill>
                  <a:srgbClr val="000000"/>
                </a:solidFill>
                <a:latin typeface="Atkinson Hyperlegible"/>
                <a:ea typeface="Atkinson Hyperlegible"/>
                <a:cs typeface="Atkinson Hyperlegible"/>
                <a:sym typeface="Atkinson Hyperlegible"/>
              </a:rPr>
              <a:t>2. Download the</a:t>
            </a:r>
            <a:r>
              <a:rPr lang="en-GB" altLang="en-US" sz="2600" dirty="0">
                <a:solidFill>
                  <a:srgbClr val="000000"/>
                </a:solidFill>
                <a:latin typeface="Atkinson Hyperlegible"/>
                <a:ea typeface="Atkinson Hyperlegible"/>
                <a:cs typeface="Atkinson Hyperlegible"/>
                <a:sym typeface="Atkinson Hyperlegible"/>
              </a:rPr>
              <a:t> distribution installers</a:t>
            </a:r>
            <a:r>
              <a:rPr lang="en-US" sz="2600" dirty="0">
                <a:solidFill>
                  <a:srgbClr val="000000"/>
                </a:solidFill>
                <a:latin typeface="Atkinson Hyperlegible"/>
                <a:ea typeface="Atkinson Hyperlegible"/>
                <a:cs typeface="Atkinson Hyperlegible"/>
                <a:sym typeface="Atkinson Hyperlegible"/>
              </a:rPr>
              <a:t> latest version</a:t>
            </a:r>
            <a:r>
              <a:rPr lang="en-GB" altLang="en-US" sz="2600" dirty="0">
                <a:solidFill>
                  <a:srgbClr val="000000"/>
                </a:solidFill>
                <a:latin typeface="Atkinson Hyperlegible"/>
                <a:ea typeface="Atkinson Hyperlegible"/>
                <a:cs typeface="Atkinson Hyperlegible"/>
                <a:sym typeface="Atkinson Hyperlegible"/>
              </a:rPr>
              <a:t> (Windows Python 3.13)</a:t>
            </a:r>
            <a:endParaRPr lang="en-US" sz="2600" dirty="0">
              <a:solidFill>
                <a:srgbClr val="000000"/>
              </a:solidFill>
              <a:latin typeface="Atkinson Hyperlegible"/>
              <a:ea typeface="Atkinson Hyperlegible"/>
              <a:cs typeface="Atkinson Hyperlegible"/>
              <a:sym typeface="Atkinson Hyperlegible"/>
            </a:endParaRPr>
          </a:p>
          <a:p>
            <a:pPr marL="0" lvl="0" indent="0" algn="l">
              <a:lnSpc>
                <a:spcPts val="4285"/>
              </a:lnSpc>
            </a:pPr>
            <a:r>
              <a:rPr lang="en-US" sz="2600" dirty="0">
                <a:solidFill>
                  <a:srgbClr val="000000"/>
                </a:solidFill>
                <a:latin typeface="Atkinson Hyperlegible"/>
                <a:ea typeface="Atkinson Hyperlegible"/>
                <a:cs typeface="Atkinson Hyperlegible"/>
                <a:sym typeface="Atkinson Hyperlegible"/>
              </a:rPr>
              <a:t>3. </a:t>
            </a:r>
            <a:r>
              <a:rPr lang="en-GB" altLang="en-US" sz="2600" dirty="0">
                <a:solidFill>
                  <a:srgbClr val="000000"/>
                </a:solidFill>
                <a:latin typeface="Atkinson Hyperlegible"/>
                <a:ea typeface="Atkinson Hyperlegible"/>
                <a:cs typeface="Atkinson Hyperlegible"/>
                <a:sym typeface="Atkinson Hyperlegible"/>
              </a:rPr>
              <a:t>Install</a:t>
            </a:r>
            <a:r>
              <a:rPr lang="en-US" sz="2600" dirty="0">
                <a:solidFill>
                  <a:srgbClr val="000000"/>
                </a:solidFill>
                <a:latin typeface="Atkinson Hyperlegible"/>
                <a:ea typeface="Atkinson Hyperlegible"/>
                <a:cs typeface="Atkinson Hyperlegible"/>
                <a:sym typeface="Atkinson Hyperlegible"/>
              </a:rPr>
              <a:t> </a:t>
            </a:r>
            <a:r>
              <a:rPr lang="en-GB" altLang="en-US" sz="2600" dirty="0">
                <a:solidFill>
                  <a:srgbClr val="000000"/>
                </a:solidFill>
                <a:latin typeface="Atkinson Hyperlegible"/>
                <a:ea typeface="Atkinson Hyperlegible"/>
                <a:cs typeface="Atkinson Hyperlegible"/>
                <a:sym typeface="Atkinson Hyperlegible"/>
              </a:rPr>
              <a:t>Anaconda</a:t>
            </a:r>
            <a:endParaRPr lang="en-US" sz="2600" dirty="0">
              <a:solidFill>
                <a:srgbClr val="000000"/>
              </a:solidFill>
              <a:latin typeface="Atkinson Hyperlegible"/>
              <a:ea typeface="Atkinson Hyperlegible"/>
              <a:cs typeface="Atkinson Hyperlegible"/>
              <a:sym typeface="Atkinson Hyperlegible"/>
            </a:endParaRPr>
          </a:p>
          <a:p>
            <a:pPr marL="0" lvl="0" indent="0" algn="l">
              <a:lnSpc>
                <a:spcPts val="4285"/>
              </a:lnSpc>
            </a:pPr>
            <a:r>
              <a:rPr lang="en-GB" altLang="en-US" sz="2600" dirty="0">
                <a:solidFill>
                  <a:srgbClr val="000000"/>
                </a:solidFill>
                <a:latin typeface="Atkinson Hyperlegible"/>
                <a:ea typeface="Atkinson Hyperlegible"/>
                <a:cs typeface="Atkinson Hyperlegible"/>
                <a:sym typeface="Atkinson Hyperlegible"/>
              </a:rPr>
              <a:t>4. Open anaconda </a:t>
            </a:r>
            <a:r>
              <a:rPr lang="en-GB" altLang="en-US" sz="2600" dirty="0" smtClean="0">
                <a:solidFill>
                  <a:srgbClr val="000000"/>
                </a:solidFill>
                <a:latin typeface="Atkinson Hyperlegible"/>
                <a:ea typeface="Atkinson Hyperlegible"/>
                <a:cs typeface="Atkinson Hyperlegible"/>
                <a:sym typeface="Atkinson Hyperlegible"/>
              </a:rPr>
              <a:t>prompt</a:t>
            </a:r>
            <a:endParaRPr lang="en-US" sz="2600" dirty="0">
              <a:solidFill>
                <a:srgbClr val="000000"/>
              </a:solidFill>
              <a:latin typeface="Atkinson Hyperlegible"/>
              <a:ea typeface="Atkinson Hyperlegible"/>
              <a:cs typeface="Atkinson Hyperlegible"/>
              <a:sym typeface="Atkinson Hyperlegible"/>
            </a:endParaRPr>
          </a:p>
        </p:txBody>
      </p:sp>
      <p:sp>
        <p:nvSpPr>
          <p:cNvPr id="11" name="TextBox 11"/>
          <p:cNvSpPr txBox="1"/>
          <p:nvPr/>
        </p:nvSpPr>
        <p:spPr>
          <a:xfrm>
            <a:off x="7802024" y="6879411"/>
            <a:ext cx="9750801" cy="3504565"/>
          </a:xfrm>
          <a:prstGeom prst="rect">
            <a:avLst/>
          </a:prstGeom>
        </p:spPr>
        <p:txBody>
          <a:bodyPr lIns="0" tIns="0" rIns="0" bIns="0" rtlCol="0" anchor="t">
            <a:spAutoFit/>
          </a:bodyPr>
          <a:lstStyle/>
          <a:p>
            <a:pPr marL="0" lvl="0" indent="0" algn="l">
              <a:lnSpc>
                <a:spcPts val="3840"/>
              </a:lnSpc>
            </a:pPr>
            <a:r>
              <a:rPr lang="en-US" sz="2560" b="1" dirty="0">
                <a:solidFill>
                  <a:srgbClr val="000000"/>
                </a:solidFill>
                <a:latin typeface="Atkinson Hyperlegible Bold"/>
                <a:ea typeface="Atkinson Hyperlegible Bold"/>
                <a:cs typeface="Atkinson Hyperlegible Bold"/>
                <a:sym typeface="Atkinson Hyperlegible Bold"/>
              </a:rPr>
              <a:t>Conda </a:t>
            </a:r>
            <a:r>
              <a:rPr lang="en-US" sz="2560" b="1" dirty="0" err="1" smtClean="0">
                <a:solidFill>
                  <a:srgbClr val="000000"/>
                </a:solidFill>
                <a:latin typeface="Atkinson Hyperlegible Bold"/>
                <a:ea typeface="Atkinson Hyperlegible Bold"/>
                <a:cs typeface="Atkinson Hyperlegible Bold"/>
                <a:sym typeface="Atkinson Hyperlegible Bold"/>
              </a:rPr>
              <a:t>Environmen</a:t>
            </a:r>
            <a:r>
              <a:rPr lang="en-US" sz="2560" b="1" dirty="0" smtClean="0">
                <a:solidFill>
                  <a:srgbClr val="000000"/>
                </a:solidFill>
                <a:latin typeface="Atkinson Hyperlegible Bold"/>
                <a:ea typeface="Atkinson Hyperlegible Bold"/>
                <a:cs typeface="Atkinson Hyperlegible Bold"/>
                <a:sym typeface="Atkinson Hyperlegible Bold"/>
              </a:rPr>
              <a:t> </a:t>
            </a:r>
            <a:r>
              <a:rPr lang="en-US" sz="2560" b="1" dirty="0">
                <a:solidFill>
                  <a:srgbClr val="000000"/>
                </a:solidFill>
                <a:latin typeface="Atkinson Hyperlegible Bold"/>
                <a:ea typeface="Atkinson Hyperlegible Bold"/>
                <a:cs typeface="Atkinson Hyperlegible Bold"/>
                <a:sym typeface="Atkinson Hyperlegible Bold"/>
              </a:rPr>
              <a:t>Example:</a:t>
            </a:r>
          </a:p>
          <a:p>
            <a:pPr marL="0" lvl="0" indent="0" algn="l">
              <a:lnSpc>
                <a:spcPts val="3840"/>
              </a:lnSpc>
            </a:pPr>
            <a:r>
              <a:rPr lang="en-US" sz="2560" dirty="0">
                <a:solidFill>
                  <a:srgbClr val="000000"/>
                </a:solidFill>
                <a:latin typeface="Antic"/>
                <a:ea typeface="Antic"/>
                <a:cs typeface="Antic"/>
                <a:sym typeface="Antic"/>
              </a:rPr>
              <a:t>conda create --name </a:t>
            </a:r>
            <a:r>
              <a:rPr lang="en-GB" altLang="en-US" sz="2560" dirty="0" err="1">
                <a:solidFill>
                  <a:srgbClr val="000000"/>
                </a:solidFill>
                <a:latin typeface="Antic"/>
                <a:ea typeface="Antic"/>
                <a:cs typeface="Antic"/>
                <a:sym typeface="Antic"/>
              </a:rPr>
              <a:t>cdut</a:t>
            </a:r>
            <a:r>
              <a:rPr lang="en-US" sz="2560" dirty="0">
                <a:solidFill>
                  <a:srgbClr val="000000"/>
                </a:solidFill>
                <a:latin typeface="Antic"/>
                <a:ea typeface="Antic"/>
                <a:cs typeface="Antic"/>
                <a:sym typeface="Antic"/>
              </a:rPr>
              <a:t> python=3.1</a:t>
            </a:r>
            <a:r>
              <a:rPr lang="en-GB" altLang="en-US" sz="2560" dirty="0">
                <a:solidFill>
                  <a:srgbClr val="000000"/>
                </a:solidFill>
                <a:latin typeface="Antic"/>
                <a:ea typeface="Antic"/>
                <a:cs typeface="Antic"/>
                <a:sym typeface="Antic"/>
              </a:rPr>
              <a:t>3</a:t>
            </a:r>
            <a:endParaRPr lang="en-US" sz="2560" dirty="0">
              <a:solidFill>
                <a:srgbClr val="000000"/>
              </a:solidFill>
              <a:latin typeface="Antic"/>
              <a:ea typeface="Antic"/>
              <a:cs typeface="Antic"/>
              <a:sym typeface="Antic"/>
            </a:endParaRPr>
          </a:p>
          <a:p>
            <a:pPr marL="0" lvl="0" indent="0" algn="l">
              <a:lnSpc>
                <a:spcPts val="4290"/>
              </a:lnSpc>
            </a:pPr>
            <a:r>
              <a:rPr lang="en-US" sz="2860" dirty="0">
                <a:solidFill>
                  <a:srgbClr val="000000"/>
                </a:solidFill>
                <a:latin typeface="Antic"/>
                <a:ea typeface="Antic"/>
                <a:cs typeface="Antic"/>
                <a:sym typeface="Antic"/>
              </a:rPr>
              <a:t>conda activate </a:t>
            </a:r>
            <a:r>
              <a:rPr lang="en-GB" altLang="en-US" sz="2860" dirty="0" err="1">
                <a:solidFill>
                  <a:srgbClr val="000000"/>
                </a:solidFill>
                <a:latin typeface="Antic"/>
                <a:ea typeface="Antic"/>
                <a:cs typeface="Antic"/>
                <a:sym typeface="Antic"/>
              </a:rPr>
              <a:t>cdut</a:t>
            </a:r>
            <a:endParaRPr lang="en-US" sz="2860" dirty="0">
              <a:solidFill>
                <a:srgbClr val="000000"/>
              </a:solidFill>
              <a:latin typeface="Antic"/>
              <a:ea typeface="Antic"/>
              <a:cs typeface="Antic"/>
              <a:sym typeface="Antic"/>
            </a:endParaRPr>
          </a:p>
          <a:p>
            <a:pPr marL="0" lvl="0" indent="0" algn="l">
              <a:lnSpc>
                <a:spcPts val="3840"/>
              </a:lnSpc>
            </a:pPr>
            <a:endParaRPr lang="en-US" sz="2860" dirty="0">
              <a:solidFill>
                <a:srgbClr val="000000"/>
              </a:solidFill>
              <a:latin typeface="Antic"/>
              <a:ea typeface="Antic"/>
              <a:cs typeface="Antic"/>
              <a:sym typeface="Antic"/>
            </a:endParaRPr>
          </a:p>
          <a:p>
            <a:pPr marL="0" lvl="0" indent="0" algn="l">
              <a:lnSpc>
                <a:spcPts val="3840"/>
              </a:lnSpc>
            </a:pPr>
            <a:r>
              <a:rPr lang="en-US" sz="2560" dirty="0">
                <a:solidFill>
                  <a:srgbClr val="000000"/>
                </a:solidFill>
                <a:latin typeface="Atkinson Hyperlegible"/>
                <a:ea typeface="Atkinson Hyperlegible"/>
                <a:cs typeface="Atkinson Hyperlegible"/>
                <a:sym typeface="Atkinson Hyperlegible"/>
              </a:rPr>
              <a:t>Use Anaconda when managing complex environments with large ML/DL libraries and GPU support.</a:t>
            </a:r>
          </a:p>
          <a:p>
            <a:pPr marL="0" lvl="0" indent="0" algn="l">
              <a:lnSpc>
                <a:spcPts val="3840"/>
              </a:lnSpc>
            </a:pPr>
            <a:endParaRPr lang="en-US" sz="2560" dirty="0">
              <a:solidFill>
                <a:srgbClr val="000000"/>
              </a:solidFill>
              <a:latin typeface="Atkinson Hyperlegible"/>
              <a:ea typeface="Atkinson Hyperlegible"/>
              <a:cs typeface="Atkinson Hyperlegible"/>
              <a:sym typeface="Atkinson Hyperlegible"/>
            </a:endParaRPr>
          </a:p>
        </p:txBody>
      </p:sp>
      <p:grpSp>
        <p:nvGrpSpPr>
          <p:cNvPr id="12" name="Group 12"/>
          <p:cNvGrpSpPr/>
          <p:nvPr/>
        </p:nvGrpSpPr>
        <p:grpSpPr>
          <a:xfrm>
            <a:off x="776230" y="3735022"/>
            <a:ext cx="6038165" cy="3047288"/>
            <a:chOff x="0" y="0"/>
            <a:chExt cx="8050887" cy="4063051"/>
          </a:xfrm>
        </p:grpSpPr>
        <p:sp>
          <p:nvSpPr>
            <p:cNvPr id="13" name="TextBox 13"/>
            <p:cNvSpPr txBox="1"/>
            <p:nvPr/>
          </p:nvSpPr>
          <p:spPr>
            <a:xfrm>
              <a:off x="0" y="76200"/>
              <a:ext cx="8050887" cy="3083639"/>
            </a:xfrm>
            <a:prstGeom prst="rect">
              <a:avLst/>
            </a:prstGeom>
          </p:spPr>
          <p:txBody>
            <a:bodyPr lIns="0" tIns="0" rIns="0" bIns="0" rtlCol="0" anchor="t">
              <a:spAutoFit/>
            </a:bodyPr>
            <a:lstStyle/>
            <a:p>
              <a:pPr marL="0" lvl="0" indent="0" algn="ctr">
                <a:lnSpc>
                  <a:spcPts val="8925"/>
                </a:lnSpc>
              </a:pPr>
              <a:r>
                <a:rPr lang="en-US" sz="8115" b="1">
                  <a:solidFill>
                    <a:srgbClr val="000000"/>
                  </a:solidFill>
                  <a:latin typeface="Atkinson Hyperlegible Bold"/>
                  <a:ea typeface="Atkinson Hyperlegible Bold"/>
                  <a:cs typeface="Atkinson Hyperlegible Bold"/>
                  <a:sym typeface="Atkinson Hyperlegible Bold"/>
                </a:rPr>
                <a:t>Anaconda Installation</a:t>
              </a:r>
            </a:p>
          </p:txBody>
        </p:sp>
        <p:sp>
          <p:nvSpPr>
            <p:cNvPr id="14" name="TextBox 14"/>
            <p:cNvSpPr txBox="1"/>
            <p:nvPr/>
          </p:nvSpPr>
          <p:spPr>
            <a:xfrm>
              <a:off x="0" y="3401040"/>
              <a:ext cx="8050887" cy="662011"/>
            </a:xfrm>
            <a:prstGeom prst="rect">
              <a:avLst/>
            </a:prstGeom>
          </p:spPr>
          <p:txBody>
            <a:bodyPr lIns="0" tIns="0" rIns="0" bIns="0" rtlCol="0" anchor="t">
              <a:spAutoFit/>
            </a:bodyPr>
            <a:lstStyle/>
            <a:p>
              <a:pPr marL="0" lvl="0" indent="0" algn="ctr">
                <a:lnSpc>
                  <a:spcPts val="3805"/>
                </a:lnSpc>
              </a:pPr>
              <a:r>
                <a:rPr lang="en-US" sz="3460">
                  <a:solidFill>
                    <a:srgbClr val="000000"/>
                  </a:solidFill>
                  <a:latin typeface="Atkinson Hyperlegible"/>
                  <a:ea typeface="Atkinson Hyperlegible"/>
                  <a:cs typeface="Atkinson Hyperlegible"/>
                  <a:sym typeface="Atkinson Hyperlegible"/>
                </a:rPr>
                <a:t>(Alternative to pip)</a:t>
              </a:r>
            </a:p>
          </p:txBody>
        </p:sp>
      </p:grpSp>
      <p:sp>
        <p:nvSpPr>
          <p:cNvPr id="15" name="Freeform 15"/>
          <p:cNvSpPr/>
          <p:nvPr/>
        </p:nvSpPr>
        <p:spPr>
          <a:xfrm>
            <a:off x="0" y="15632"/>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7"/>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6698664" y="0"/>
            <a:ext cx="10081260" cy="10287000"/>
          </a:xfrm>
          <a:custGeom>
            <a:avLst/>
            <a:gdLst/>
            <a:ahLst/>
            <a:cxnLst/>
            <a:rect l="l" t="t" r="r" b="b"/>
            <a:pathLst>
              <a:path w="10081260" h="10287000">
                <a:moveTo>
                  <a:pt x="0" y="10287000"/>
                </a:moveTo>
                <a:lnTo>
                  <a:pt x="10081260" y="10287000"/>
                </a:lnTo>
                <a:lnTo>
                  <a:pt x="10081260" y="0"/>
                </a:lnTo>
                <a:lnTo>
                  <a:pt x="0" y="0"/>
                </a:lnTo>
                <a:lnTo>
                  <a:pt x="0" y="1028700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2135315">
            <a:off x="2511742" y="8812322"/>
            <a:ext cx="2225037" cy="2225037"/>
          </a:xfrm>
          <a:custGeom>
            <a:avLst/>
            <a:gdLst/>
            <a:ahLst/>
            <a:cxnLst/>
            <a:rect l="l" t="t" r="r" b="b"/>
            <a:pathLst>
              <a:path w="2225037" h="2225037">
                <a:moveTo>
                  <a:pt x="0" y="0"/>
                </a:moveTo>
                <a:lnTo>
                  <a:pt x="2225037" y="0"/>
                </a:lnTo>
                <a:lnTo>
                  <a:pt x="2225037" y="2225037"/>
                </a:lnTo>
                <a:lnTo>
                  <a:pt x="0" y="222503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rot="-2521433">
            <a:off x="5236565" y="6999007"/>
            <a:ext cx="1138888" cy="1138888"/>
          </a:xfrm>
          <a:custGeom>
            <a:avLst/>
            <a:gdLst/>
            <a:ahLst/>
            <a:cxnLst/>
            <a:rect l="l" t="t" r="r" b="b"/>
            <a:pathLst>
              <a:path w="1138888" h="1138888">
                <a:moveTo>
                  <a:pt x="0" y="0"/>
                </a:moveTo>
                <a:lnTo>
                  <a:pt x="1138888" y="0"/>
                </a:lnTo>
                <a:lnTo>
                  <a:pt x="1138888" y="1138887"/>
                </a:lnTo>
                <a:lnTo>
                  <a:pt x="0" y="113888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TextBox 5"/>
          <p:cNvSpPr txBox="1"/>
          <p:nvPr/>
        </p:nvSpPr>
        <p:spPr>
          <a:xfrm>
            <a:off x="3216910" y="521335"/>
            <a:ext cx="14230985" cy="772160"/>
          </a:xfrm>
          <a:prstGeom prst="rect">
            <a:avLst/>
          </a:prstGeom>
        </p:spPr>
        <p:txBody>
          <a:bodyPr wrap="square" lIns="0" tIns="0" rIns="0" bIns="0" rtlCol="0" anchor="t">
            <a:spAutoFit/>
          </a:bodyPr>
          <a:lstStyle/>
          <a:p>
            <a:pPr marL="0" lvl="0" indent="0" algn="ctr">
              <a:lnSpc>
                <a:spcPts val="6025"/>
              </a:lnSpc>
            </a:pPr>
            <a:r>
              <a:rPr lang="en-US" sz="6025" b="1">
                <a:solidFill>
                  <a:srgbClr val="000000"/>
                </a:solidFill>
                <a:latin typeface="Atkinson Hyperlegible Bold"/>
                <a:ea typeface="Atkinson Hyperlegible Bold"/>
                <a:cs typeface="Atkinson Hyperlegible Bold"/>
                <a:sym typeface="Atkinson Hyperlegible Bold"/>
              </a:rPr>
              <a:t>Virtual Environments (Why</a:t>
            </a:r>
            <a:r>
              <a:rPr lang="en-GB" altLang="en-US" sz="6025" b="1">
                <a:solidFill>
                  <a:srgbClr val="000000"/>
                </a:solidFill>
                <a:latin typeface="Atkinson Hyperlegible Bold"/>
                <a:ea typeface="Atkinson Hyperlegible Bold"/>
                <a:cs typeface="Atkinson Hyperlegible Bold"/>
                <a:sym typeface="Atkinson Hyperlegible Bold"/>
              </a:rPr>
              <a:t>?</a:t>
            </a:r>
            <a:r>
              <a:rPr lang="en-US" sz="6025" b="1">
                <a:solidFill>
                  <a:srgbClr val="000000"/>
                </a:solidFill>
                <a:latin typeface="Atkinson Hyperlegible Bold"/>
                <a:ea typeface="Atkinson Hyperlegible Bold"/>
                <a:cs typeface="Atkinson Hyperlegible Bold"/>
                <a:sym typeface="Atkinson Hyperlegible Bold"/>
              </a:rPr>
              <a:t> &amp; How</a:t>
            </a:r>
            <a:r>
              <a:rPr lang="en-GB" altLang="en-US" sz="6025" b="1">
                <a:solidFill>
                  <a:srgbClr val="000000"/>
                </a:solidFill>
                <a:latin typeface="Atkinson Hyperlegible Bold"/>
                <a:ea typeface="Atkinson Hyperlegible Bold"/>
                <a:cs typeface="Atkinson Hyperlegible Bold"/>
                <a:sym typeface="Atkinson Hyperlegible Bold"/>
              </a:rPr>
              <a:t>?</a:t>
            </a:r>
            <a:r>
              <a:rPr lang="en-US" sz="6025" b="1">
                <a:solidFill>
                  <a:srgbClr val="000000"/>
                </a:solidFill>
                <a:latin typeface="Atkinson Hyperlegible Bold"/>
                <a:ea typeface="Atkinson Hyperlegible Bold"/>
                <a:cs typeface="Atkinson Hyperlegible Bold"/>
                <a:sym typeface="Atkinson Hyperlegible Bold"/>
              </a:rPr>
              <a:t>)</a:t>
            </a:r>
          </a:p>
        </p:txBody>
      </p:sp>
      <p:sp>
        <p:nvSpPr>
          <p:cNvPr id="6" name="TextBox 6"/>
          <p:cNvSpPr txBox="1"/>
          <p:nvPr/>
        </p:nvSpPr>
        <p:spPr>
          <a:xfrm>
            <a:off x="5176422" y="1283805"/>
            <a:ext cx="11439291" cy="8086090"/>
          </a:xfrm>
          <a:prstGeom prst="rect">
            <a:avLst/>
          </a:prstGeom>
        </p:spPr>
        <p:txBody>
          <a:bodyPr lIns="0" tIns="0" rIns="0" bIns="0" rtlCol="0" anchor="t">
            <a:spAutoFit/>
          </a:bodyPr>
          <a:lstStyle/>
          <a:p>
            <a:pPr algn="just">
              <a:lnSpc>
                <a:spcPts val="4420"/>
              </a:lnSpc>
              <a:spcBef>
                <a:spcPct val="0"/>
              </a:spcBef>
            </a:pPr>
            <a:r>
              <a:rPr lang="en-US" sz="3400" dirty="0">
                <a:solidFill>
                  <a:srgbClr val="000000"/>
                </a:solidFill>
                <a:latin typeface="Atkinson Hyperlegible"/>
                <a:ea typeface="Atkinson Hyperlegible"/>
                <a:cs typeface="Atkinson Hyperlegible"/>
                <a:sym typeface="Atkinson Hyperlegible"/>
              </a:rPr>
              <a:t>A virtual environment is an isolated Python environment where you can install packages without affecting other projects or the system Python.</a:t>
            </a:r>
          </a:p>
          <a:p>
            <a:pPr algn="l">
              <a:lnSpc>
                <a:spcPts val="4420"/>
              </a:lnSpc>
              <a:spcBef>
                <a:spcPct val="0"/>
              </a:spcBef>
            </a:pPr>
            <a:endParaRPr lang="en-US" sz="3400" dirty="0">
              <a:solidFill>
                <a:srgbClr val="000000"/>
              </a:solidFill>
              <a:latin typeface="Atkinson Hyperlegible"/>
              <a:ea typeface="Atkinson Hyperlegible"/>
              <a:cs typeface="Atkinson Hyperlegible"/>
              <a:sym typeface="Atkinson Hyperlegible"/>
            </a:endParaRPr>
          </a:p>
          <a:p>
            <a:pPr algn="l">
              <a:lnSpc>
                <a:spcPts val="3295"/>
              </a:lnSpc>
            </a:pPr>
            <a:r>
              <a:rPr lang="en-US" sz="3400" b="1" dirty="0">
                <a:solidFill>
                  <a:srgbClr val="000000"/>
                </a:solidFill>
                <a:latin typeface="Atkinson Hyperlegible Bold"/>
                <a:ea typeface="Atkinson Hyperlegible Bold"/>
                <a:cs typeface="Atkinson Hyperlegible Bold"/>
                <a:sym typeface="Atkinson Hyperlegible Bold"/>
              </a:rPr>
              <a:t>Using </a:t>
            </a:r>
            <a:r>
              <a:rPr lang="en-US" sz="3400" b="1" dirty="0" err="1">
                <a:solidFill>
                  <a:srgbClr val="000000"/>
                </a:solidFill>
                <a:latin typeface="Atkinson Hyperlegible Bold"/>
                <a:ea typeface="Atkinson Hyperlegible Bold"/>
                <a:cs typeface="Atkinson Hyperlegible Bold"/>
                <a:sym typeface="Atkinson Hyperlegible Bold"/>
              </a:rPr>
              <a:t>venv</a:t>
            </a:r>
            <a:r>
              <a:rPr lang="en-US" sz="3400" b="1" dirty="0">
                <a:solidFill>
                  <a:srgbClr val="000000"/>
                </a:solidFill>
                <a:latin typeface="Atkinson Hyperlegible Bold"/>
                <a:ea typeface="Atkinson Hyperlegible Bold"/>
                <a:cs typeface="Atkinson Hyperlegible Bold"/>
                <a:sym typeface="Atkinson Hyperlegible Bold"/>
              </a:rPr>
              <a:t> (pip-based):</a:t>
            </a:r>
          </a:p>
          <a:p>
            <a:pPr algn="l">
              <a:lnSpc>
                <a:spcPts val="3295"/>
              </a:lnSpc>
            </a:pPr>
            <a:endParaRPr lang="en-US" sz="3400" b="1" dirty="0">
              <a:solidFill>
                <a:srgbClr val="000000"/>
              </a:solidFill>
              <a:latin typeface="Atkinson Hyperlegible Bold"/>
              <a:ea typeface="Atkinson Hyperlegible Bold"/>
              <a:cs typeface="Atkinson Hyperlegible Bold"/>
              <a:sym typeface="Atkinson Hyperlegible Bold"/>
            </a:endParaRPr>
          </a:p>
          <a:p>
            <a:pPr algn="l">
              <a:lnSpc>
                <a:spcPts val="3295"/>
              </a:lnSpc>
            </a:pPr>
            <a:r>
              <a:rPr lang="en-US" sz="3400" dirty="0">
                <a:solidFill>
                  <a:srgbClr val="000000"/>
                </a:solidFill>
                <a:latin typeface="Antic"/>
                <a:ea typeface="Antic"/>
                <a:cs typeface="Antic"/>
                <a:sym typeface="Antic"/>
              </a:rPr>
              <a:t>python -m </a:t>
            </a:r>
            <a:r>
              <a:rPr lang="en-US" sz="3400" dirty="0" err="1">
                <a:solidFill>
                  <a:srgbClr val="000000"/>
                </a:solidFill>
                <a:latin typeface="Antic"/>
                <a:ea typeface="Antic"/>
                <a:cs typeface="Antic"/>
                <a:sym typeface="Antic"/>
              </a:rPr>
              <a:t>venv</a:t>
            </a:r>
            <a:r>
              <a:rPr lang="en-US" sz="3400" dirty="0">
                <a:solidFill>
                  <a:srgbClr val="000000"/>
                </a:solidFill>
                <a:latin typeface="Antic"/>
                <a:ea typeface="Antic"/>
                <a:cs typeface="Antic"/>
                <a:sym typeface="Antic"/>
              </a:rPr>
              <a:t> </a:t>
            </a:r>
            <a:r>
              <a:rPr lang="en-GB" altLang="en-US" sz="3400" dirty="0" err="1">
                <a:solidFill>
                  <a:srgbClr val="000000"/>
                </a:solidFill>
                <a:latin typeface="Antic"/>
                <a:ea typeface="Antic"/>
                <a:cs typeface="Antic"/>
                <a:sym typeface="Antic"/>
              </a:rPr>
              <a:t>cdut</a:t>
            </a:r>
            <a:endParaRPr lang="en-US" sz="3400" dirty="0">
              <a:solidFill>
                <a:srgbClr val="000000"/>
              </a:solidFill>
              <a:latin typeface="Antic"/>
              <a:ea typeface="Antic"/>
              <a:cs typeface="Antic"/>
              <a:sym typeface="Antic"/>
            </a:endParaRPr>
          </a:p>
          <a:p>
            <a:pPr algn="l">
              <a:lnSpc>
                <a:spcPts val="4420"/>
              </a:lnSpc>
              <a:spcBef>
                <a:spcPct val="0"/>
              </a:spcBef>
            </a:pPr>
            <a:endParaRPr lang="en-US" sz="3400" dirty="0">
              <a:solidFill>
                <a:srgbClr val="000000"/>
              </a:solidFill>
              <a:latin typeface="Antic"/>
              <a:ea typeface="Antic"/>
              <a:cs typeface="Antic"/>
              <a:sym typeface="Antic"/>
            </a:endParaRPr>
          </a:p>
          <a:p>
            <a:pPr algn="l">
              <a:lnSpc>
                <a:spcPts val="4420"/>
              </a:lnSpc>
              <a:spcBef>
                <a:spcPct val="0"/>
              </a:spcBef>
            </a:pPr>
            <a:r>
              <a:rPr lang="en-US" sz="3400" dirty="0">
                <a:solidFill>
                  <a:srgbClr val="000000"/>
                </a:solidFill>
                <a:latin typeface="Atkinson Hyperlegible"/>
                <a:ea typeface="Atkinson Hyperlegible"/>
                <a:cs typeface="Atkinson Hyperlegible"/>
                <a:sym typeface="Atkinson Hyperlegible"/>
              </a:rPr>
              <a:t># Activate:</a:t>
            </a:r>
          </a:p>
          <a:p>
            <a:pPr algn="l">
              <a:lnSpc>
                <a:spcPts val="4420"/>
              </a:lnSpc>
              <a:spcBef>
                <a:spcPct val="0"/>
              </a:spcBef>
            </a:pPr>
            <a:r>
              <a:rPr lang="en-GB" altLang="en-US" sz="3400" dirty="0" err="1">
                <a:solidFill>
                  <a:srgbClr val="000000"/>
                </a:solidFill>
                <a:latin typeface="Atkinson Hyperlegible"/>
                <a:ea typeface="Atkinson Hyperlegible"/>
                <a:cs typeface="Atkinson Hyperlegible"/>
                <a:sym typeface="Atkinson Hyperlegible"/>
              </a:rPr>
              <a:t>cdut</a:t>
            </a:r>
            <a:r>
              <a:rPr lang="en-US" sz="3400" dirty="0">
                <a:solidFill>
                  <a:srgbClr val="000000"/>
                </a:solidFill>
                <a:latin typeface="Atkinson Hyperlegible"/>
                <a:ea typeface="Atkinson Hyperlegible"/>
                <a:cs typeface="Atkinson Hyperlegible"/>
                <a:sym typeface="Atkinson Hyperlegible"/>
              </a:rPr>
              <a:t>\Scripts\activate # Windows</a:t>
            </a:r>
          </a:p>
          <a:p>
            <a:pPr algn="l">
              <a:lnSpc>
                <a:spcPts val="3295"/>
              </a:lnSpc>
            </a:pPr>
            <a:endParaRPr lang="en-US" sz="3400" dirty="0">
              <a:solidFill>
                <a:srgbClr val="000000"/>
              </a:solidFill>
              <a:latin typeface="Antic"/>
              <a:ea typeface="Antic"/>
              <a:cs typeface="Antic"/>
              <a:sym typeface="Antic"/>
            </a:endParaRPr>
          </a:p>
          <a:p>
            <a:pPr algn="l">
              <a:lnSpc>
                <a:spcPts val="4420"/>
              </a:lnSpc>
              <a:spcBef>
                <a:spcPct val="0"/>
              </a:spcBef>
            </a:pPr>
            <a:endParaRPr lang="en-US" sz="3400" dirty="0">
              <a:solidFill>
                <a:srgbClr val="000000"/>
              </a:solidFill>
              <a:latin typeface="Antic"/>
              <a:ea typeface="Antic"/>
              <a:cs typeface="Antic"/>
              <a:sym typeface="Antic"/>
            </a:endParaRPr>
          </a:p>
          <a:p>
            <a:pPr algn="l">
              <a:lnSpc>
                <a:spcPts val="3365"/>
              </a:lnSpc>
            </a:pPr>
            <a:r>
              <a:rPr lang="en-US" sz="3400" b="1" dirty="0">
                <a:solidFill>
                  <a:srgbClr val="000000"/>
                </a:solidFill>
                <a:latin typeface="Atkinson Hyperlegible Bold"/>
                <a:ea typeface="Atkinson Hyperlegible Bold"/>
                <a:cs typeface="Atkinson Hyperlegible Bold"/>
                <a:sym typeface="Atkinson Hyperlegible Bold"/>
              </a:rPr>
              <a:t>Using conda:</a:t>
            </a:r>
          </a:p>
          <a:p>
            <a:pPr algn="l">
              <a:lnSpc>
                <a:spcPts val="3365"/>
              </a:lnSpc>
            </a:pPr>
            <a:endParaRPr lang="en-US" sz="3400" b="1" dirty="0">
              <a:solidFill>
                <a:srgbClr val="000000"/>
              </a:solidFill>
              <a:latin typeface="Atkinson Hyperlegible Bold"/>
              <a:ea typeface="Atkinson Hyperlegible Bold"/>
              <a:cs typeface="Atkinson Hyperlegible Bold"/>
              <a:sym typeface="Atkinson Hyperlegible Bold"/>
            </a:endParaRPr>
          </a:p>
          <a:p>
            <a:pPr algn="l">
              <a:lnSpc>
                <a:spcPts val="3365"/>
              </a:lnSpc>
            </a:pPr>
            <a:r>
              <a:rPr lang="en-US" sz="3400" dirty="0">
                <a:solidFill>
                  <a:srgbClr val="000000"/>
                </a:solidFill>
                <a:latin typeface="Antic"/>
                <a:ea typeface="Antic"/>
                <a:cs typeface="Antic"/>
                <a:sym typeface="Antic"/>
              </a:rPr>
              <a:t>conda create --name </a:t>
            </a:r>
            <a:r>
              <a:rPr lang="en-GB" altLang="en-US" sz="3400" dirty="0" err="1">
                <a:solidFill>
                  <a:srgbClr val="000000"/>
                </a:solidFill>
                <a:latin typeface="Antic"/>
                <a:ea typeface="Antic"/>
                <a:cs typeface="Antic"/>
                <a:sym typeface="Antic"/>
              </a:rPr>
              <a:t>cdu</a:t>
            </a:r>
            <a:r>
              <a:rPr lang="en-US" sz="3400" dirty="0">
                <a:solidFill>
                  <a:srgbClr val="000000"/>
                </a:solidFill>
                <a:latin typeface="Antic"/>
                <a:ea typeface="Antic"/>
                <a:cs typeface="Antic"/>
                <a:sym typeface="Antic"/>
              </a:rPr>
              <a:t>t python=3.11</a:t>
            </a:r>
          </a:p>
          <a:p>
            <a:pPr algn="l">
              <a:lnSpc>
                <a:spcPts val="4420"/>
              </a:lnSpc>
              <a:spcBef>
                <a:spcPct val="0"/>
              </a:spcBef>
            </a:pPr>
            <a:r>
              <a:rPr lang="en-US" sz="3400" dirty="0">
                <a:solidFill>
                  <a:srgbClr val="000000"/>
                </a:solidFill>
                <a:latin typeface="Antic"/>
                <a:ea typeface="Antic"/>
                <a:cs typeface="Antic"/>
                <a:sym typeface="Antic"/>
              </a:rPr>
              <a:t>conda activate </a:t>
            </a:r>
            <a:r>
              <a:rPr lang="en-GB" altLang="en-US" sz="3400" dirty="0" err="1">
                <a:solidFill>
                  <a:srgbClr val="000000"/>
                </a:solidFill>
                <a:latin typeface="Antic"/>
                <a:ea typeface="Antic"/>
                <a:cs typeface="Antic"/>
                <a:sym typeface="Antic"/>
              </a:rPr>
              <a:t>cdut</a:t>
            </a:r>
            <a:endParaRPr lang="en-GB" altLang="en-US" sz="3400" dirty="0">
              <a:solidFill>
                <a:srgbClr val="000000"/>
              </a:solidFill>
              <a:latin typeface="Antic"/>
              <a:ea typeface="Antic"/>
              <a:cs typeface="Antic"/>
              <a:sym typeface="Antic"/>
            </a:endParaRPr>
          </a:p>
        </p:txBody>
      </p:sp>
      <p:sp>
        <p:nvSpPr>
          <p:cNvPr id="7" name="Freeform 7"/>
          <p:cNvSpPr/>
          <p:nvPr/>
        </p:nvSpPr>
        <p:spPr>
          <a:xfrm>
            <a:off x="15761819" y="7760819"/>
            <a:ext cx="2526181" cy="2526181"/>
          </a:xfrm>
          <a:custGeom>
            <a:avLst/>
            <a:gdLst/>
            <a:ahLst/>
            <a:cxnLst/>
            <a:rect l="l" t="t" r="r" b="b"/>
            <a:pathLst>
              <a:path w="2526181" h="2526181">
                <a:moveTo>
                  <a:pt x="0" y="0"/>
                </a:moveTo>
                <a:lnTo>
                  <a:pt x="2526181" y="0"/>
                </a:lnTo>
                <a:lnTo>
                  <a:pt x="2526181" y="2526181"/>
                </a:lnTo>
                <a:lnTo>
                  <a:pt x="0" y="25261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Freeform 8"/>
          <p:cNvSpPr/>
          <p:nvPr/>
        </p:nvSpPr>
        <p:spPr>
          <a:xfrm>
            <a:off x="15874909" y="7864384"/>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10"/>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flipH="1" flipV="1">
            <a:off x="12562731" y="0"/>
            <a:ext cx="10081260" cy="10287000"/>
          </a:xfrm>
          <a:custGeom>
            <a:avLst/>
            <a:gdLst/>
            <a:ahLst/>
            <a:cxnLst/>
            <a:rect l="l" t="t" r="r" b="b"/>
            <a:pathLst>
              <a:path w="10081260" h="10287000">
                <a:moveTo>
                  <a:pt x="10081260" y="10287000"/>
                </a:moveTo>
                <a:lnTo>
                  <a:pt x="0" y="10287000"/>
                </a:lnTo>
                <a:lnTo>
                  <a:pt x="0" y="0"/>
                </a:lnTo>
                <a:lnTo>
                  <a:pt x="10081260" y="0"/>
                </a:lnTo>
                <a:lnTo>
                  <a:pt x="10081260" y="1028700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a:off x="9144000" y="7610356"/>
            <a:ext cx="3905250" cy="2151438"/>
          </a:xfrm>
          <a:custGeom>
            <a:avLst/>
            <a:gdLst/>
            <a:ahLst/>
            <a:cxnLst/>
            <a:rect l="l" t="t" r="r" b="b"/>
            <a:pathLst>
              <a:path w="3905250" h="2151438">
                <a:moveTo>
                  <a:pt x="3905250" y="0"/>
                </a:moveTo>
                <a:lnTo>
                  <a:pt x="0" y="0"/>
                </a:lnTo>
                <a:lnTo>
                  <a:pt x="0" y="2151437"/>
                </a:lnTo>
                <a:lnTo>
                  <a:pt x="3905250" y="2151437"/>
                </a:lnTo>
                <a:lnTo>
                  <a:pt x="390525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16477037" y="591235"/>
            <a:ext cx="3156005" cy="3156005"/>
          </a:xfrm>
          <a:custGeom>
            <a:avLst/>
            <a:gdLst/>
            <a:ahLst/>
            <a:cxnLst/>
            <a:rect l="l" t="t" r="r" b="b"/>
            <a:pathLst>
              <a:path w="3156005" h="3156005">
                <a:moveTo>
                  <a:pt x="0" y="0"/>
                </a:moveTo>
                <a:lnTo>
                  <a:pt x="3156005" y="0"/>
                </a:lnTo>
                <a:lnTo>
                  <a:pt x="3156005" y="3156005"/>
                </a:lnTo>
                <a:lnTo>
                  <a:pt x="0" y="315600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a:off x="11357578" y="2363970"/>
            <a:ext cx="873451" cy="1496567"/>
          </a:xfrm>
          <a:custGeom>
            <a:avLst/>
            <a:gdLst/>
            <a:ahLst/>
            <a:cxnLst/>
            <a:rect l="l" t="t" r="r" b="b"/>
            <a:pathLst>
              <a:path w="873451" h="1496567">
                <a:moveTo>
                  <a:pt x="0" y="0"/>
                </a:moveTo>
                <a:lnTo>
                  <a:pt x="873451" y="0"/>
                </a:lnTo>
                <a:lnTo>
                  <a:pt x="873451" y="1496566"/>
                </a:lnTo>
                <a:lnTo>
                  <a:pt x="0" y="149656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grpSp>
        <p:nvGrpSpPr>
          <p:cNvPr id="6" name="Group 6"/>
          <p:cNvGrpSpPr/>
          <p:nvPr/>
        </p:nvGrpSpPr>
        <p:grpSpPr>
          <a:xfrm>
            <a:off x="853623" y="591406"/>
            <a:ext cx="16374745" cy="8696960"/>
            <a:chOff x="0" y="76200"/>
            <a:chExt cx="21832994" cy="11595946"/>
          </a:xfrm>
        </p:grpSpPr>
        <p:sp>
          <p:nvSpPr>
            <p:cNvPr id="7" name="TextBox 7"/>
            <p:cNvSpPr txBox="1"/>
            <p:nvPr/>
          </p:nvSpPr>
          <p:spPr>
            <a:xfrm>
              <a:off x="0" y="76200"/>
              <a:ext cx="21182255" cy="1462193"/>
            </a:xfrm>
            <a:prstGeom prst="rect">
              <a:avLst/>
            </a:prstGeom>
          </p:spPr>
          <p:txBody>
            <a:bodyPr lIns="0" tIns="0" rIns="0" bIns="0" rtlCol="0" anchor="t">
              <a:spAutoFit/>
            </a:bodyPr>
            <a:lstStyle/>
            <a:p>
              <a:pPr marL="0" lvl="0" indent="0" algn="l">
                <a:lnSpc>
                  <a:spcPts val="8360"/>
                </a:lnSpc>
              </a:pPr>
              <a:r>
                <a:rPr lang="en-US" sz="7600" b="1">
                  <a:solidFill>
                    <a:srgbClr val="000000"/>
                  </a:solidFill>
                  <a:latin typeface="Atkinson Hyperlegible Bold"/>
                  <a:ea typeface="Atkinson Hyperlegible Bold"/>
                  <a:cs typeface="Atkinson Hyperlegible Bold"/>
                  <a:sym typeface="Atkinson Hyperlegible Bold"/>
                </a:rPr>
                <a:t>Essential Python Libraries for AI</a:t>
              </a:r>
            </a:p>
          </p:txBody>
        </p:sp>
        <p:sp>
          <p:nvSpPr>
            <p:cNvPr id="8" name="TextBox 8"/>
            <p:cNvSpPr txBox="1"/>
            <p:nvPr/>
          </p:nvSpPr>
          <p:spPr>
            <a:xfrm>
              <a:off x="0" y="3362113"/>
              <a:ext cx="21832994" cy="8310033"/>
            </a:xfrm>
            <a:prstGeom prst="rect">
              <a:avLst/>
            </a:prstGeom>
          </p:spPr>
          <p:txBody>
            <a:bodyPr wrap="square" lIns="0" tIns="0" rIns="0" bIns="0" rtlCol="0" anchor="t">
              <a:spAutoFit/>
            </a:bodyPr>
            <a:lstStyle/>
            <a:p>
              <a:pPr marL="777240" lvl="1" indent="-388620" algn="l">
                <a:lnSpc>
                  <a:spcPts val="5400"/>
                </a:lnSpc>
                <a:buFont typeface="Arial" panose="020B0604020202020204"/>
                <a:buChar char="•"/>
              </a:pPr>
              <a:r>
                <a:rPr lang="en-US" sz="3600" dirty="0">
                  <a:solidFill>
                    <a:srgbClr val="000000"/>
                  </a:solidFill>
                  <a:latin typeface="Atkinson Hyperlegible"/>
                  <a:ea typeface="Atkinson Hyperlegible"/>
                  <a:cs typeface="Atkinson Hyperlegible"/>
                  <a:sym typeface="Atkinson Hyperlegible"/>
                </a:rPr>
                <a:t>Numpy - for numerical computing</a:t>
              </a:r>
            </a:p>
            <a:p>
              <a:pPr marL="777240" lvl="1" indent="-388620" algn="l">
                <a:lnSpc>
                  <a:spcPts val="5400"/>
                </a:lnSpc>
                <a:buFont typeface="Arial" panose="020B0604020202020204"/>
                <a:buChar char="•"/>
              </a:pPr>
              <a:r>
                <a:rPr lang="en-US" sz="3600" dirty="0">
                  <a:solidFill>
                    <a:srgbClr val="000000"/>
                  </a:solidFill>
                  <a:latin typeface="Atkinson Hyperlegible"/>
                  <a:ea typeface="Atkinson Hyperlegible"/>
                  <a:cs typeface="Atkinson Hyperlegible"/>
                  <a:sym typeface="Atkinson Hyperlegible"/>
                </a:rPr>
                <a:t>Pandas - for data manipulation and analysis</a:t>
              </a:r>
            </a:p>
            <a:p>
              <a:pPr marL="777240" lvl="1" indent="-388620" algn="l">
                <a:lnSpc>
                  <a:spcPts val="5400"/>
                </a:lnSpc>
                <a:buFont typeface="Arial" panose="020B0604020202020204"/>
                <a:buChar char="•"/>
              </a:pPr>
              <a:r>
                <a:rPr lang="en-US" sz="3600" dirty="0">
                  <a:solidFill>
                    <a:srgbClr val="000000"/>
                  </a:solidFill>
                  <a:latin typeface="Atkinson Hyperlegible"/>
                  <a:ea typeface="Atkinson Hyperlegible"/>
                  <a:cs typeface="Atkinson Hyperlegible"/>
                  <a:sym typeface="Atkinson Hyperlegible"/>
                </a:rPr>
                <a:t>Matplotlib - for plotting graphs for data visualization and exploratory analysis</a:t>
              </a:r>
            </a:p>
            <a:p>
              <a:pPr marL="777240" lvl="1" indent="-388620" algn="l">
                <a:lnSpc>
                  <a:spcPts val="5400"/>
                </a:lnSpc>
                <a:buFont typeface="Arial" panose="020B0604020202020204"/>
                <a:buChar char="•"/>
              </a:pPr>
              <a:r>
                <a:rPr lang="en-US" sz="3600" dirty="0">
                  <a:solidFill>
                    <a:srgbClr val="000000"/>
                  </a:solidFill>
                  <a:latin typeface="Atkinson Hyperlegible"/>
                  <a:ea typeface="Atkinson Hyperlegible"/>
                  <a:cs typeface="Atkinson Hyperlegible"/>
                  <a:sym typeface="Atkinson Hyperlegible"/>
                </a:rPr>
                <a:t>Seaborn - simplifies statistical visualizations</a:t>
              </a:r>
            </a:p>
            <a:p>
              <a:pPr marL="777240" lvl="1" indent="-388620" algn="l">
                <a:lnSpc>
                  <a:spcPts val="5400"/>
                </a:lnSpc>
                <a:buFont typeface="Arial" panose="020B0604020202020204"/>
                <a:buChar char="•"/>
              </a:pPr>
              <a:r>
                <a:rPr lang="en-US" sz="3600" dirty="0">
                  <a:solidFill>
                    <a:srgbClr val="000000"/>
                  </a:solidFill>
                  <a:latin typeface="Atkinson Hyperlegible"/>
                  <a:ea typeface="Atkinson Hyperlegible"/>
                  <a:cs typeface="Atkinson Hyperlegible"/>
                  <a:sym typeface="Atkinson Hyperlegible"/>
                </a:rPr>
                <a:t>Scikit-learn - ML toolkit for classification, regression and clustering tasks</a:t>
              </a:r>
            </a:p>
            <a:p>
              <a:pPr marL="777240" lvl="1" indent="-388620" algn="l">
                <a:lnSpc>
                  <a:spcPts val="5400"/>
                </a:lnSpc>
                <a:buFont typeface="Arial" panose="020B0604020202020204"/>
                <a:buChar char="•"/>
              </a:pPr>
              <a:r>
                <a:rPr lang="en-US" sz="3600" dirty="0" err="1">
                  <a:solidFill>
                    <a:srgbClr val="000000"/>
                  </a:solidFill>
                  <a:latin typeface="Atkinson Hyperlegible"/>
                  <a:ea typeface="Atkinson Hyperlegible"/>
                  <a:cs typeface="Atkinson Hyperlegible"/>
                  <a:sym typeface="Atkinson Hyperlegible"/>
                </a:rPr>
                <a:t>JupyterLab</a:t>
              </a:r>
              <a:r>
                <a:rPr lang="en-US" sz="3600" dirty="0">
                  <a:solidFill>
                    <a:srgbClr val="000000"/>
                  </a:solidFill>
                  <a:latin typeface="Atkinson Hyperlegible"/>
                  <a:ea typeface="Atkinson Hyperlegible"/>
                  <a:cs typeface="Atkinson Hyperlegible"/>
                  <a:sym typeface="Atkinson Hyperlegible"/>
                </a:rPr>
                <a:t> - IDE for live code, visualization and documentation</a:t>
              </a:r>
            </a:p>
            <a:p>
              <a:pPr marL="777240" lvl="1" indent="-388620" algn="l">
                <a:lnSpc>
                  <a:spcPts val="5400"/>
                </a:lnSpc>
                <a:buFont typeface="Arial" panose="020B0604020202020204"/>
                <a:buChar char="•"/>
              </a:pPr>
              <a:r>
                <a:rPr lang="en-US" sz="3600" dirty="0">
                  <a:solidFill>
                    <a:srgbClr val="000000"/>
                  </a:solidFill>
                  <a:latin typeface="Atkinson Hyperlegible"/>
                  <a:ea typeface="Atkinson Hyperlegible"/>
                  <a:cs typeface="Atkinson Hyperlegible"/>
                  <a:sym typeface="Atkinson Hyperlegible"/>
                </a:rPr>
                <a:t>Streamlit - commonly used for building AI dashboards</a:t>
              </a:r>
            </a:p>
            <a:p>
              <a:pPr marL="777240" lvl="1" indent="-388620" algn="l">
                <a:lnSpc>
                  <a:spcPts val="5400"/>
                </a:lnSpc>
                <a:buFont typeface="Arial" panose="020B0604020202020204"/>
                <a:buChar char="•"/>
              </a:pPr>
              <a:r>
                <a:rPr lang="en-US" sz="3600" dirty="0">
                  <a:solidFill>
                    <a:srgbClr val="000000"/>
                  </a:solidFill>
                  <a:latin typeface="Atkinson Hyperlegible"/>
                  <a:ea typeface="Atkinson Hyperlegible"/>
                  <a:cs typeface="Atkinson Hyperlegible"/>
                  <a:sym typeface="Atkinson Hyperlegible"/>
                </a:rPr>
                <a:t>Supabase - open source Firebase alternative</a:t>
              </a:r>
              <a:r>
                <a:rPr lang="en-GB" altLang="en-US" sz="3600" dirty="0">
                  <a:solidFill>
                    <a:srgbClr val="000000"/>
                  </a:solidFill>
                  <a:latin typeface="Atkinson Hyperlegible"/>
                  <a:ea typeface="Atkinson Hyperlegible"/>
                  <a:cs typeface="Atkinson Hyperlegible"/>
                  <a:sym typeface="Atkinson Hyperlegible"/>
                </a:rPr>
                <a:t>. It is used for </a:t>
              </a:r>
              <a:r>
                <a:rPr lang="en-US" altLang="en-US" sz="3600" dirty="0">
                  <a:solidFill>
                    <a:srgbClr val="000000"/>
                  </a:solidFill>
                  <a:latin typeface="Atkinson Hyperlegible"/>
                  <a:ea typeface="Atkinson Hyperlegible"/>
                  <a:cs typeface="Atkinson Hyperlegible"/>
                  <a:sym typeface="Atkinson Hyperlegible"/>
                </a:rPr>
                <a:t>data storage, authentication, </a:t>
              </a:r>
              <a:r>
                <a:rPr lang="en-US" altLang="en-US" sz="3600" dirty="0" err="1">
                  <a:solidFill>
                    <a:srgbClr val="000000"/>
                  </a:solidFill>
                  <a:latin typeface="Atkinson Hyperlegible"/>
                  <a:ea typeface="Atkinson Hyperlegible"/>
                  <a:cs typeface="Atkinson Hyperlegible"/>
                  <a:sym typeface="Atkinson Hyperlegible"/>
                </a:rPr>
                <a:t>realtime</a:t>
              </a:r>
              <a:r>
                <a:rPr lang="en-US" altLang="en-US" sz="3600" dirty="0">
                  <a:solidFill>
                    <a:srgbClr val="000000"/>
                  </a:solidFill>
                  <a:latin typeface="Atkinson Hyperlegible"/>
                  <a:ea typeface="Atkinson Hyperlegible"/>
                  <a:cs typeface="Atkinson Hyperlegible"/>
                  <a:sym typeface="Atkinson Hyperlegible"/>
                </a:rPr>
                <a:t> APIs, user management.</a:t>
              </a:r>
            </a:p>
          </p:txBody>
        </p:sp>
        <p:sp>
          <p:nvSpPr>
            <p:cNvPr id="9" name="TextBox 9"/>
            <p:cNvSpPr txBox="1"/>
            <p:nvPr/>
          </p:nvSpPr>
          <p:spPr>
            <a:xfrm>
              <a:off x="492760" y="2038773"/>
              <a:ext cx="21259800" cy="1107440"/>
            </a:xfrm>
            <a:prstGeom prst="rect">
              <a:avLst/>
            </a:prstGeom>
          </p:spPr>
          <p:txBody>
            <a:bodyPr wrap="square" lIns="0" tIns="0" rIns="0" bIns="0" rtlCol="0" anchor="t">
              <a:spAutoFit/>
            </a:bodyPr>
            <a:lstStyle/>
            <a:p>
              <a:pPr marL="0" lvl="0" indent="0" algn="l">
                <a:lnSpc>
                  <a:spcPts val="3240"/>
                </a:lnSpc>
              </a:pPr>
              <a:r>
                <a:rPr lang="en-US" sz="2800">
                  <a:solidFill>
                    <a:srgbClr val="000000"/>
                  </a:solidFill>
                  <a:latin typeface="Atkinson Hyperlegible"/>
                  <a:ea typeface="Atkinson Hyperlegible"/>
                  <a:cs typeface="Atkinson Hyperlegible"/>
                  <a:sym typeface="Atkinson Hyperlegible"/>
                </a:rPr>
                <a:t>These libraries form the backbone of AI workflows, each handling a distinct part of development pipeline</a:t>
              </a:r>
            </a:p>
          </p:txBody>
        </p:sp>
      </p:grpSp>
      <p:sp>
        <p:nvSpPr>
          <p:cNvPr id="10" name="Freeform 10"/>
          <p:cNvSpPr/>
          <p:nvPr/>
        </p:nvSpPr>
        <p:spPr>
          <a:xfrm>
            <a:off x="16660495" y="8629650"/>
            <a:ext cx="1812925" cy="180467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10"/>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flipH="1" flipV="1">
            <a:off x="11794303" y="0"/>
            <a:ext cx="10081260" cy="10287000"/>
          </a:xfrm>
          <a:custGeom>
            <a:avLst/>
            <a:gdLst/>
            <a:ahLst/>
            <a:cxnLst/>
            <a:rect l="l" t="t" r="r" b="b"/>
            <a:pathLst>
              <a:path w="10081260" h="10287000">
                <a:moveTo>
                  <a:pt x="10081260" y="10287000"/>
                </a:moveTo>
                <a:lnTo>
                  <a:pt x="0" y="10287000"/>
                </a:lnTo>
                <a:lnTo>
                  <a:pt x="0" y="0"/>
                </a:lnTo>
                <a:lnTo>
                  <a:pt x="10081260" y="0"/>
                </a:lnTo>
                <a:lnTo>
                  <a:pt x="10081260" y="1028700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a:off x="9144000" y="7610356"/>
            <a:ext cx="3905250" cy="2151438"/>
          </a:xfrm>
          <a:custGeom>
            <a:avLst/>
            <a:gdLst/>
            <a:ahLst/>
            <a:cxnLst/>
            <a:rect l="l" t="t" r="r" b="b"/>
            <a:pathLst>
              <a:path w="3905250" h="2151438">
                <a:moveTo>
                  <a:pt x="3905250" y="0"/>
                </a:moveTo>
                <a:lnTo>
                  <a:pt x="0" y="0"/>
                </a:lnTo>
                <a:lnTo>
                  <a:pt x="0" y="2151437"/>
                </a:lnTo>
                <a:lnTo>
                  <a:pt x="3905250" y="2151437"/>
                </a:lnTo>
                <a:lnTo>
                  <a:pt x="390525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10009569" y="4316564"/>
            <a:ext cx="12170145" cy="8117763"/>
            <a:chOff x="0" y="0"/>
            <a:chExt cx="4959806" cy="3308303"/>
          </a:xfrm>
        </p:grpSpPr>
        <p:sp>
          <p:nvSpPr>
            <p:cNvPr id="5" name="Freeform 5"/>
            <p:cNvSpPr/>
            <p:nvPr/>
          </p:nvSpPr>
          <p:spPr>
            <a:xfrm>
              <a:off x="0" y="0"/>
              <a:ext cx="4959805" cy="3308303"/>
            </a:xfrm>
            <a:custGeom>
              <a:avLst/>
              <a:gdLst/>
              <a:ahLst/>
              <a:cxnLst/>
              <a:rect l="l" t="t" r="r" b="b"/>
              <a:pathLst>
                <a:path w="4959805" h="3308303">
                  <a:moveTo>
                    <a:pt x="4959805" y="3308303"/>
                  </a:moveTo>
                  <a:lnTo>
                    <a:pt x="0" y="3308303"/>
                  </a:lnTo>
                  <a:cubicBezTo>
                    <a:pt x="0" y="1480727"/>
                    <a:pt x="2219905" y="0"/>
                    <a:pt x="4959805" y="0"/>
                  </a:cubicBezTo>
                  <a:lnTo>
                    <a:pt x="4959805" y="3308303"/>
                  </a:lnTo>
                  <a:close/>
                </a:path>
              </a:pathLst>
            </a:custGeom>
            <a:blipFill>
              <a:blip r:embed="rId6"/>
              <a:stretch>
                <a:fillRect l="-26" r="-26"/>
              </a:stretch>
            </a:blipFill>
          </p:spPr>
        </p:sp>
      </p:grpSp>
      <p:sp>
        <p:nvSpPr>
          <p:cNvPr id="6" name="Freeform 6"/>
          <p:cNvSpPr/>
          <p:nvPr/>
        </p:nvSpPr>
        <p:spPr>
          <a:xfrm>
            <a:off x="-960475" y="8375445"/>
            <a:ext cx="3156005" cy="3156005"/>
          </a:xfrm>
          <a:custGeom>
            <a:avLst/>
            <a:gdLst/>
            <a:ahLst/>
            <a:cxnLst/>
            <a:rect l="l" t="t" r="r" b="b"/>
            <a:pathLst>
              <a:path w="3156005" h="3156005">
                <a:moveTo>
                  <a:pt x="0" y="0"/>
                </a:moveTo>
                <a:lnTo>
                  <a:pt x="3156005" y="0"/>
                </a:lnTo>
                <a:lnTo>
                  <a:pt x="3156005" y="3156004"/>
                </a:lnTo>
                <a:lnTo>
                  <a:pt x="0" y="3156004"/>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7" name="Freeform 7"/>
          <p:cNvSpPr/>
          <p:nvPr/>
        </p:nvSpPr>
        <p:spPr>
          <a:xfrm>
            <a:off x="11357578" y="2363970"/>
            <a:ext cx="873451" cy="1496567"/>
          </a:xfrm>
          <a:custGeom>
            <a:avLst/>
            <a:gdLst/>
            <a:ahLst/>
            <a:cxnLst/>
            <a:rect l="l" t="t" r="r" b="b"/>
            <a:pathLst>
              <a:path w="873451" h="1496567">
                <a:moveTo>
                  <a:pt x="0" y="0"/>
                </a:moveTo>
                <a:lnTo>
                  <a:pt x="873451" y="0"/>
                </a:lnTo>
                <a:lnTo>
                  <a:pt x="873451" y="1496566"/>
                </a:lnTo>
                <a:lnTo>
                  <a:pt x="0" y="1496566"/>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8" name="TextBox 8"/>
          <p:cNvSpPr txBox="1"/>
          <p:nvPr/>
        </p:nvSpPr>
        <p:spPr>
          <a:xfrm>
            <a:off x="827390" y="732542"/>
            <a:ext cx="12101739" cy="2312749"/>
          </a:xfrm>
          <a:prstGeom prst="rect">
            <a:avLst/>
          </a:prstGeom>
        </p:spPr>
        <p:txBody>
          <a:bodyPr lIns="0" tIns="0" rIns="0" bIns="0" rtlCol="0" anchor="t">
            <a:spAutoFit/>
          </a:bodyPr>
          <a:lstStyle/>
          <a:p>
            <a:pPr marL="0" lvl="0" indent="0" algn="just">
              <a:lnSpc>
                <a:spcPts val="8955"/>
              </a:lnSpc>
            </a:pPr>
            <a:r>
              <a:rPr lang="en-US" sz="8140" b="1" dirty="0">
                <a:solidFill>
                  <a:srgbClr val="000000"/>
                </a:solidFill>
                <a:latin typeface="Atkinson Hyperlegible Bold"/>
                <a:ea typeface="Atkinson Hyperlegible Bold"/>
                <a:cs typeface="Atkinson Hyperlegible Bold"/>
                <a:sym typeface="Atkinson Hyperlegible Bold"/>
              </a:rPr>
              <a:t>Documentation Links for Key </a:t>
            </a:r>
            <a:r>
              <a:rPr lang="en-US" sz="8140" b="1" dirty="0" smtClean="0">
                <a:solidFill>
                  <a:srgbClr val="000000"/>
                </a:solidFill>
                <a:latin typeface="Atkinson Hyperlegible Bold"/>
                <a:ea typeface="Atkinson Hyperlegible Bold"/>
                <a:cs typeface="Atkinson Hyperlegible Bold"/>
                <a:sym typeface="Atkinson Hyperlegible Bold"/>
              </a:rPr>
              <a:t>Libraries</a:t>
            </a:r>
            <a:endParaRPr lang="en-US" sz="8140" b="1" dirty="0">
              <a:solidFill>
                <a:srgbClr val="000000"/>
              </a:solidFill>
              <a:latin typeface="Atkinson Hyperlegible Bold"/>
              <a:ea typeface="Atkinson Hyperlegible Bold"/>
              <a:cs typeface="Atkinson Hyperlegible Bold"/>
              <a:sym typeface="Atkinson Hyperlegible Bold"/>
            </a:endParaRPr>
          </a:p>
        </p:txBody>
      </p:sp>
      <p:sp>
        <p:nvSpPr>
          <p:cNvPr id="9" name="Freeform 9"/>
          <p:cNvSpPr/>
          <p:nvPr/>
        </p:nvSpPr>
        <p:spPr>
          <a:xfrm>
            <a:off x="15968950" y="-41526"/>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11"/>
            <a:stretch>
              <a:fillRect/>
            </a:stretch>
          </a:blipFill>
        </p:spPr>
      </p:sp>
      <p:sp>
        <p:nvSpPr>
          <p:cNvPr id="10" name="Rectangle 9"/>
          <p:cNvSpPr/>
          <p:nvPr/>
        </p:nvSpPr>
        <p:spPr>
          <a:xfrm>
            <a:off x="990600" y="2933700"/>
            <a:ext cx="11353800" cy="6010107"/>
          </a:xfrm>
          <a:prstGeom prst="rect">
            <a:avLst/>
          </a:prstGeom>
        </p:spPr>
        <p:txBody>
          <a:bodyPr wrap="square">
            <a:spAutoFit/>
          </a:bodyPr>
          <a:lstStyle/>
          <a:p>
            <a:pPr marL="570230" lvl="1" indent="-285115" algn="just">
              <a:lnSpc>
                <a:spcPct val="200000"/>
              </a:lnSpc>
              <a:buFont typeface="Arial" panose="020B0604020202020204"/>
              <a:buChar char="•"/>
            </a:pPr>
            <a:r>
              <a:rPr lang="en-US" sz="2800" dirty="0">
                <a:solidFill>
                  <a:srgbClr val="000000"/>
                </a:solidFill>
                <a:latin typeface="Atkinson Hyperlegible"/>
                <a:ea typeface="Atkinson Hyperlegible"/>
                <a:cs typeface="Atkinson Hyperlegible"/>
                <a:sym typeface="Atkinson Hyperlegible"/>
              </a:rPr>
              <a:t>NumPy: </a:t>
            </a:r>
            <a:r>
              <a:rPr lang="en-US" sz="2800" u="sng" dirty="0">
                <a:solidFill>
                  <a:srgbClr val="000000"/>
                </a:solidFill>
                <a:latin typeface="Atkinson Hyperlegible"/>
                <a:ea typeface="Atkinson Hyperlegible"/>
                <a:cs typeface="Atkinson Hyperlegible"/>
                <a:sym typeface="Atkinson Hyperlegible"/>
                <a:hlinkClick r:id="rId12" tooltip="https://numpy.org/doc/"/>
              </a:rPr>
              <a:t>https://numpy.org/doc/</a:t>
            </a:r>
            <a:endParaRPr lang="en-US" sz="2800" u="sng" dirty="0">
              <a:solidFill>
                <a:srgbClr val="000000"/>
              </a:solidFill>
              <a:latin typeface="Atkinson Hyperlegible"/>
              <a:ea typeface="Atkinson Hyperlegible"/>
              <a:cs typeface="Atkinson Hyperlegible"/>
              <a:sym typeface="Atkinson Hyperlegible"/>
            </a:endParaRPr>
          </a:p>
          <a:p>
            <a:pPr marL="570230" lvl="1" indent="-285115" algn="just">
              <a:lnSpc>
                <a:spcPct val="200000"/>
              </a:lnSpc>
              <a:buFont typeface="Arial" panose="020B0604020202020204"/>
              <a:buChar char="•"/>
            </a:pPr>
            <a:r>
              <a:rPr lang="en-US" sz="2800" dirty="0">
                <a:solidFill>
                  <a:srgbClr val="000000"/>
                </a:solidFill>
                <a:latin typeface="Atkinson Hyperlegible"/>
                <a:ea typeface="Atkinson Hyperlegible"/>
                <a:cs typeface="Atkinson Hyperlegible"/>
                <a:sym typeface="Atkinson Hyperlegible"/>
              </a:rPr>
              <a:t>Pandas: </a:t>
            </a:r>
            <a:r>
              <a:rPr lang="en-US" sz="2800" u="sng" dirty="0">
                <a:solidFill>
                  <a:srgbClr val="000000"/>
                </a:solidFill>
                <a:latin typeface="Atkinson Hyperlegible"/>
                <a:ea typeface="Atkinson Hyperlegible"/>
                <a:cs typeface="Atkinson Hyperlegible"/>
                <a:sym typeface="Atkinson Hyperlegible"/>
                <a:hlinkClick r:id="rId13" tooltip="https://pandas.pydata.org/docs/"/>
              </a:rPr>
              <a:t>https://pandas.pydata.org/docs/</a:t>
            </a:r>
            <a:endParaRPr lang="en-US" sz="2800" u="sng" dirty="0">
              <a:solidFill>
                <a:srgbClr val="000000"/>
              </a:solidFill>
              <a:latin typeface="Atkinson Hyperlegible"/>
              <a:ea typeface="Atkinson Hyperlegible"/>
              <a:cs typeface="Atkinson Hyperlegible"/>
              <a:sym typeface="Atkinson Hyperlegible"/>
            </a:endParaRPr>
          </a:p>
          <a:p>
            <a:pPr marL="570230" lvl="1" indent="-285115" algn="just">
              <a:lnSpc>
                <a:spcPct val="200000"/>
              </a:lnSpc>
              <a:buFont typeface="Arial" panose="020B0604020202020204"/>
              <a:buChar char="•"/>
            </a:pPr>
            <a:r>
              <a:rPr lang="en-US" sz="2800" dirty="0">
                <a:solidFill>
                  <a:srgbClr val="000000"/>
                </a:solidFill>
                <a:latin typeface="Atkinson Hyperlegible"/>
                <a:ea typeface="Atkinson Hyperlegible"/>
                <a:cs typeface="Atkinson Hyperlegible"/>
                <a:sym typeface="Atkinson Hyperlegible"/>
              </a:rPr>
              <a:t>Matplotlib: </a:t>
            </a:r>
            <a:r>
              <a:rPr lang="en-US" sz="2800" u="sng" dirty="0">
                <a:solidFill>
                  <a:srgbClr val="000000"/>
                </a:solidFill>
                <a:latin typeface="Atkinson Hyperlegible"/>
                <a:ea typeface="Atkinson Hyperlegible"/>
                <a:cs typeface="Atkinson Hyperlegible"/>
                <a:sym typeface="Atkinson Hyperlegible"/>
                <a:hlinkClick r:id="rId14" tooltip="https://matplotlib.org/stable/contents.html"/>
              </a:rPr>
              <a:t>https://matplotlib.org/stable/contents.html</a:t>
            </a:r>
            <a:endParaRPr lang="en-US" sz="2800" u="sng" dirty="0">
              <a:solidFill>
                <a:srgbClr val="000000"/>
              </a:solidFill>
              <a:latin typeface="Atkinson Hyperlegible"/>
              <a:ea typeface="Atkinson Hyperlegible"/>
              <a:cs typeface="Atkinson Hyperlegible"/>
              <a:sym typeface="Atkinson Hyperlegible"/>
            </a:endParaRPr>
          </a:p>
          <a:p>
            <a:pPr marL="570230" lvl="1" indent="-285115" algn="just">
              <a:lnSpc>
                <a:spcPct val="200000"/>
              </a:lnSpc>
              <a:buFont typeface="Arial" panose="020B0604020202020204"/>
              <a:buChar char="•"/>
            </a:pPr>
            <a:r>
              <a:rPr lang="en-US" sz="2800" dirty="0">
                <a:solidFill>
                  <a:srgbClr val="000000"/>
                </a:solidFill>
                <a:latin typeface="Atkinson Hyperlegible"/>
                <a:ea typeface="Atkinson Hyperlegible"/>
                <a:cs typeface="Atkinson Hyperlegible"/>
                <a:sym typeface="Atkinson Hyperlegible"/>
              </a:rPr>
              <a:t>Seaborn: </a:t>
            </a:r>
            <a:r>
              <a:rPr lang="en-US" sz="2800" u="sng" dirty="0">
                <a:solidFill>
                  <a:srgbClr val="000000"/>
                </a:solidFill>
                <a:latin typeface="Atkinson Hyperlegible"/>
                <a:ea typeface="Atkinson Hyperlegible"/>
                <a:cs typeface="Atkinson Hyperlegible"/>
                <a:sym typeface="Atkinson Hyperlegible"/>
                <a:hlinkClick r:id="rId15" tooltip="https://seaborn.pydata.org"/>
              </a:rPr>
              <a:t>https://seaborn.pydata.org/</a:t>
            </a:r>
            <a:endParaRPr lang="en-US" sz="2800" u="sng" dirty="0">
              <a:solidFill>
                <a:srgbClr val="000000"/>
              </a:solidFill>
              <a:latin typeface="Atkinson Hyperlegible"/>
              <a:ea typeface="Atkinson Hyperlegible"/>
              <a:cs typeface="Atkinson Hyperlegible"/>
              <a:sym typeface="Atkinson Hyperlegible"/>
            </a:endParaRPr>
          </a:p>
          <a:p>
            <a:pPr marL="570230" lvl="1" indent="-285115" algn="just">
              <a:lnSpc>
                <a:spcPct val="200000"/>
              </a:lnSpc>
              <a:buFont typeface="Arial" panose="020B0604020202020204"/>
              <a:buChar char="•"/>
            </a:pPr>
            <a:r>
              <a:rPr lang="en-US" sz="2800" dirty="0" smtClean="0">
                <a:solidFill>
                  <a:srgbClr val="000000"/>
                </a:solidFill>
                <a:latin typeface="Atkinson Hyperlegible"/>
                <a:ea typeface="Atkinson Hyperlegible"/>
                <a:cs typeface="Atkinson Hyperlegible"/>
                <a:sym typeface="Atkinson Hyperlegible"/>
              </a:rPr>
              <a:t>Scikit-learn: </a:t>
            </a:r>
            <a:r>
              <a:rPr lang="en-US" sz="2800" u="sng" dirty="0" smtClean="0">
                <a:solidFill>
                  <a:srgbClr val="000000"/>
                </a:solidFill>
                <a:latin typeface="Atkinson Hyperlegible"/>
                <a:ea typeface="Atkinson Hyperlegible"/>
                <a:cs typeface="Atkinson Hyperlegible"/>
                <a:sym typeface="Atkinson Hyperlegible"/>
                <a:hlinkClick r:id="rId16" tooltip="https://scikit-learn.org/stable/user_guide.html"/>
              </a:rPr>
              <a:t>https</a:t>
            </a:r>
            <a:r>
              <a:rPr lang="en-US" sz="2800" u="sng" dirty="0">
                <a:solidFill>
                  <a:srgbClr val="000000"/>
                </a:solidFill>
                <a:latin typeface="Atkinson Hyperlegible"/>
                <a:ea typeface="Atkinson Hyperlegible"/>
                <a:cs typeface="Atkinson Hyperlegible"/>
                <a:sym typeface="Atkinson Hyperlegible"/>
                <a:hlinkClick r:id="rId16" tooltip="https://scikit-learn.org/stable/user_guide.html"/>
              </a:rPr>
              <a:t>://scikit-learn.org/stable/user_guide.html</a:t>
            </a:r>
            <a:endParaRPr lang="en-US" sz="2800" u="sng" dirty="0">
              <a:solidFill>
                <a:srgbClr val="000000"/>
              </a:solidFill>
              <a:latin typeface="Atkinson Hyperlegible"/>
              <a:ea typeface="Atkinson Hyperlegible"/>
              <a:cs typeface="Atkinson Hyperlegible"/>
              <a:sym typeface="Atkinson Hyperlegible"/>
            </a:endParaRPr>
          </a:p>
          <a:p>
            <a:pPr marL="570230" lvl="1" indent="-285115" algn="just">
              <a:lnSpc>
                <a:spcPct val="200000"/>
              </a:lnSpc>
              <a:buFont typeface="Arial" panose="020B0604020202020204"/>
              <a:buChar char="•"/>
            </a:pPr>
            <a:r>
              <a:rPr lang="en-US" sz="2800" dirty="0">
                <a:solidFill>
                  <a:srgbClr val="000000"/>
                </a:solidFill>
                <a:latin typeface="Atkinson Hyperlegible"/>
                <a:ea typeface="Atkinson Hyperlegible"/>
                <a:cs typeface="Atkinson Hyperlegible"/>
                <a:sym typeface="Atkinson Hyperlegible"/>
              </a:rPr>
              <a:t>Streamlit: </a:t>
            </a:r>
            <a:r>
              <a:rPr lang="en-US" sz="2800" u="sng" dirty="0">
                <a:solidFill>
                  <a:srgbClr val="000000"/>
                </a:solidFill>
                <a:latin typeface="Atkinson Hyperlegible"/>
                <a:ea typeface="Atkinson Hyperlegible"/>
                <a:cs typeface="Atkinson Hyperlegible"/>
                <a:sym typeface="Atkinson Hyperlegible"/>
                <a:hlinkClick r:id="rId17" tooltip="https://docs.streamlit.io"/>
              </a:rPr>
              <a:t>https://docs.streamlit.io/</a:t>
            </a:r>
            <a:endParaRPr lang="en-US" sz="2800" u="sng" dirty="0">
              <a:solidFill>
                <a:srgbClr val="000000"/>
              </a:solidFill>
              <a:latin typeface="Atkinson Hyperlegible"/>
              <a:ea typeface="Atkinson Hyperlegible"/>
              <a:cs typeface="Atkinson Hyperlegible"/>
              <a:sym typeface="Atkinson Hyperlegible"/>
            </a:endParaRPr>
          </a:p>
          <a:p>
            <a:pPr marL="570230" lvl="1" indent="-285115" algn="just">
              <a:lnSpc>
                <a:spcPct val="200000"/>
              </a:lnSpc>
              <a:buFont typeface="Arial" panose="020B0604020202020204"/>
              <a:buChar char="•"/>
            </a:pPr>
            <a:r>
              <a:rPr lang="en-US" sz="2800" dirty="0">
                <a:solidFill>
                  <a:srgbClr val="000000"/>
                </a:solidFill>
                <a:latin typeface="Atkinson Hyperlegible"/>
                <a:ea typeface="Atkinson Hyperlegible"/>
                <a:cs typeface="Atkinson Hyperlegible"/>
                <a:sym typeface="Atkinson Hyperlegible"/>
              </a:rPr>
              <a:t>Supabase: </a:t>
            </a:r>
            <a:r>
              <a:rPr lang="en-US" sz="2800" u="sng" dirty="0">
                <a:solidFill>
                  <a:srgbClr val="000000"/>
                </a:solidFill>
                <a:latin typeface="Atkinson Hyperlegible"/>
                <a:ea typeface="Atkinson Hyperlegible"/>
                <a:cs typeface="Atkinson Hyperlegible"/>
                <a:sym typeface="Atkinson Hyperlegible"/>
                <a:hlinkClick r:id="rId18" tooltip="https://supabase.com/docs"/>
              </a:rPr>
              <a:t>https://supabase.com/docs</a:t>
            </a:r>
            <a:endParaRPr lang="en-US" sz="2800" u="sng" dirty="0">
              <a:solidFill>
                <a:srgbClr val="000000"/>
              </a:solidFill>
              <a:latin typeface="Atkinson Hyperlegible"/>
              <a:ea typeface="Atkinson Hyperlegible"/>
              <a:cs typeface="Atkinson Hyperlegible"/>
              <a:sym typeface="Atkinson Hyperlegible"/>
              <a:hlinkClick r:id="rId18" tooltip="https://supabase.com/do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13527159" y="2006889"/>
            <a:ext cx="8931664" cy="9113943"/>
          </a:xfrm>
          <a:custGeom>
            <a:avLst/>
            <a:gdLst/>
            <a:ahLst/>
            <a:cxnLst/>
            <a:rect l="l" t="t" r="r" b="b"/>
            <a:pathLst>
              <a:path w="8931664" h="9113943">
                <a:moveTo>
                  <a:pt x="8931664" y="9113943"/>
                </a:moveTo>
                <a:lnTo>
                  <a:pt x="0" y="9113943"/>
                </a:lnTo>
                <a:lnTo>
                  <a:pt x="0" y="0"/>
                </a:lnTo>
                <a:lnTo>
                  <a:pt x="8931664" y="0"/>
                </a:lnTo>
                <a:lnTo>
                  <a:pt x="8931664" y="9113943"/>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5358853" y="-6495664"/>
            <a:ext cx="6761467" cy="7763688"/>
          </a:xfrm>
          <a:custGeom>
            <a:avLst/>
            <a:gdLst/>
            <a:ahLst/>
            <a:cxnLst/>
            <a:rect l="l" t="t" r="r" b="b"/>
            <a:pathLst>
              <a:path w="6761467" h="7763688">
                <a:moveTo>
                  <a:pt x="0" y="0"/>
                </a:moveTo>
                <a:lnTo>
                  <a:pt x="6761466" y="0"/>
                </a:lnTo>
                <a:lnTo>
                  <a:pt x="6761466" y="7763688"/>
                </a:lnTo>
                <a:lnTo>
                  <a:pt x="0" y="7763688"/>
                </a:lnTo>
                <a:lnTo>
                  <a:pt x="0" y="0"/>
                </a:lnTo>
                <a:close/>
              </a:path>
            </a:pathLst>
          </a:custGeom>
          <a:blipFill>
            <a:blip r:embed="rId4">
              <a:alphaModFix amt="0"/>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17499545" y="535253"/>
            <a:ext cx="493447" cy="493447"/>
            <a:chOff x="0" y="0"/>
            <a:chExt cx="657929" cy="657929"/>
          </a:xfrm>
        </p:grpSpPr>
        <p:grpSp>
          <p:nvGrpSpPr>
            <p:cNvPr id="5" name="Group 5"/>
            <p:cNvGrpSpPr>
              <a:grpSpLocks noChangeAspect="1"/>
            </p:cNvGrpSpPr>
            <p:nvPr/>
          </p:nvGrpSpPr>
          <p:grpSpPr>
            <a:xfrm>
              <a:off x="0" y="0"/>
              <a:ext cx="657929" cy="657929"/>
              <a:chOff x="0" y="0"/>
              <a:chExt cx="6355080" cy="6355080"/>
            </a:xfrm>
          </p:grpSpPr>
          <p:sp>
            <p:nvSpPr>
              <p:cNvPr id="6" name="Freeform 6"/>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5B2E2"/>
              </a:solidFill>
            </p:spPr>
          </p:sp>
        </p:grpSp>
        <p:sp>
          <p:nvSpPr>
            <p:cNvPr id="7" name="Freeform 7"/>
            <p:cNvSpPr/>
            <p:nvPr/>
          </p:nvSpPr>
          <p:spPr>
            <a:xfrm rot="5400000">
              <a:off x="109655" y="109655"/>
              <a:ext cx="438619" cy="438619"/>
            </a:xfrm>
            <a:custGeom>
              <a:avLst/>
              <a:gdLst/>
              <a:ahLst/>
              <a:cxnLst/>
              <a:rect l="l" t="t" r="r" b="b"/>
              <a:pathLst>
                <a:path w="438619" h="438619">
                  <a:moveTo>
                    <a:pt x="0" y="0"/>
                  </a:moveTo>
                  <a:lnTo>
                    <a:pt x="438619" y="0"/>
                  </a:lnTo>
                  <a:lnTo>
                    <a:pt x="438619" y="438619"/>
                  </a:lnTo>
                  <a:lnTo>
                    <a:pt x="0" y="43861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sp>
        <p:nvSpPr>
          <p:cNvPr id="8" name="Freeform 8"/>
          <p:cNvSpPr/>
          <p:nvPr/>
        </p:nvSpPr>
        <p:spPr>
          <a:xfrm>
            <a:off x="-1336396" y="799883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9" name="Freeform 9"/>
          <p:cNvSpPr/>
          <p:nvPr/>
        </p:nvSpPr>
        <p:spPr>
          <a:xfrm rot="5400000" flipV="1">
            <a:off x="14091943" y="0"/>
            <a:ext cx="4196057" cy="4196057"/>
          </a:xfrm>
          <a:custGeom>
            <a:avLst/>
            <a:gdLst/>
            <a:ahLst/>
            <a:cxnLst/>
            <a:rect l="l" t="t" r="r" b="b"/>
            <a:pathLst>
              <a:path w="4196057" h="4196057">
                <a:moveTo>
                  <a:pt x="0" y="4196057"/>
                </a:moveTo>
                <a:lnTo>
                  <a:pt x="4196057" y="4196057"/>
                </a:lnTo>
                <a:lnTo>
                  <a:pt x="4196057" y="0"/>
                </a:lnTo>
                <a:lnTo>
                  <a:pt x="0" y="0"/>
                </a:lnTo>
                <a:lnTo>
                  <a:pt x="0" y="4196057"/>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0" name="Freeform 10"/>
          <p:cNvSpPr/>
          <p:nvPr/>
        </p:nvSpPr>
        <p:spPr>
          <a:xfrm rot="-1294314">
            <a:off x="12557134" y="9092417"/>
            <a:ext cx="1757772" cy="1672718"/>
          </a:xfrm>
          <a:custGeom>
            <a:avLst/>
            <a:gdLst/>
            <a:ahLst/>
            <a:cxnLst/>
            <a:rect l="l" t="t" r="r" b="b"/>
            <a:pathLst>
              <a:path w="1757772" h="1672718">
                <a:moveTo>
                  <a:pt x="0" y="0"/>
                </a:moveTo>
                <a:lnTo>
                  <a:pt x="1757772" y="0"/>
                </a:lnTo>
                <a:lnTo>
                  <a:pt x="1757772" y="1672718"/>
                </a:lnTo>
                <a:lnTo>
                  <a:pt x="0" y="1672718"/>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sp>
      <p:sp>
        <p:nvSpPr>
          <p:cNvPr id="11" name="Freeform 11"/>
          <p:cNvSpPr/>
          <p:nvPr/>
        </p:nvSpPr>
        <p:spPr>
          <a:xfrm rot="5400000" flipH="1" flipV="1">
            <a:off x="15787804" y="7786804"/>
            <a:ext cx="2500196" cy="2500196"/>
          </a:xfrm>
          <a:custGeom>
            <a:avLst/>
            <a:gdLst/>
            <a:ahLst/>
            <a:cxnLst/>
            <a:rect l="l" t="t" r="r" b="b"/>
            <a:pathLst>
              <a:path w="2500196" h="2500196">
                <a:moveTo>
                  <a:pt x="2500196" y="2500196"/>
                </a:moveTo>
                <a:lnTo>
                  <a:pt x="0" y="2500196"/>
                </a:lnTo>
                <a:lnTo>
                  <a:pt x="0" y="0"/>
                </a:lnTo>
                <a:lnTo>
                  <a:pt x="2500196" y="0"/>
                </a:lnTo>
                <a:lnTo>
                  <a:pt x="2500196" y="2500196"/>
                </a:lnTo>
                <a:close/>
              </a:path>
            </a:pathLst>
          </a:custGeom>
          <a:blipFill>
            <a:blip r:embed="rId14">
              <a:extLst>
                <a:ext uri="{96DAC541-7B7A-43D3-8B79-37D633B846F1}">
                  <asvg:svgBlip xmlns:asvg="http://schemas.microsoft.com/office/drawing/2016/SVG/main" xmlns="" r:embed="rId15"/>
                </a:ext>
              </a:extLst>
            </a:blip>
            <a:stretch>
              <a:fillRect/>
            </a:stretch>
          </a:blipFill>
        </p:spPr>
      </p:sp>
      <p:sp>
        <p:nvSpPr>
          <p:cNvPr id="12" name="Freeform 12"/>
          <p:cNvSpPr/>
          <p:nvPr/>
        </p:nvSpPr>
        <p:spPr>
          <a:xfrm>
            <a:off x="11593640" y="8882107"/>
            <a:ext cx="915819" cy="1174126"/>
          </a:xfrm>
          <a:custGeom>
            <a:avLst/>
            <a:gdLst/>
            <a:ahLst/>
            <a:cxnLst/>
            <a:rect l="l" t="t" r="r" b="b"/>
            <a:pathLst>
              <a:path w="915819" h="1174126">
                <a:moveTo>
                  <a:pt x="0" y="0"/>
                </a:moveTo>
                <a:lnTo>
                  <a:pt x="915819" y="0"/>
                </a:lnTo>
                <a:lnTo>
                  <a:pt x="915819" y="1174126"/>
                </a:lnTo>
                <a:lnTo>
                  <a:pt x="0" y="1174126"/>
                </a:lnTo>
                <a:lnTo>
                  <a:pt x="0" y="0"/>
                </a:lnTo>
                <a:close/>
              </a:path>
            </a:pathLst>
          </a:custGeom>
          <a:blipFill>
            <a:blip r:embed="rId16">
              <a:extLst>
                <a:ext uri="{96DAC541-7B7A-43D3-8B79-37D633B846F1}">
                  <asvg:svgBlip xmlns:asvg="http://schemas.microsoft.com/office/drawing/2016/SVG/main" xmlns="" r:embed="rId17"/>
                </a:ext>
              </a:extLst>
            </a:blip>
            <a:stretch>
              <a:fillRect/>
            </a:stretch>
          </a:blipFill>
        </p:spPr>
      </p:sp>
      <p:sp>
        <p:nvSpPr>
          <p:cNvPr id="14" name="TextBox 14"/>
          <p:cNvSpPr txBox="1"/>
          <p:nvPr/>
        </p:nvSpPr>
        <p:spPr>
          <a:xfrm>
            <a:off x="721004" y="1333500"/>
            <a:ext cx="13532149" cy="1200902"/>
          </a:xfrm>
          <a:prstGeom prst="rect">
            <a:avLst/>
          </a:prstGeom>
        </p:spPr>
        <p:txBody>
          <a:bodyPr lIns="0" tIns="0" rIns="0" bIns="0" rtlCol="0" anchor="t">
            <a:spAutoFit/>
          </a:bodyPr>
          <a:lstStyle/>
          <a:p>
            <a:pPr marL="0" lvl="0" indent="0" algn="l">
              <a:lnSpc>
                <a:spcPts val="9140"/>
              </a:lnSpc>
            </a:pPr>
            <a:r>
              <a:rPr lang="en-US" sz="8310" b="1" dirty="0">
                <a:solidFill>
                  <a:srgbClr val="000000"/>
                </a:solidFill>
                <a:latin typeface="Atkinson Hyperlegible Bold"/>
                <a:ea typeface="Atkinson Hyperlegible Bold"/>
                <a:cs typeface="Atkinson Hyperlegible Bold"/>
                <a:sym typeface="Atkinson Hyperlegible Bold"/>
              </a:rPr>
              <a:t>Day 1 Summary</a:t>
            </a:r>
          </a:p>
        </p:txBody>
      </p:sp>
      <p:sp>
        <p:nvSpPr>
          <p:cNvPr id="16" name="Freeform 16"/>
          <p:cNvSpPr/>
          <p:nvPr/>
        </p:nvSpPr>
        <p:spPr>
          <a:xfrm>
            <a:off x="15968950" y="44920"/>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18"/>
            <a:stretch>
              <a:fillRect/>
            </a:stretch>
          </a:blipFill>
        </p:spPr>
      </p:sp>
      <p:sp>
        <p:nvSpPr>
          <p:cNvPr id="18" name="TextBox 15"/>
          <p:cNvSpPr txBox="1"/>
          <p:nvPr/>
        </p:nvSpPr>
        <p:spPr>
          <a:xfrm>
            <a:off x="838200" y="2771789"/>
            <a:ext cx="12048474" cy="6265113"/>
          </a:xfrm>
          <a:prstGeom prst="rect">
            <a:avLst/>
          </a:prstGeom>
        </p:spPr>
        <p:txBody>
          <a:bodyPr wrap="square" lIns="0" tIns="0" rIns="0" bIns="0" rtlCol="0" anchor="t">
            <a:spAutoFit/>
          </a:bodyPr>
          <a:lstStyle/>
          <a:p>
            <a:pPr marL="760730" lvl="1" indent="-380365" algn="just">
              <a:lnSpc>
                <a:spcPct val="150000"/>
              </a:lnSpc>
              <a:buFont typeface="Arial" panose="020B0604020202020204"/>
              <a:buChar char="•"/>
            </a:pPr>
            <a:r>
              <a:rPr lang="en-US" sz="3525" dirty="0">
                <a:solidFill>
                  <a:srgbClr val="000000"/>
                </a:solidFill>
                <a:latin typeface="Atkinson Hyperlegible"/>
                <a:ea typeface="Atkinson Hyperlegible"/>
                <a:cs typeface="Atkinson Hyperlegible"/>
                <a:sym typeface="Atkinson Hyperlegible"/>
              </a:rPr>
              <a:t>Environment setup is the backbone of any AI workflow</a:t>
            </a:r>
          </a:p>
          <a:p>
            <a:pPr marL="760730" lvl="1" indent="-380365" algn="just">
              <a:lnSpc>
                <a:spcPct val="150000"/>
              </a:lnSpc>
              <a:buFont typeface="Arial" panose="020B0604020202020204"/>
              <a:buChar char="•"/>
            </a:pPr>
            <a:r>
              <a:rPr lang="en-US" sz="3525" dirty="0">
                <a:solidFill>
                  <a:srgbClr val="000000"/>
                </a:solidFill>
                <a:latin typeface="Atkinson Hyperlegible"/>
                <a:ea typeface="Atkinson Hyperlegible"/>
                <a:cs typeface="Atkinson Hyperlegible"/>
                <a:sym typeface="Atkinson Hyperlegible"/>
              </a:rPr>
              <a:t>Use virtual environments (</a:t>
            </a:r>
            <a:r>
              <a:rPr lang="en-US" sz="3525" dirty="0" err="1">
                <a:solidFill>
                  <a:srgbClr val="000000"/>
                </a:solidFill>
                <a:latin typeface="Atkinson Hyperlegible"/>
                <a:ea typeface="Atkinson Hyperlegible"/>
                <a:cs typeface="Atkinson Hyperlegible"/>
                <a:sym typeface="Atkinson Hyperlegible"/>
              </a:rPr>
              <a:t>venv</a:t>
            </a:r>
            <a:r>
              <a:rPr lang="en-US" sz="3525" dirty="0">
                <a:solidFill>
                  <a:srgbClr val="000000"/>
                </a:solidFill>
                <a:latin typeface="Atkinson Hyperlegible"/>
                <a:ea typeface="Atkinson Hyperlegible"/>
                <a:cs typeface="Atkinson Hyperlegible"/>
                <a:sym typeface="Atkinson Hyperlegible"/>
              </a:rPr>
              <a:t>, conda) to isolate and manage dependencies</a:t>
            </a:r>
          </a:p>
          <a:p>
            <a:pPr marL="760730" lvl="1" indent="-380365" algn="just">
              <a:lnSpc>
                <a:spcPct val="150000"/>
              </a:lnSpc>
              <a:buFont typeface="Arial" panose="020B0604020202020204"/>
              <a:buChar char="•"/>
            </a:pPr>
            <a:r>
              <a:rPr lang="en-US" sz="3525" dirty="0">
                <a:solidFill>
                  <a:srgbClr val="000000"/>
                </a:solidFill>
                <a:latin typeface="Atkinson Hyperlegible"/>
                <a:ea typeface="Atkinson Hyperlegible"/>
                <a:cs typeface="Atkinson Hyperlegible"/>
                <a:sym typeface="Atkinson Hyperlegible"/>
              </a:rPr>
              <a:t>Install libraries based on project needs (data processing</a:t>
            </a:r>
            <a:r>
              <a:rPr lang="en-GB" altLang="en-US" sz="3525" dirty="0">
                <a:solidFill>
                  <a:srgbClr val="000000"/>
                </a:solidFill>
                <a:latin typeface="Atkinson Hyperlegible"/>
                <a:ea typeface="Atkinson Hyperlegible"/>
                <a:cs typeface="Atkinson Hyperlegible"/>
                <a:sym typeface="Atkinson Hyperlegible"/>
              </a:rPr>
              <a:t> and ML</a:t>
            </a:r>
            <a:r>
              <a:rPr lang="en-US" sz="3525" dirty="0">
                <a:solidFill>
                  <a:srgbClr val="000000"/>
                </a:solidFill>
                <a:latin typeface="Atkinson Hyperlegible"/>
                <a:ea typeface="Atkinson Hyperlegible"/>
                <a:cs typeface="Atkinson Hyperlegible"/>
                <a:sym typeface="Atkinson Hyperlegible"/>
              </a:rPr>
              <a:t>)</a:t>
            </a:r>
          </a:p>
          <a:p>
            <a:pPr marL="760730" lvl="1" indent="-380365" algn="just">
              <a:lnSpc>
                <a:spcPct val="150000"/>
              </a:lnSpc>
              <a:buFont typeface="Arial" panose="020B0604020202020204"/>
              <a:buChar char="•"/>
            </a:pPr>
            <a:r>
              <a:rPr lang="en-US" sz="3525" dirty="0">
                <a:solidFill>
                  <a:srgbClr val="000000"/>
                </a:solidFill>
                <a:latin typeface="Atkinson Hyperlegible"/>
                <a:ea typeface="Atkinson Hyperlegible"/>
                <a:cs typeface="Atkinson Hyperlegible"/>
                <a:sym typeface="Atkinson Hyperlegible"/>
              </a:rPr>
              <a:t>Always document environments for collaboration and deployment</a:t>
            </a:r>
          </a:p>
          <a:p>
            <a:pPr algn="just">
              <a:lnSpc>
                <a:spcPts val="4580"/>
              </a:lnSpc>
            </a:pPr>
            <a:endParaRPr lang="en-US" sz="3525" dirty="0">
              <a:solidFill>
                <a:srgbClr val="000000"/>
              </a:solidFill>
              <a:latin typeface="Atkinson Hyperlegible"/>
              <a:ea typeface="Atkinson Hyperlegible"/>
              <a:cs typeface="Atkinson Hyperlegible"/>
              <a:sym typeface="Atkinson Hyperlegible"/>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13527159" y="2006889"/>
            <a:ext cx="8931664" cy="9113943"/>
          </a:xfrm>
          <a:custGeom>
            <a:avLst/>
            <a:gdLst/>
            <a:ahLst/>
            <a:cxnLst/>
            <a:rect l="l" t="t" r="r" b="b"/>
            <a:pathLst>
              <a:path w="8931664" h="9113943">
                <a:moveTo>
                  <a:pt x="8931664" y="9113943"/>
                </a:moveTo>
                <a:lnTo>
                  <a:pt x="0" y="9113943"/>
                </a:lnTo>
                <a:lnTo>
                  <a:pt x="0" y="0"/>
                </a:lnTo>
                <a:lnTo>
                  <a:pt x="8931664" y="0"/>
                </a:lnTo>
                <a:lnTo>
                  <a:pt x="8931664" y="9113943"/>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5358853" y="-6495664"/>
            <a:ext cx="6761467" cy="7763688"/>
          </a:xfrm>
          <a:custGeom>
            <a:avLst/>
            <a:gdLst/>
            <a:ahLst/>
            <a:cxnLst/>
            <a:rect l="l" t="t" r="r" b="b"/>
            <a:pathLst>
              <a:path w="6761467" h="7763688">
                <a:moveTo>
                  <a:pt x="0" y="0"/>
                </a:moveTo>
                <a:lnTo>
                  <a:pt x="6761466" y="0"/>
                </a:lnTo>
                <a:lnTo>
                  <a:pt x="6761466" y="7763688"/>
                </a:lnTo>
                <a:lnTo>
                  <a:pt x="0" y="7763688"/>
                </a:lnTo>
                <a:lnTo>
                  <a:pt x="0" y="0"/>
                </a:lnTo>
                <a:close/>
              </a:path>
            </a:pathLst>
          </a:custGeom>
          <a:blipFill>
            <a:blip r:embed="rId4">
              <a:alphaModFix amt="0"/>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17499545" y="535253"/>
            <a:ext cx="493447" cy="493447"/>
            <a:chOff x="0" y="0"/>
            <a:chExt cx="657929" cy="657929"/>
          </a:xfrm>
        </p:grpSpPr>
        <p:grpSp>
          <p:nvGrpSpPr>
            <p:cNvPr id="5" name="Group 5"/>
            <p:cNvGrpSpPr>
              <a:grpSpLocks noChangeAspect="1"/>
            </p:cNvGrpSpPr>
            <p:nvPr/>
          </p:nvGrpSpPr>
          <p:grpSpPr>
            <a:xfrm>
              <a:off x="0" y="0"/>
              <a:ext cx="657929" cy="657929"/>
              <a:chOff x="0" y="0"/>
              <a:chExt cx="6355080" cy="6355080"/>
            </a:xfrm>
          </p:grpSpPr>
          <p:sp>
            <p:nvSpPr>
              <p:cNvPr id="6" name="Freeform 6"/>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5B2E2"/>
              </a:solidFill>
            </p:spPr>
          </p:sp>
        </p:grpSp>
        <p:sp>
          <p:nvSpPr>
            <p:cNvPr id="7" name="Freeform 7"/>
            <p:cNvSpPr/>
            <p:nvPr/>
          </p:nvSpPr>
          <p:spPr>
            <a:xfrm rot="5400000">
              <a:off x="109655" y="109655"/>
              <a:ext cx="438619" cy="438619"/>
            </a:xfrm>
            <a:custGeom>
              <a:avLst/>
              <a:gdLst/>
              <a:ahLst/>
              <a:cxnLst/>
              <a:rect l="l" t="t" r="r" b="b"/>
              <a:pathLst>
                <a:path w="438619" h="438619">
                  <a:moveTo>
                    <a:pt x="0" y="0"/>
                  </a:moveTo>
                  <a:lnTo>
                    <a:pt x="438619" y="0"/>
                  </a:lnTo>
                  <a:lnTo>
                    <a:pt x="438619" y="438619"/>
                  </a:lnTo>
                  <a:lnTo>
                    <a:pt x="0" y="43861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sp>
        <p:nvSpPr>
          <p:cNvPr id="8" name="Freeform 8"/>
          <p:cNvSpPr/>
          <p:nvPr/>
        </p:nvSpPr>
        <p:spPr>
          <a:xfrm>
            <a:off x="-1336396" y="799883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9" name="Freeform 9"/>
          <p:cNvSpPr/>
          <p:nvPr/>
        </p:nvSpPr>
        <p:spPr>
          <a:xfrm rot="5400000" flipV="1">
            <a:off x="14091943" y="0"/>
            <a:ext cx="4196057" cy="4196057"/>
          </a:xfrm>
          <a:custGeom>
            <a:avLst/>
            <a:gdLst/>
            <a:ahLst/>
            <a:cxnLst/>
            <a:rect l="l" t="t" r="r" b="b"/>
            <a:pathLst>
              <a:path w="4196057" h="4196057">
                <a:moveTo>
                  <a:pt x="0" y="4196057"/>
                </a:moveTo>
                <a:lnTo>
                  <a:pt x="4196057" y="4196057"/>
                </a:lnTo>
                <a:lnTo>
                  <a:pt x="4196057" y="0"/>
                </a:lnTo>
                <a:lnTo>
                  <a:pt x="0" y="0"/>
                </a:lnTo>
                <a:lnTo>
                  <a:pt x="0" y="4196057"/>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0" name="Freeform 10"/>
          <p:cNvSpPr/>
          <p:nvPr/>
        </p:nvSpPr>
        <p:spPr>
          <a:xfrm rot="-1294314">
            <a:off x="12557134" y="9092417"/>
            <a:ext cx="1757772" cy="1672718"/>
          </a:xfrm>
          <a:custGeom>
            <a:avLst/>
            <a:gdLst/>
            <a:ahLst/>
            <a:cxnLst/>
            <a:rect l="l" t="t" r="r" b="b"/>
            <a:pathLst>
              <a:path w="1757772" h="1672718">
                <a:moveTo>
                  <a:pt x="0" y="0"/>
                </a:moveTo>
                <a:lnTo>
                  <a:pt x="1757772" y="0"/>
                </a:lnTo>
                <a:lnTo>
                  <a:pt x="1757772" y="1672718"/>
                </a:lnTo>
                <a:lnTo>
                  <a:pt x="0" y="1672718"/>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sp>
      <p:sp>
        <p:nvSpPr>
          <p:cNvPr id="11" name="Freeform 11"/>
          <p:cNvSpPr/>
          <p:nvPr/>
        </p:nvSpPr>
        <p:spPr>
          <a:xfrm rot="5400000" flipH="1" flipV="1">
            <a:off x="15787804" y="7786804"/>
            <a:ext cx="2500196" cy="2500196"/>
          </a:xfrm>
          <a:custGeom>
            <a:avLst/>
            <a:gdLst/>
            <a:ahLst/>
            <a:cxnLst/>
            <a:rect l="l" t="t" r="r" b="b"/>
            <a:pathLst>
              <a:path w="2500196" h="2500196">
                <a:moveTo>
                  <a:pt x="2500196" y="2500196"/>
                </a:moveTo>
                <a:lnTo>
                  <a:pt x="0" y="2500196"/>
                </a:lnTo>
                <a:lnTo>
                  <a:pt x="0" y="0"/>
                </a:lnTo>
                <a:lnTo>
                  <a:pt x="2500196" y="0"/>
                </a:lnTo>
                <a:lnTo>
                  <a:pt x="2500196" y="2500196"/>
                </a:lnTo>
                <a:close/>
              </a:path>
            </a:pathLst>
          </a:custGeom>
          <a:blipFill>
            <a:blip r:embed="rId14">
              <a:extLst>
                <a:ext uri="{96DAC541-7B7A-43D3-8B79-37D633B846F1}">
                  <asvg:svgBlip xmlns:asvg="http://schemas.microsoft.com/office/drawing/2016/SVG/main" xmlns="" r:embed="rId15"/>
                </a:ext>
              </a:extLst>
            </a:blip>
            <a:stretch>
              <a:fillRect/>
            </a:stretch>
          </a:blipFill>
        </p:spPr>
      </p:sp>
      <p:sp>
        <p:nvSpPr>
          <p:cNvPr id="12" name="Freeform 12"/>
          <p:cNvSpPr/>
          <p:nvPr/>
        </p:nvSpPr>
        <p:spPr>
          <a:xfrm>
            <a:off x="11593640" y="8882107"/>
            <a:ext cx="915819" cy="1174126"/>
          </a:xfrm>
          <a:custGeom>
            <a:avLst/>
            <a:gdLst/>
            <a:ahLst/>
            <a:cxnLst/>
            <a:rect l="l" t="t" r="r" b="b"/>
            <a:pathLst>
              <a:path w="915819" h="1174126">
                <a:moveTo>
                  <a:pt x="0" y="0"/>
                </a:moveTo>
                <a:lnTo>
                  <a:pt x="915819" y="0"/>
                </a:lnTo>
                <a:lnTo>
                  <a:pt x="915819" y="1174126"/>
                </a:lnTo>
                <a:lnTo>
                  <a:pt x="0" y="1174126"/>
                </a:lnTo>
                <a:lnTo>
                  <a:pt x="0" y="0"/>
                </a:lnTo>
                <a:close/>
              </a:path>
            </a:pathLst>
          </a:custGeom>
          <a:blipFill>
            <a:blip r:embed="rId16">
              <a:extLst>
                <a:ext uri="{96DAC541-7B7A-43D3-8B79-37D633B846F1}">
                  <asvg:svgBlip xmlns:asvg="http://schemas.microsoft.com/office/drawing/2016/SVG/main" xmlns="" r:embed="rId17"/>
                </a:ext>
              </a:extLst>
            </a:blip>
            <a:stretch>
              <a:fillRect/>
            </a:stretch>
          </a:blipFill>
        </p:spPr>
      </p:sp>
      <p:grpSp>
        <p:nvGrpSpPr>
          <p:cNvPr id="13" name="Group 13"/>
          <p:cNvGrpSpPr/>
          <p:nvPr/>
        </p:nvGrpSpPr>
        <p:grpSpPr>
          <a:xfrm>
            <a:off x="721004" y="1507799"/>
            <a:ext cx="14041814" cy="6850463"/>
            <a:chOff x="0" y="76200"/>
            <a:chExt cx="18722419" cy="9133950"/>
          </a:xfrm>
        </p:grpSpPr>
        <p:sp>
          <p:nvSpPr>
            <p:cNvPr id="14" name="TextBox 14"/>
            <p:cNvSpPr txBox="1"/>
            <p:nvPr/>
          </p:nvSpPr>
          <p:spPr>
            <a:xfrm>
              <a:off x="0" y="76200"/>
              <a:ext cx="18722419" cy="1545323"/>
            </a:xfrm>
            <a:prstGeom prst="rect">
              <a:avLst/>
            </a:prstGeom>
          </p:spPr>
          <p:txBody>
            <a:bodyPr lIns="0" tIns="0" rIns="0" bIns="0" rtlCol="0" anchor="t">
              <a:spAutoFit/>
            </a:bodyPr>
            <a:lstStyle/>
            <a:p>
              <a:pPr marL="0" lvl="0" indent="0" algn="l">
                <a:lnSpc>
                  <a:spcPts val="8810"/>
                </a:lnSpc>
              </a:pPr>
              <a:r>
                <a:rPr lang="en-US" sz="8010" b="1" dirty="0" smtClean="0">
                  <a:solidFill>
                    <a:srgbClr val="000000"/>
                  </a:solidFill>
                  <a:latin typeface="Atkinson Hyperlegible Bold"/>
                  <a:ea typeface="Atkinson Hyperlegible Bold"/>
                  <a:cs typeface="Atkinson Hyperlegible Bold"/>
                  <a:sym typeface="Atkinson Hyperlegible Bold"/>
                </a:rPr>
                <a:t>Reflection</a:t>
              </a:r>
              <a:r>
                <a:rPr lang="en-US" sz="8010" b="1" dirty="0" smtClean="0">
                  <a:solidFill>
                    <a:srgbClr val="000000"/>
                  </a:solidFill>
                  <a:latin typeface="Atkinson Hyperlegible Bold"/>
                  <a:ea typeface="Atkinson Hyperlegible Bold"/>
                  <a:cs typeface="Atkinson Hyperlegible Bold"/>
                  <a:sym typeface="Atkinson Hyperlegible Bold"/>
                </a:rPr>
                <a:t> </a:t>
              </a:r>
              <a:r>
                <a:rPr lang="en-US" sz="8010" b="1" dirty="0">
                  <a:solidFill>
                    <a:srgbClr val="000000"/>
                  </a:solidFill>
                  <a:latin typeface="Atkinson Hyperlegible Bold"/>
                  <a:ea typeface="Atkinson Hyperlegible Bold"/>
                  <a:cs typeface="Atkinson Hyperlegible Bold"/>
                  <a:sym typeface="Atkinson Hyperlegible Bold"/>
                </a:rPr>
                <a:t>Questions</a:t>
              </a:r>
            </a:p>
          </p:txBody>
        </p:sp>
        <p:sp>
          <p:nvSpPr>
            <p:cNvPr id="15" name="TextBox 15"/>
            <p:cNvSpPr txBox="1"/>
            <p:nvPr/>
          </p:nvSpPr>
          <p:spPr>
            <a:xfrm>
              <a:off x="0" y="1977401"/>
              <a:ext cx="18178644" cy="7232749"/>
            </a:xfrm>
            <a:prstGeom prst="rect">
              <a:avLst/>
            </a:prstGeom>
          </p:spPr>
          <p:txBody>
            <a:bodyPr wrap="square" lIns="0" tIns="0" rIns="0" bIns="0" rtlCol="0" anchor="t">
              <a:spAutoFit/>
            </a:bodyPr>
            <a:lstStyle/>
            <a:p>
              <a:pPr algn="just">
                <a:lnSpc>
                  <a:spcPct val="200000"/>
                </a:lnSpc>
              </a:pPr>
              <a:r>
                <a:rPr lang="en-US" sz="3525" dirty="0">
                  <a:solidFill>
                    <a:srgbClr val="000000"/>
                  </a:solidFill>
                  <a:latin typeface="Atkinson Hyperlegible"/>
                  <a:ea typeface="Atkinson Hyperlegible"/>
                  <a:cs typeface="Atkinson Hyperlegible"/>
                  <a:sym typeface="Atkinson Hyperlegible"/>
                </a:rPr>
                <a:t>1. What’s the difference between ‘pip’ and ‘conda’?</a:t>
              </a:r>
            </a:p>
            <a:p>
              <a:pPr algn="just">
                <a:lnSpc>
                  <a:spcPct val="200000"/>
                </a:lnSpc>
              </a:pPr>
              <a:r>
                <a:rPr lang="en-US" sz="3525" dirty="0">
                  <a:solidFill>
                    <a:srgbClr val="000000"/>
                  </a:solidFill>
                  <a:latin typeface="Atkinson Hyperlegible"/>
                  <a:ea typeface="Atkinson Hyperlegible"/>
                  <a:cs typeface="Atkinson Hyperlegible"/>
                  <a:sym typeface="Atkinson Hyperlegible"/>
                </a:rPr>
                <a:t>2. Why is it risky to install all packages in the system Python?</a:t>
              </a:r>
            </a:p>
            <a:p>
              <a:pPr algn="just">
                <a:lnSpc>
                  <a:spcPct val="200000"/>
                </a:lnSpc>
              </a:pPr>
              <a:r>
                <a:rPr lang="en-US" sz="3525" dirty="0">
                  <a:solidFill>
                    <a:srgbClr val="000000"/>
                  </a:solidFill>
                  <a:latin typeface="Atkinson Hyperlegible"/>
                  <a:ea typeface="Atkinson Hyperlegible"/>
                  <a:cs typeface="Atkinson Hyperlegible"/>
                  <a:sym typeface="Atkinson Hyperlegible"/>
                </a:rPr>
                <a:t>3. What are three AI libraries you would install for tabular modeling?</a:t>
              </a:r>
            </a:p>
            <a:p>
              <a:pPr algn="just">
                <a:lnSpc>
                  <a:spcPct val="200000"/>
                </a:lnSpc>
              </a:pPr>
              <a:r>
                <a:rPr lang="en-US" sz="3525" dirty="0">
                  <a:solidFill>
                    <a:srgbClr val="000000"/>
                  </a:solidFill>
                  <a:latin typeface="Atkinson Hyperlegible"/>
                  <a:ea typeface="Atkinson Hyperlegible"/>
                  <a:cs typeface="Atkinson Hyperlegible"/>
                  <a:sym typeface="Atkinson Hyperlegible"/>
                </a:rPr>
                <a:t>4. How does environment export help in collaboration?</a:t>
              </a:r>
            </a:p>
            <a:p>
              <a:pPr algn="just">
                <a:lnSpc>
                  <a:spcPct val="200000"/>
                </a:lnSpc>
              </a:pPr>
              <a:r>
                <a:rPr lang="en-US" sz="3525" dirty="0">
                  <a:solidFill>
                    <a:srgbClr val="000000"/>
                  </a:solidFill>
                  <a:latin typeface="Atkinson Hyperlegible"/>
                  <a:ea typeface="Atkinson Hyperlegible"/>
                  <a:cs typeface="Atkinson Hyperlegible"/>
                  <a:sym typeface="Atkinson Hyperlegible"/>
                </a:rPr>
                <a:t>5. Compare ‘</a:t>
              </a:r>
              <a:r>
                <a:rPr lang="en-US" sz="3525" dirty="0" err="1">
                  <a:solidFill>
                    <a:srgbClr val="000000"/>
                  </a:solidFill>
                  <a:latin typeface="Atkinson Hyperlegible"/>
                  <a:ea typeface="Atkinson Hyperlegible"/>
                  <a:cs typeface="Atkinson Hyperlegible"/>
                  <a:sym typeface="Atkinson Hyperlegible"/>
                </a:rPr>
                <a:t>venv</a:t>
              </a:r>
              <a:r>
                <a:rPr lang="en-US" sz="3525" dirty="0">
                  <a:solidFill>
                    <a:srgbClr val="000000"/>
                  </a:solidFill>
                  <a:latin typeface="Atkinson Hyperlegible"/>
                  <a:ea typeface="Atkinson Hyperlegible"/>
                  <a:cs typeface="Atkinson Hyperlegible"/>
                  <a:sym typeface="Atkinson Hyperlegible"/>
                </a:rPr>
                <a:t>’ and ‘Anaconda’ as environment solutions</a:t>
              </a:r>
              <a:r>
                <a:rPr lang="en-US" sz="3525" dirty="0" smtClean="0">
                  <a:solidFill>
                    <a:srgbClr val="000000"/>
                  </a:solidFill>
                  <a:latin typeface="Atkinson Hyperlegible"/>
                  <a:ea typeface="Atkinson Hyperlegible"/>
                  <a:cs typeface="Atkinson Hyperlegible"/>
                  <a:sym typeface="Atkinson Hyperlegible"/>
                </a:rPr>
                <a:t>.</a:t>
              </a:r>
              <a:endParaRPr lang="en-US" sz="3525" dirty="0">
                <a:solidFill>
                  <a:srgbClr val="000000"/>
                </a:solidFill>
                <a:latin typeface="Atkinson Hyperlegible"/>
                <a:ea typeface="Atkinson Hyperlegible"/>
                <a:cs typeface="Atkinson Hyperlegible"/>
                <a:sym typeface="Atkinson Hyperlegible"/>
              </a:endParaRPr>
            </a:p>
          </p:txBody>
        </p:sp>
      </p:grpSp>
      <p:sp>
        <p:nvSpPr>
          <p:cNvPr id="16" name="Freeform 16"/>
          <p:cNvSpPr/>
          <p:nvPr/>
        </p:nvSpPr>
        <p:spPr>
          <a:xfrm>
            <a:off x="15968950" y="44920"/>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18"/>
            <a:stretch>
              <a:fillRect/>
            </a:stretch>
          </a:blipFill>
        </p:spPr>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1CDFF"/>
        </a:solidFill>
        <a:effectLst/>
      </p:bgPr>
    </p:bg>
    <p:spTree>
      <p:nvGrpSpPr>
        <p:cNvPr id="1" name=""/>
        <p:cNvGrpSpPr/>
        <p:nvPr/>
      </p:nvGrpSpPr>
      <p:grpSpPr>
        <a:xfrm>
          <a:off x="0" y="0"/>
          <a:ext cx="0" cy="0"/>
          <a:chOff x="0" y="0"/>
          <a:chExt cx="0" cy="0"/>
        </a:xfrm>
      </p:grpSpPr>
      <p:sp>
        <p:nvSpPr>
          <p:cNvPr id="2" name="TextBox 2"/>
          <p:cNvSpPr txBox="1"/>
          <p:nvPr/>
        </p:nvSpPr>
        <p:spPr>
          <a:xfrm>
            <a:off x="1828800" y="4229100"/>
            <a:ext cx="14221747" cy="2613311"/>
          </a:xfrm>
          <a:prstGeom prst="rect">
            <a:avLst/>
          </a:prstGeom>
        </p:spPr>
        <p:txBody>
          <a:bodyPr lIns="0" tIns="0" rIns="0" bIns="0" rtlCol="0" anchor="t">
            <a:spAutoFit/>
          </a:bodyPr>
          <a:lstStyle/>
          <a:p>
            <a:pPr marL="0" lvl="0" indent="0" algn="ctr">
              <a:lnSpc>
                <a:spcPts val="6900"/>
              </a:lnSpc>
            </a:pPr>
            <a:r>
              <a:rPr lang="en-US" sz="6270" b="1" dirty="0">
                <a:solidFill>
                  <a:srgbClr val="000000"/>
                </a:solidFill>
                <a:latin typeface="Atkinson Hyperlegible Bold"/>
                <a:ea typeface="Atkinson Hyperlegible Bold"/>
                <a:cs typeface="Atkinson Hyperlegible Bold"/>
                <a:sym typeface="Atkinson Hyperlegible Bold"/>
              </a:rPr>
              <a:t>Thank you for your active participation and thoughtful engagement throughout this lecture.</a:t>
            </a:r>
          </a:p>
        </p:txBody>
      </p:sp>
      <p:sp>
        <p:nvSpPr>
          <p:cNvPr id="3" name="Freeform 3"/>
          <p:cNvSpPr/>
          <p:nvPr/>
        </p:nvSpPr>
        <p:spPr>
          <a:xfrm rot="5400000" flipV="1">
            <a:off x="14091943" y="0"/>
            <a:ext cx="4196057" cy="4196057"/>
          </a:xfrm>
          <a:custGeom>
            <a:avLst/>
            <a:gdLst/>
            <a:ahLst/>
            <a:cxnLst/>
            <a:rect l="l" t="t" r="r" b="b"/>
            <a:pathLst>
              <a:path w="4196057" h="4196057">
                <a:moveTo>
                  <a:pt x="0" y="4196057"/>
                </a:moveTo>
                <a:lnTo>
                  <a:pt x="4196057" y="4196057"/>
                </a:lnTo>
                <a:lnTo>
                  <a:pt x="4196057" y="0"/>
                </a:lnTo>
                <a:lnTo>
                  <a:pt x="0" y="0"/>
                </a:lnTo>
                <a:lnTo>
                  <a:pt x="0" y="4196057"/>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5968950" y="44920"/>
            <a:ext cx="2319050" cy="2319050"/>
          </a:xfrm>
          <a:custGeom>
            <a:avLst/>
            <a:gdLst/>
            <a:ahLst/>
            <a:cxnLst/>
            <a:rect l="l" t="t" r="r" b="b"/>
            <a:pathLst>
              <a:path w="2319050" h="2319050">
                <a:moveTo>
                  <a:pt x="0" y="0"/>
                </a:moveTo>
                <a:lnTo>
                  <a:pt x="2319050" y="0"/>
                </a:lnTo>
                <a:lnTo>
                  <a:pt x="2319050" y="2319050"/>
                </a:lnTo>
                <a:lnTo>
                  <a:pt x="0" y="2319050"/>
                </a:lnTo>
                <a:lnTo>
                  <a:pt x="0" y="0"/>
                </a:lnTo>
                <a:close/>
              </a:path>
            </a:pathLst>
          </a:custGeom>
          <a:blipFill>
            <a:blip r:embed="rId4"/>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1029</Words>
  <Application>Microsoft Office PowerPoint</Application>
  <PresentationFormat>Custom</PresentationFormat>
  <Paragraphs>115</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Antic</vt:lpstr>
      <vt:lpstr>Wingdings</vt:lpstr>
      <vt:lpstr>Atkinson Hyperlegible</vt:lpstr>
      <vt:lpstr>Atkinson Hyperlegible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AI Machine Learning Summer School Program</dc:title>
  <dc:creator>Grace</dc:creator>
  <dc:description>Presentation - AI Machine Learning Summer School Program</dc:description>
  <cp:lastModifiedBy>Grace</cp:lastModifiedBy>
  <cp:revision>10</cp:revision>
  <dcterms:created xsi:type="dcterms:W3CDTF">2006-08-16T00:00:00Z</dcterms:created>
  <dcterms:modified xsi:type="dcterms:W3CDTF">2025-07-07T00:52:41Z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2782470E46FD4E54AF08FA07EBD8DEBB_12</vt:lpwstr>
  </property>
  <property fmtid="{D5CDD505-2E9C-101B-9397-08002B2CF9AE}" pid="3" name="KSOProductBuildVer">
    <vt:lpwstr>1033-12.2.0.21546</vt:lpwstr>
  </property>
</Properties>
</file>