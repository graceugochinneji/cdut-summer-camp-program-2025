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1.svg" ContentType="image/svg+xml"/>
  <Override PartName="/ppt/media/image13.svg" ContentType="image/svg+xml"/>
  <Override PartName="/ppt/media/image3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vo" panose="02020502070400060406"/>
      <p:regular r:id="rId17"/>
    </p:embeddedFont>
    <p:embeddedFont>
      <p:font typeface="ABeeZee Bold" panose="02000000000000000000"/>
      <p:regular r:id="rId18"/>
      <p:bold r:id="rId19"/>
    </p:embeddedFont>
    <p:embeddedFont>
      <p:font typeface="ABeeZee" panose="0200000000000000000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1.jpe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3" Type="http://schemas.openxmlformats.org/officeDocument/2006/relationships/image" Target="../media/image1.jpe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18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A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449899" y="0"/>
            <a:ext cx="670594" cy="10287000"/>
            <a:chOff x="0" y="0"/>
            <a:chExt cx="17661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617" cy="2709333"/>
            </a:xfrm>
            <a:custGeom>
              <a:avLst/>
              <a:gdLst/>
              <a:ahLst/>
              <a:cxnLst/>
              <a:rect l="l" t="t" r="r" b="b"/>
              <a:pathLst>
                <a:path w="176617" h="2709333">
                  <a:moveTo>
                    <a:pt x="0" y="0"/>
                  </a:moveTo>
                  <a:lnTo>
                    <a:pt x="176617" y="0"/>
                  </a:lnTo>
                  <a:lnTo>
                    <a:pt x="17661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661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9796819" y="0"/>
            <a:ext cx="5514115" cy="10287000"/>
            <a:chOff x="0" y="0"/>
            <a:chExt cx="571677" cy="10665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1677" cy="1066506"/>
            </a:xfrm>
            <a:custGeom>
              <a:avLst/>
              <a:gdLst/>
              <a:ahLst/>
              <a:cxnLst/>
              <a:rect l="l" t="t" r="r" b="b"/>
              <a:pathLst>
                <a:path w="571677" h="1066506">
                  <a:moveTo>
                    <a:pt x="0" y="0"/>
                  </a:moveTo>
                  <a:lnTo>
                    <a:pt x="571677" y="0"/>
                  </a:lnTo>
                  <a:lnTo>
                    <a:pt x="571677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1"/>
              <a:stretch>
                <a:fillRect l="-89918" r="-8991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15310934" y="0"/>
            <a:ext cx="2977066" cy="10479535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22352563"/>
            </a:xfrm>
            <a:custGeom>
              <a:avLst/>
              <a:gdLst/>
              <a:ahLst/>
              <a:cxnLst/>
              <a:rect l="l" t="t" r="r" b="b"/>
              <a:pathLst>
                <a:path w="6350000" h="22352563">
                  <a:moveTo>
                    <a:pt x="0" y="0"/>
                  </a:moveTo>
                  <a:lnTo>
                    <a:pt x="6350000" y="0"/>
                  </a:lnTo>
                  <a:lnTo>
                    <a:pt x="6350000" y="22352563"/>
                  </a:lnTo>
                  <a:lnTo>
                    <a:pt x="0" y="223525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4528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350000" cy="22352575"/>
            </a:xfrm>
            <a:custGeom>
              <a:avLst/>
              <a:gdLst/>
              <a:ahLst/>
              <a:cxnLst/>
              <a:rect l="l" t="t" r="r" b="b"/>
              <a:pathLst>
                <a:path w="6350000" h="22352575">
                  <a:moveTo>
                    <a:pt x="3175000" y="11176281"/>
                  </a:moveTo>
                  <a:lnTo>
                    <a:pt x="3175000" y="0"/>
                  </a:lnTo>
                  <a:cubicBezTo>
                    <a:pt x="1421498" y="0"/>
                    <a:pt x="0" y="5003800"/>
                    <a:pt x="0" y="11176281"/>
                  </a:cubicBezTo>
                  <a:lnTo>
                    <a:pt x="3175000" y="11176281"/>
                  </a:lnTo>
                  <a:close/>
                  <a:moveTo>
                    <a:pt x="3175000" y="11176326"/>
                  </a:moveTo>
                  <a:lnTo>
                    <a:pt x="3175000" y="22352575"/>
                  </a:lnTo>
                  <a:cubicBezTo>
                    <a:pt x="4928502" y="22352575"/>
                    <a:pt x="6350000" y="17348809"/>
                    <a:pt x="6350000" y="11176326"/>
                  </a:cubicBezTo>
                  <a:lnTo>
                    <a:pt x="3175000" y="11176326"/>
                  </a:lnTo>
                  <a:close/>
                </a:path>
              </a:pathLst>
            </a:custGeom>
            <a:solidFill>
              <a:srgbClr val="EBAE3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45"/>
              <a:ext cx="6350000" cy="22352518"/>
            </a:xfrm>
            <a:custGeom>
              <a:avLst/>
              <a:gdLst/>
              <a:ahLst/>
              <a:cxnLst/>
              <a:rect l="l" t="t" r="r" b="b"/>
              <a:pathLst>
                <a:path w="6350000" h="22352518">
                  <a:moveTo>
                    <a:pt x="6350000" y="0"/>
                  </a:moveTo>
                  <a:lnTo>
                    <a:pt x="3175000" y="0"/>
                  </a:lnTo>
                  <a:cubicBezTo>
                    <a:pt x="3175000" y="6172481"/>
                    <a:pt x="4596486" y="11176281"/>
                    <a:pt x="6349987" y="11176281"/>
                  </a:cubicBezTo>
                  <a:lnTo>
                    <a:pt x="6350000" y="0"/>
                  </a:lnTo>
                  <a:close/>
                  <a:moveTo>
                    <a:pt x="0" y="22352518"/>
                  </a:moveTo>
                  <a:lnTo>
                    <a:pt x="3175000" y="22352518"/>
                  </a:lnTo>
                  <a:cubicBezTo>
                    <a:pt x="3175000" y="16180037"/>
                    <a:pt x="1753514" y="11176236"/>
                    <a:pt x="13" y="11176236"/>
                  </a:cubicBezTo>
                  <a:lnTo>
                    <a:pt x="0" y="22352518"/>
                  </a:lnTo>
                  <a:close/>
                </a:path>
              </a:pathLst>
            </a:custGeom>
            <a:solidFill>
              <a:srgbClr val="E3E8E1"/>
            </a:solidFill>
          </p:spPr>
        </p:sp>
      </p:grpSp>
      <p:sp>
        <p:nvSpPr>
          <p:cNvPr id="11" name="Freeform 11"/>
          <p:cNvSpPr/>
          <p:nvPr/>
        </p:nvSpPr>
        <p:spPr>
          <a:xfrm rot="-10800000">
            <a:off x="0" y="0"/>
            <a:ext cx="9449899" cy="13298553"/>
          </a:xfrm>
          <a:custGeom>
            <a:avLst/>
            <a:gdLst/>
            <a:ahLst/>
            <a:cxnLst/>
            <a:rect l="l" t="t" r="r" b="b"/>
            <a:pathLst>
              <a:path w="9449899" h="13298553">
                <a:moveTo>
                  <a:pt x="0" y="0"/>
                </a:moveTo>
                <a:lnTo>
                  <a:pt x="9449899" y="0"/>
                </a:lnTo>
                <a:lnTo>
                  <a:pt x="9449899" y="13298553"/>
                </a:lnTo>
                <a:lnTo>
                  <a:pt x="0" y="1329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9525"/>
            <a:ext cx="2081504" cy="2081504"/>
          </a:xfrm>
          <a:custGeom>
            <a:avLst/>
            <a:gdLst/>
            <a:ahLst/>
            <a:cxnLst/>
            <a:rect l="l" t="t" r="r" b="b"/>
            <a:pathLst>
              <a:path w="2081504" h="2081504">
                <a:moveTo>
                  <a:pt x="0" y="0"/>
                </a:moveTo>
                <a:lnTo>
                  <a:pt x="2081504" y="0"/>
                </a:lnTo>
                <a:lnTo>
                  <a:pt x="2081504" y="2081504"/>
                </a:lnTo>
                <a:lnTo>
                  <a:pt x="0" y="2081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486163" y="4200167"/>
            <a:ext cx="8963736" cy="3293967"/>
            <a:chOff x="0" y="0"/>
            <a:chExt cx="11951647" cy="439195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80975"/>
              <a:ext cx="11951647" cy="3423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75"/>
                </a:lnSpc>
              </a:pPr>
              <a:r>
                <a:rPr lang="en-US" sz="9675" spc="-96">
                  <a:solidFill>
                    <a:srgbClr val="002217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Smart-Energy What-If Analysis</a:t>
              </a:r>
              <a:endParaRPr lang="en-US" sz="9675" spc="-96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772831"/>
              <a:ext cx="11951647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0"/>
                </a:lnSpc>
              </a:pPr>
              <a:r>
                <a:rPr lang="en-US" sz="3040">
                  <a:solidFill>
                    <a:srgbClr val="002217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Advanced Streamlit for What-If Scenarios</a:t>
              </a:r>
              <a:endParaRPr lang="en-US" sz="3040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646310" y="-264631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79" y="2793427"/>
            <a:ext cx="4782454" cy="478245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773" y="2793427"/>
            <a:ext cx="4782454" cy="478245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1748" y="2793427"/>
            <a:ext cx="4782454" cy="478245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1304517"/>
            <a:ext cx="1623060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</a:pPr>
            <a:r>
              <a:rPr lang="en-US" sz="7200" u="none" spc="-72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Today's Module Road-Map</a:t>
            </a:r>
            <a:endParaRPr lang="en-US" sz="7200" u="none" spc="-72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46531" y="4551498"/>
            <a:ext cx="2940048" cy="146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90"/>
              </a:lnSpc>
            </a:pPr>
            <a:r>
              <a:rPr lang="en-US" sz="6100" spc="-60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1.9 Billion</a:t>
            </a:r>
            <a:endParaRPr lang="en-US" sz="6100" spc="-60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0126" y="7939342"/>
            <a:ext cx="471996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800" u="none" strike="noStrike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Potential Energy Savings</a:t>
            </a:r>
            <a:endParaRPr lang="en-US" sz="2800" u="none" strike="noStrike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98991" y="4899160"/>
            <a:ext cx="3090019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90"/>
              </a:lnSpc>
            </a:pPr>
            <a:r>
              <a:rPr lang="en-US" sz="6100" spc="-60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53 M</a:t>
            </a:r>
            <a:endParaRPr lang="en-US" sz="6100" spc="-60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783678" y="7939342"/>
            <a:ext cx="4720643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800" u="none" strike="noStrike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Projected Efficiency Gains</a:t>
            </a:r>
            <a:endParaRPr lang="en-US" sz="2800" u="none" strike="noStrike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34343" y="4899160"/>
            <a:ext cx="3157265" cy="76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90"/>
              </a:lnSpc>
            </a:pPr>
            <a:r>
              <a:rPr lang="en-US" sz="6100" spc="-60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10 M</a:t>
            </a:r>
            <a:endParaRPr lang="en-US" sz="6100" spc="-60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66650" y="7939342"/>
            <a:ext cx="46926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800" u="none" strike="noStrike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Expected Cost Reductions</a:t>
            </a:r>
            <a:endParaRPr lang="en-US" sz="2800" u="none" strike="noStrike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grpSp>
        <p:nvGrpSpPr>
          <p:cNvPr id="13" name="Group 13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FFC04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314528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6206496" y="0"/>
            <a:ext cx="2081504" cy="2081504"/>
          </a:xfrm>
          <a:custGeom>
            <a:avLst/>
            <a:gdLst/>
            <a:ahLst/>
            <a:cxnLst/>
            <a:rect l="l" t="t" r="r" b="b"/>
            <a:pathLst>
              <a:path w="2081504" h="2081504">
                <a:moveTo>
                  <a:pt x="0" y="0"/>
                </a:moveTo>
                <a:lnTo>
                  <a:pt x="2081504" y="0"/>
                </a:lnTo>
                <a:lnTo>
                  <a:pt x="2081504" y="2081504"/>
                </a:lnTo>
                <a:lnTo>
                  <a:pt x="0" y="20815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646310" y="-264631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3378" y="1209675"/>
            <a:ext cx="16208483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72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Learning Outcomes</a:t>
            </a:r>
            <a:endParaRPr lang="en-US" sz="7200" spc="-72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61003" y="2391406"/>
            <a:ext cx="1658811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60"/>
              </a:lnSpc>
            </a:pP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This objective explores essential </a:t>
            </a: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Streamlit widgets</a:t>
            </a: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 and the core principles of </a:t>
            </a: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what-if analysis</a:t>
            </a: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 to enhance smart energy solutions and decision-making processes.</a:t>
            </a:r>
            <a:endParaRPr lang="en-US" sz="4300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8430" y="5296531"/>
            <a:ext cx="17433258" cy="350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7735" lvl="1" indent="-464185" algn="l">
              <a:lnSpc>
                <a:spcPts val="5585"/>
              </a:lnSpc>
              <a:buFont typeface="Arial" panose="020B0604020202020204"/>
              <a:buChar char="•"/>
            </a:pP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Build sliders, text i</a:t>
            </a: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nputs &amp; buttons in Streamlit</a:t>
            </a:r>
            <a:endParaRPr lang="en-US" sz="4300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  <a:p>
            <a:pPr marL="927735" lvl="1" indent="-464185" algn="l">
              <a:lnSpc>
                <a:spcPts val="5585"/>
              </a:lnSpc>
              <a:buFont typeface="Arial" panose="020B0604020202020204"/>
              <a:buChar char="•"/>
            </a:pP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Persist data with st.session_state</a:t>
            </a:r>
            <a:endParaRPr lang="en-US" sz="4300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  <a:p>
            <a:pPr marL="927735" lvl="1" indent="-464185" algn="l">
              <a:lnSpc>
                <a:spcPts val="5585"/>
              </a:lnSpc>
              <a:buFont typeface="Arial" panose="020B0604020202020204"/>
              <a:buChar char="•"/>
            </a:pP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Define what-if analysis, counterfactual &amp; sensitivity curve </a:t>
            </a:r>
            <a:endParaRPr lang="en-US" sz="4300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  <a:p>
            <a:pPr marL="927735" lvl="1" indent="-464185" algn="l">
              <a:lnSpc>
                <a:spcPts val="5585"/>
              </a:lnSpc>
              <a:buFont typeface="Arial" panose="020B0604020202020204"/>
              <a:buChar char="•"/>
            </a:pP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Derive a voltage-savings equation and code it in Python </a:t>
            </a:r>
            <a:endParaRPr lang="en-US" sz="4300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  <a:p>
            <a:pPr marL="927735" lvl="1" indent="-464185" algn="l">
              <a:lnSpc>
                <a:spcPts val="5585"/>
              </a:lnSpc>
              <a:buFont typeface="Arial" panose="020B0604020202020204"/>
              <a:buChar char="•"/>
            </a:pPr>
            <a:r>
              <a:rPr lang="en-US" sz="43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Deliver an interactive A/B scenario dashboard with KPI cards</a:t>
            </a:r>
            <a:endParaRPr lang="en-US" sz="4300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4815519"/>
            <a:ext cx="16230596" cy="0"/>
          </a:xfrm>
          <a:prstGeom prst="line">
            <a:avLst/>
          </a:prstGeom>
          <a:ln w="9525" cap="rnd">
            <a:solidFill>
              <a:srgbClr val="E3E8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1B2F1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509004" y="266700"/>
            <a:ext cx="1778996" cy="1778996"/>
          </a:xfrm>
          <a:custGeom>
            <a:avLst/>
            <a:gdLst/>
            <a:ahLst/>
            <a:cxnLst/>
            <a:rect l="l" t="t" r="r" b="b"/>
            <a:pathLst>
              <a:path w="1778996" h="1778996">
                <a:moveTo>
                  <a:pt x="0" y="0"/>
                </a:moveTo>
                <a:lnTo>
                  <a:pt x="1778996" y="0"/>
                </a:lnTo>
                <a:lnTo>
                  <a:pt x="1778996" y="1778996"/>
                </a:lnTo>
                <a:lnTo>
                  <a:pt x="0" y="1778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8753475" y="-508333"/>
            <a:ext cx="9553575" cy="13444453"/>
          </a:xfrm>
          <a:custGeom>
            <a:avLst/>
            <a:gdLst/>
            <a:ahLst/>
            <a:cxnLst/>
            <a:rect l="l" t="t" r="r" b="b"/>
            <a:pathLst>
              <a:path w="9553575" h="13444453">
                <a:moveTo>
                  <a:pt x="0" y="0"/>
                </a:moveTo>
                <a:lnTo>
                  <a:pt x="9553575" y="0"/>
                </a:lnTo>
                <a:lnTo>
                  <a:pt x="9553575" y="13444453"/>
                </a:lnTo>
                <a:lnTo>
                  <a:pt x="0" y="134444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216780" y="0"/>
            <a:ext cx="517645" cy="10287000"/>
            <a:chOff x="0" y="0"/>
            <a:chExt cx="13633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6334" cy="2709333"/>
            </a:xfrm>
            <a:custGeom>
              <a:avLst/>
              <a:gdLst/>
              <a:ahLst/>
              <a:cxnLst/>
              <a:rect l="l" t="t" r="r" b="b"/>
              <a:pathLst>
                <a:path w="136334" h="2709333">
                  <a:moveTo>
                    <a:pt x="0" y="0"/>
                  </a:moveTo>
                  <a:lnTo>
                    <a:pt x="136334" y="0"/>
                  </a:lnTo>
                  <a:lnTo>
                    <a:pt x="1363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1452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633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2977066" cy="10479535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22352563"/>
            </a:xfrm>
            <a:custGeom>
              <a:avLst/>
              <a:gdLst/>
              <a:ahLst/>
              <a:cxnLst/>
              <a:rect l="l" t="t" r="r" b="b"/>
              <a:pathLst>
                <a:path w="6350000" h="22352563">
                  <a:moveTo>
                    <a:pt x="0" y="0"/>
                  </a:moveTo>
                  <a:lnTo>
                    <a:pt x="6350000" y="0"/>
                  </a:lnTo>
                  <a:lnTo>
                    <a:pt x="6350000" y="22352563"/>
                  </a:lnTo>
                  <a:lnTo>
                    <a:pt x="0" y="223525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931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350000" cy="22352575"/>
            </a:xfrm>
            <a:custGeom>
              <a:avLst/>
              <a:gdLst/>
              <a:ahLst/>
              <a:cxnLst/>
              <a:rect l="l" t="t" r="r" b="b"/>
              <a:pathLst>
                <a:path w="6350000" h="22352575">
                  <a:moveTo>
                    <a:pt x="3175000" y="11176281"/>
                  </a:moveTo>
                  <a:lnTo>
                    <a:pt x="3175000" y="0"/>
                  </a:lnTo>
                  <a:cubicBezTo>
                    <a:pt x="1421498" y="0"/>
                    <a:pt x="0" y="5003800"/>
                    <a:pt x="0" y="11176281"/>
                  </a:cubicBezTo>
                  <a:lnTo>
                    <a:pt x="3175000" y="11176281"/>
                  </a:lnTo>
                  <a:close/>
                  <a:moveTo>
                    <a:pt x="3175000" y="11176326"/>
                  </a:moveTo>
                  <a:lnTo>
                    <a:pt x="3175000" y="22352575"/>
                  </a:lnTo>
                  <a:cubicBezTo>
                    <a:pt x="4928502" y="22352575"/>
                    <a:pt x="6350000" y="17348809"/>
                    <a:pt x="6350000" y="11176326"/>
                  </a:cubicBezTo>
                  <a:lnTo>
                    <a:pt x="3175000" y="11176326"/>
                  </a:lnTo>
                  <a:close/>
                </a:path>
              </a:pathLst>
            </a:custGeom>
            <a:solidFill>
              <a:srgbClr val="314528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45"/>
              <a:ext cx="6350000" cy="22352518"/>
            </a:xfrm>
            <a:custGeom>
              <a:avLst/>
              <a:gdLst/>
              <a:ahLst/>
              <a:cxnLst/>
              <a:rect l="l" t="t" r="r" b="b"/>
              <a:pathLst>
                <a:path w="6350000" h="22352518">
                  <a:moveTo>
                    <a:pt x="6350000" y="0"/>
                  </a:moveTo>
                  <a:lnTo>
                    <a:pt x="3175000" y="0"/>
                  </a:lnTo>
                  <a:cubicBezTo>
                    <a:pt x="3175000" y="6172481"/>
                    <a:pt x="4596486" y="11176281"/>
                    <a:pt x="6349987" y="11176281"/>
                  </a:cubicBezTo>
                  <a:lnTo>
                    <a:pt x="6350000" y="0"/>
                  </a:lnTo>
                  <a:close/>
                  <a:moveTo>
                    <a:pt x="0" y="22352518"/>
                  </a:moveTo>
                  <a:lnTo>
                    <a:pt x="3175000" y="22352518"/>
                  </a:lnTo>
                  <a:cubicBezTo>
                    <a:pt x="3175000" y="16180037"/>
                    <a:pt x="1753514" y="11176236"/>
                    <a:pt x="13" y="11176236"/>
                  </a:cubicBezTo>
                  <a:lnTo>
                    <a:pt x="0" y="22352518"/>
                  </a:lnTo>
                  <a:close/>
                </a:path>
              </a:pathLst>
            </a:custGeom>
            <a:solidFill>
              <a:srgbClr val="E3E8E1"/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0" y="2878742"/>
            <a:ext cx="2973702" cy="4894103"/>
            <a:chOff x="0" y="0"/>
            <a:chExt cx="648019" cy="10665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8019" cy="1066506"/>
            </a:xfrm>
            <a:custGeom>
              <a:avLst/>
              <a:gdLst/>
              <a:ahLst/>
              <a:cxnLst/>
              <a:rect l="l" t="t" r="r" b="b"/>
              <a:pathLst>
                <a:path w="648019" h="1066506">
                  <a:moveTo>
                    <a:pt x="0" y="0"/>
                  </a:moveTo>
                  <a:lnTo>
                    <a:pt x="648019" y="0"/>
                  </a:lnTo>
                  <a:lnTo>
                    <a:pt x="648019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3"/>
              <a:stretch>
                <a:fillRect l="-73434" r="-7343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973702" y="3933481"/>
            <a:ext cx="5219312" cy="235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25"/>
              </a:lnSpc>
            </a:pPr>
            <a:r>
              <a:rPr lang="en-US" sz="9025" u="none" spc="-90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Streamlit Refresher</a:t>
            </a:r>
            <a:endParaRPr lang="en-US" sz="9025" u="none" spc="-90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001125" y="2579117"/>
            <a:ext cx="9022431" cy="570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4100">
                <a:solidFill>
                  <a:srgbClr val="002217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Install: </a:t>
            </a:r>
            <a:r>
              <a:rPr lang="en-US" sz="4100">
                <a:solidFill>
                  <a:srgbClr val="002217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pip install streamlit · </a:t>
            </a:r>
            <a:endParaRPr lang="en-US" sz="4100">
              <a:solidFill>
                <a:srgbClr val="002217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5700"/>
              </a:lnSpc>
            </a:pPr>
            <a:r>
              <a:rPr lang="en-US" sz="4100">
                <a:solidFill>
                  <a:srgbClr val="002217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Run: </a:t>
            </a:r>
            <a:r>
              <a:rPr lang="en-US" sz="4100">
                <a:solidFill>
                  <a:srgbClr val="002217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streamlit run app.py</a:t>
            </a:r>
            <a:endParaRPr lang="en-US" sz="4100">
              <a:solidFill>
                <a:srgbClr val="002217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5700"/>
              </a:lnSpc>
            </a:pPr>
            <a:r>
              <a:rPr lang="en-US" sz="4100">
                <a:solidFill>
                  <a:srgbClr val="002217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Core widgets: </a:t>
            </a:r>
            <a:r>
              <a:rPr lang="en-US" sz="4100">
                <a:solidFill>
                  <a:srgbClr val="002217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st.slider, st.text_input, st.button</a:t>
            </a:r>
            <a:endParaRPr lang="en-US" sz="4100">
              <a:solidFill>
                <a:srgbClr val="002217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5700"/>
              </a:lnSpc>
            </a:pPr>
            <a:r>
              <a:rPr lang="en-US" sz="4100">
                <a:solidFill>
                  <a:srgbClr val="002217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Rerun model: </a:t>
            </a:r>
            <a:r>
              <a:rPr lang="en-US" sz="4100">
                <a:solidFill>
                  <a:srgbClr val="002217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entire script executes on any widget change</a:t>
            </a:r>
            <a:endParaRPr lang="en-US" sz="4100">
              <a:solidFill>
                <a:srgbClr val="002217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  <a:p>
            <a:pPr algn="l">
              <a:lnSpc>
                <a:spcPts val="5700"/>
              </a:lnSpc>
            </a:pPr>
            <a:r>
              <a:rPr lang="en-US" sz="4100">
                <a:solidFill>
                  <a:srgbClr val="002217"/>
                </a:solidFill>
                <a:latin typeface="ABeeZee Bold" panose="02000000000000000000"/>
                <a:ea typeface="ABeeZee Bold" panose="02000000000000000000"/>
                <a:cs typeface="ABeeZee Bold" panose="02000000000000000000"/>
                <a:sym typeface="ABeeZee Bold" panose="02000000000000000000"/>
              </a:rPr>
              <a:t>Keep values: </a:t>
            </a:r>
            <a:r>
              <a:rPr lang="en-US" sz="4100">
                <a:solidFill>
                  <a:srgbClr val="002217"/>
                </a:solidFill>
                <a:latin typeface="ABeeZee" panose="02000000000000000000"/>
                <a:ea typeface="ABeeZee" panose="02000000000000000000"/>
                <a:cs typeface="ABeeZee" panose="02000000000000000000"/>
                <a:sym typeface="ABeeZee" panose="02000000000000000000"/>
              </a:rPr>
              <a:t>st.session_state['key'] = value</a:t>
            </a:r>
            <a:endParaRPr lang="en-US" sz="4100">
              <a:solidFill>
                <a:srgbClr val="002217"/>
              </a:solidFill>
              <a:latin typeface="ABeeZee" panose="02000000000000000000"/>
              <a:ea typeface="ABeeZee" panose="02000000000000000000"/>
              <a:cs typeface="ABeeZee" panose="02000000000000000000"/>
              <a:sym typeface="ABeeZee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6473053" y="0"/>
            <a:ext cx="1833997" cy="1833997"/>
          </a:xfrm>
          <a:custGeom>
            <a:avLst/>
            <a:gdLst/>
            <a:ahLst/>
            <a:cxnLst/>
            <a:rect l="l" t="t" r="r" b="b"/>
            <a:pathLst>
              <a:path w="1833997" h="1833997">
                <a:moveTo>
                  <a:pt x="0" y="0"/>
                </a:moveTo>
                <a:lnTo>
                  <a:pt x="1833997" y="0"/>
                </a:lnTo>
                <a:lnTo>
                  <a:pt x="1833997" y="1833997"/>
                </a:lnTo>
                <a:lnTo>
                  <a:pt x="0" y="1833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646310" y="-264631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50817" y="1152525"/>
            <a:ext cx="16208483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72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Key Terms</a:t>
            </a:r>
            <a:endParaRPr lang="en-US" sz="7200" spc="-72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50817" y="3366483"/>
            <a:ext cx="16208479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</a:pPr>
            <a:r>
              <a:rPr lang="en-US" sz="32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Understanding </a:t>
            </a:r>
            <a:r>
              <a:rPr lang="en-US" sz="32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key terms</a:t>
            </a:r>
            <a:r>
              <a:rPr lang="en-US" sz="32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 in What-If Analysis is essential for effective communication and implementation of machine learning strategies in smart energy solutions.</a:t>
            </a:r>
            <a:endParaRPr lang="en-US" sz="3200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050817" y="6373116"/>
            <a:ext cx="4662181" cy="2348039"/>
            <a:chOff x="0" y="0"/>
            <a:chExt cx="6216242" cy="3130719"/>
          </a:xfrm>
        </p:grpSpPr>
        <p:sp>
          <p:nvSpPr>
            <p:cNvPr id="6" name="TextBox 6"/>
            <p:cNvSpPr txBox="1"/>
            <p:nvPr/>
          </p:nvSpPr>
          <p:spPr>
            <a:xfrm>
              <a:off x="0" y="810683"/>
              <a:ext cx="6216242" cy="2320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0"/>
                </a:lnSpc>
              </a:pPr>
              <a:r>
                <a:rPr lang="en-US" sz="2675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Explores different scenarios by altering variables to predict outcomes, essential for informed decision-making.</a:t>
              </a:r>
              <a:endParaRPr lang="en-US" sz="2675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6216242" cy="487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5"/>
                </a:lnSpc>
              </a:pPr>
              <a:r>
                <a:rPr lang="en-US" sz="2675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What-If Analysis</a:t>
              </a:r>
              <a:endParaRPr lang="en-US" sz="2675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6801851" y="6370390"/>
            <a:ext cx="4684298" cy="2430116"/>
            <a:chOff x="0" y="0"/>
            <a:chExt cx="6245731" cy="3240154"/>
          </a:xfrm>
        </p:grpSpPr>
        <p:sp>
          <p:nvSpPr>
            <p:cNvPr id="9" name="TextBox 9"/>
            <p:cNvSpPr txBox="1"/>
            <p:nvPr/>
          </p:nvSpPr>
          <p:spPr>
            <a:xfrm>
              <a:off x="0" y="918858"/>
              <a:ext cx="6245731" cy="2321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0"/>
                </a:lnSpc>
                <a:spcBef>
                  <a:spcPct val="0"/>
                </a:spcBef>
              </a:pPr>
              <a:r>
                <a:rPr lang="en-US" sz="2675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Refers to evaluating situations that did not occur, helping in better understanding potential impacts and solutions.</a:t>
              </a:r>
              <a:endParaRPr lang="en-US" sz="2675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6245731" cy="586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Counterfactual</a:t>
              </a:r>
              <a:endParaRPr lang="en-US" sz="3200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2575002" y="6370390"/>
            <a:ext cx="4684298" cy="2868502"/>
            <a:chOff x="0" y="0"/>
            <a:chExt cx="6245731" cy="382467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18858"/>
              <a:ext cx="6245731" cy="29058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0"/>
                </a:lnSpc>
                <a:spcBef>
                  <a:spcPct val="0"/>
                </a:spcBef>
              </a:pPr>
              <a:r>
                <a:rPr lang="en-US" sz="2675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Illustrates how changes in input variables affect outputs, crucial for assessing the robustness of machine learning models.</a:t>
              </a:r>
              <a:endParaRPr lang="en-US" sz="2675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6245731" cy="586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Sensitivity Curve</a:t>
              </a:r>
              <a:endParaRPr lang="en-US" sz="3200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028700" y="5597586"/>
            <a:ext cx="16230596" cy="0"/>
          </a:xfrm>
          <a:prstGeom prst="line">
            <a:avLst/>
          </a:prstGeom>
          <a:ln w="9525" cap="rnd">
            <a:solidFill>
              <a:srgbClr val="E3E8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1B2F1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18548" y="266700"/>
            <a:ext cx="2081504" cy="2081504"/>
          </a:xfrm>
          <a:custGeom>
            <a:avLst/>
            <a:gdLst/>
            <a:ahLst/>
            <a:cxnLst/>
            <a:rect l="l" t="t" r="r" b="b"/>
            <a:pathLst>
              <a:path w="2081504" h="2081504">
                <a:moveTo>
                  <a:pt x="0" y="0"/>
                </a:moveTo>
                <a:lnTo>
                  <a:pt x="2081504" y="0"/>
                </a:lnTo>
                <a:lnTo>
                  <a:pt x="2081504" y="2081504"/>
                </a:lnTo>
                <a:lnTo>
                  <a:pt x="0" y="2081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239255" y="-250026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2325" y="695325"/>
            <a:ext cx="4853305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72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Key Terms</a:t>
            </a:r>
            <a:endParaRPr lang="en-US" sz="7200" spc="-72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2003317" y="2445165"/>
            <a:ext cx="4798706" cy="2272189"/>
            <a:chOff x="-182033" y="47625"/>
            <a:chExt cx="6398275" cy="3029585"/>
          </a:xfrm>
        </p:grpSpPr>
        <p:sp>
          <p:nvSpPr>
            <p:cNvPr id="6" name="TextBox 6"/>
            <p:cNvSpPr txBox="1"/>
            <p:nvPr/>
          </p:nvSpPr>
          <p:spPr>
            <a:xfrm>
              <a:off x="-182033" y="697230"/>
              <a:ext cx="6216242" cy="2379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0"/>
                </a:lnSpc>
              </a:pPr>
              <a:r>
                <a:rPr lang="en-US" altLang="en-US" sz="2675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The effective value of an AC voltage, producing the same power as an equivalent DC voltage.</a:t>
              </a:r>
              <a:endParaRPr lang="en-US" altLang="en-US" sz="2675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6216242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75"/>
                </a:lnSpc>
              </a:pPr>
              <a:r>
                <a:rPr lang="en-US" sz="3200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RMS Voltage (VRMS)</a:t>
              </a:r>
              <a:endParaRPr lang="en-US" sz="3200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04731" y="6438653"/>
            <a:ext cx="4684298" cy="1984861"/>
            <a:chOff x="0" y="57150"/>
            <a:chExt cx="6245731" cy="2646481"/>
          </a:xfrm>
        </p:grpSpPr>
        <p:sp>
          <p:nvSpPr>
            <p:cNvPr id="9" name="TextBox 9"/>
            <p:cNvSpPr txBox="1"/>
            <p:nvPr/>
          </p:nvSpPr>
          <p:spPr>
            <a:xfrm>
              <a:off x="0" y="918858"/>
              <a:ext cx="6245731" cy="1784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480"/>
                </a:lnSpc>
                <a:spcBef>
                  <a:spcPct val="0"/>
                </a:spcBef>
              </a:pPr>
              <a:r>
                <a:rPr lang="en-US" altLang="en-US" sz="2675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Product of RMS voltage and current, regardless of power factor.</a:t>
              </a:r>
              <a:endParaRPr lang="en-US" altLang="en-US" sz="2675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6245731" cy="546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Apparent Power (S, kVA)</a:t>
              </a:r>
              <a:endParaRPr lang="en-US" sz="3200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525097" y="6286252"/>
            <a:ext cx="4684298" cy="2431266"/>
            <a:chOff x="0" y="57150"/>
            <a:chExt cx="6245731" cy="324168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18858"/>
              <a:ext cx="6245731" cy="2379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480"/>
                </a:lnSpc>
                <a:spcBef>
                  <a:spcPct val="0"/>
                </a:spcBef>
              </a:pPr>
              <a:r>
                <a:rPr lang="en-US" altLang="en-US" sz="2675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Regulatory range (typically 210–250 V in China residential grids) guaranteeing appliance safety</a:t>
              </a:r>
              <a:endParaRPr lang="en-US" altLang="en-US" sz="2675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6245731" cy="546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Safe Operating Voltage</a:t>
              </a:r>
              <a:endParaRPr lang="en-US" sz="3200" u="none" strike="noStrike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685800" y="1715135"/>
            <a:ext cx="5027930" cy="14605"/>
          </a:xfrm>
          <a:prstGeom prst="line">
            <a:avLst/>
          </a:prstGeom>
          <a:ln w="9525" cap="rnd">
            <a:solidFill>
              <a:srgbClr val="E3E8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1B2F1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18548" y="266700"/>
            <a:ext cx="2081504" cy="2081504"/>
          </a:xfrm>
          <a:custGeom>
            <a:avLst/>
            <a:gdLst/>
            <a:ahLst/>
            <a:cxnLst/>
            <a:rect l="l" t="t" r="r" b="b"/>
            <a:pathLst>
              <a:path w="2081504" h="2081504">
                <a:moveTo>
                  <a:pt x="0" y="0"/>
                </a:moveTo>
                <a:lnTo>
                  <a:pt x="2081504" y="0"/>
                </a:lnTo>
                <a:lnTo>
                  <a:pt x="2081504" y="2081504"/>
                </a:lnTo>
                <a:lnTo>
                  <a:pt x="0" y="2081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2" name="Group 5"/>
          <p:cNvGrpSpPr/>
          <p:nvPr/>
        </p:nvGrpSpPr>
        <p:grpSpPr>
          <a:xfrm rot="0">
            <a:off x="9464567" y="2476280"/>
            <a:ext cx="4798706" cy="1825784"/>
            <a:chOff x="-182033" y="47625"/>
            <a:chExt cx="6398275" cy="2434378"/>
          </a:xfrm>
        </p:grpSpPr>
        <p:sp>
          <p:nvSpPr>
            <p:cNvPr id="23" name="TextBox 6"/>
            <p:cNvSpPr txBox="1"/>
            <p:nvPr/>
          </p:nvSpPr>
          <p:spPr>
            <a:xfrm>
              <a:off x="-182033" y="697230"/>
              <a:ext cx="6216242" cy="1784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just">
                <a:lnSpc>
                  <a:spcPts val="3480"/>
                </a:lnSpc>
              </a:pPr>
              <a:r>
                <a:rPr lang="en-US" altLang="en-US" sz="2675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Streamlit widget for displaying headline numbers with optional deltas.</a:t>
              </a:r>
              <a:endParaRPr lang="en-US" altLang="en-US" sz="2675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  <p:sp>
          <p:nvSpPr>
            <p:cNvPr id="24" name="TextBox 7"/>
            <p:cNvSpPr txBox="1"/>
            <p:nvPr/>
          </p:nvSpPr>
          <p:spPr>
            <a:xfrm>
              <a:off x="0" y="47625"/>
              <a:ext cx="6216242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l">
                <a:lnSpc>
                  <a:spcPts val="2675"/>
                </a:lnSpc>
              </a:pPr>
              <a:r>
                <a:rPr lang="en-US" sz="3200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KPI Card</a:t>
              </a:r>
              <a:r>
                <a:rPr lang="en-US" sz="2675">
                  <a:solidFill>
                    <a:srgbClr val="FCFFFE"/>
                  </a:solidFill>
                  <a:latin typeface="Ovo" panose="02020502070400060406"/>
                  <a:ea typeface="Ovo" panose="02020502070400060406"/>
                  <a:cs typeface="Ovo" panose="02020502070400060406"/>
                  <a:sym typeface="Ovo" panose="02020502070400060406"/>
                </a:rPr>
                <a:t> (st.metric)</a:t>
              </a:r>
              <a:endParaRPr lang="en-US" sz="2675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5603305" y="-3041109"/>
            <a:ext cx="12013528" cy="16906270"/>
          </a:xfrm>
          <a:custGeom>
            <a:avLst/>
            <a:gdLst/>
            <a:ahLst/>
            <a:cxnLst/>
            <a:rect l="l" t="t" r="r" b="b"/>
            <a:pathLst>
              <a:path w="12013528" h="16906270">
                <a:moveTo>
                  <a:pt x="0" y="0"/>
                </a:moveTo>
                <a:lnTo>
                  <a:pt x="12013529" y="0"/>
                </a:lnTo>
                <a:lnTo>
                  <a:pt x="12013529" y="16906270"/>
                </a:lnTo>
                <a:lnTo>
                  <a:pt x="0" y="169062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2977066" cy="10479535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22352563"/>
            </a:xfrm>
            <a:custGeom>
              <a:avLst/>
              <a:gdLst/>
              <a:ahLst/>
              <a:cxnLst/>
              <a:rect l="l" t="t" r="r" b="b"/>
              <a:pathLst>
                <a:path w="6350000" h="22352563">
                  <a:moveTo>
                    <a:pt x="0" y="0"/>
                  </a:moveTo>
                  <a:lnTo>
                    <a:pt x="6350000" y="0"/>
                  </a:lnTo>
                  <a:lnTo>
                    <a:pt x="6350000" y="22352563"/>
                  </a:lnTo>
                  <a:lnTo>
                    <a:pt x="0" y="223525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931E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6350000" cy="22352575"/>
            </a:xfrm>
            <a:custGeom>
              <a:avLst/>
              <a:gdLst/>
              <a:ahLst/>
              <a:cxnLst/>
              <a:rect l="l" t="t" r="r" b="b"/>
              <a:pathLst>
                <a:path w="6350000" h="22352575">
                  <a:moveTo>
                    <a:pt x="3175000" y="11176281"/>
                  </a:moveTo>
                  <a:lnTo>
                    <a:pt x="3175000" y="0"/>
                  </a:lnTo>
                  <a:cubicBezTo>
                    <a:pt x="1421498" y="0"/>
                    <a:pt x="0" y="5003800"/>
                    <a:pt x="0" y="11176281"/>
                  </a:cubicBezTo>
                  <a:lnTo>
                    <a:pt x="3175000" y="11176281"/>
                  </a:lnTo>
                  <a:close/>
                  <a:moveTo>
                    <a:pt x="3175000" y="11176326"/>
                  </a:moveTo>
                  <a:lnTo>
                    <a:pt x="3175000" y="22352575"/>
                  </a:lnTo>
                  <a:cubicBezTo>
                    <a:pt x="4928502" y="22352575"/>
                    <a:pt x="6350000" y="17348809"/>
                    <a:pt x="6350000" y="11176326"/>
                  </a:cubicBezTo>
                  <a:lnTo>
                    <a:pt x="3175000" y="11176326"/>
                  </a:lnTo>
                  <a:close/>
                </a:path>
              </a:pathLst>
            </a:custGeom>
            <a:solidFill>
              <a:srgbClr val="314528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45"/>
              <a:ext cx="6350000" cy="22352518"/>
            </a:xfrm>
            <a:custGeom>
              <a:avLst/>
              <a:gdLst/>
              <a:ahLst/>
              <a:cxnLst/>
              <a:rect l="l" t="t" r="r" b="b"/>
              <a:pathLst>
                <a:path w="6350000" h="22352518">
                  <a:moveTo>
                    <a:pt x="6350000" y="0"/>
                  </a:moveTo>
                  <a:lnTo>
                    <a:pt x="3175000" y="0"/>
                  </a:lnTo>
                  <a:cubicBezTo>
                    <a:pt x="3175000" y="6172481"/>
                    <a:pt x="4596486" y="11176281"/>
                    <a:pt x="6349987" y="11176281"/>
                  </a:cubicBezTo>
                  <a:lnTo>
                    <a:pt x="6350000" y="0"/>
                  </a:lnTo>
                  <a:close/>
                  <a:moveTo>
                    <a:pt x="0" y="22352518"/>
                  </a:moveTo>
                  <a:lnTo>
                    <a:pt x="3175000" y="22352518"/>
                  </a:lnTo>
                  <a:cubicBezTo>
                    <a:pt x="3175000" y="16180037"/>
                    <a:pt x="1753514" y="11176236"/>
                    <a:pt x="13" y="11176236"/>
                  </a:cubicBezTo>
                  <a:lnTo>
                    <a:pt x="0" y="22352518"/>
                  </a:lnTo>
                  <a:close/>
                </a:path>
              </a:pathLst>
            </a:custGeom>
            <a:solidFill>
              <a:srgbClr val="E3E8E1"/>
            </a:solidFill>
          </p:spPr>
        </p:sp>
      </p:grpSp>
      <p:grpSp>
        <p:nvGrpSpPr>
          <p:cNvPr id="7" name="Group 7"/>
          <p:cNvGrpSpPr/>
          <p:nvPr/>
        </p:nvGrpSpPr>
        <p:grpSpPr>
          <a:xfrm rot="0">
            <a:off x="-1258050" y="-12052"/>
            <a:ext cx="6174159" cy="10299052"/>
            <a:chOff x="0" y="0"/>
            <a:chExt cx="639358" cy="10665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9358" cy="1066506"/>
            </a:xfrm>
            <a:custGeom>
              <a:avLst/>
              <a:gdLst/>
              <a:ahLst/>
              <a:cxnLst/>
              <a:rect l="l" t="t" r="r" b="b"/>
              <a:pathLst>
                <a:path w="639358" h="1066506">
                  <a:moveTo>
                    <a:pt x="0" y="0"/>
                  </a:moveTo>
                  <a:lnTo>
                    <a:pt x="639358" y="0"/>
                  </a:lnTo>
                  <a:lnTo>
                    <a:pt x="639358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3"/>
              <a:stretch>
                <a:fillRect l="-75106" r="-75106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6218548" y="-12052"/>
            <a:ext cx="2081504" cy="2081504"/>
          </a:xfrm>
          <a:custGeom>
            <a:avLst/>
            <a:gdLst/>
            <a:ahLst/>
            <a:cxnLst/>
            <a:rect l="l" t="t" r="r" b="b"/>
            <a:pathLst>
              <a:path w="2081504" h="2081504">
                <a:moveTo>
                  <a:pt x="0" y="0"/>
                </a:moveTo>
                <a:lnTo>
                  <a:pt x="2081504" y="0"/>
                </a:lnTo>
                <a:lnTo>
                  <a:pt x="2081504" y="2081504"/>
                </a:lnTo>
                <a:lnTo>
                  <a:pt x="0" y="2081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222595" y="3853062"/>
            <a:ext cx="12774948" cy="3492705"/>
          </a:xfrm>
          <a:custGeom>
            <a:avLst/>
            <a:gdLst/>
            <a:ahLst/>
            <a:cxnLst/>
            <a:rect l="l" t="t" r="r" b="b"/>
            <a:pathLst>
              <a:path w="12774948" h="3492705">
                <a:moveTo>
                  <a:pt x="0" y="0"/>
                </a:moveTo>
                <a:lnTo>
                  <a:pt x="12774949" y="0"/>
                </a:lnTo>
                <a:lnTo>
                  <a:pt x="12774949" y="3492706"/>
                </a:lnTo>
                <a:lnTo>
                  <a:pt x="0" y="3492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" r="-39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286524" y="479173"/>
            <a:ext cx="9614584" cy="127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20"/>
              </a:lnSpc>
            </a:pPr>
            <a:r>
              <a:rPr lang="en-US" sz="9520" u="none" spc="-95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Physics Refresher</a:t>
            </a:r>
            <a:endParaRPr lang="en-US" sz="9520" u="none" spc="-95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22595" y="2912746"/>
            <a:ext cx="6672004" cy="94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20"/>
              </a:lnSpc>
            </a:pPr>
            <a:r>
              <a:rPr lang="en-US" sz="7020" spc="-70">
                <a:solidFill>
                  <a:srgbClr val="002217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Power vs Voltage</a:t>
            </a:r>
            <a:endParaRPr lang="en-US" sz="7020" spc="-70">
              <a:solidFill>
                <a:srgbClr val="002217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646310" y="-264631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561187" y="8814120"/>
            <a:ext cx="16230596" cy="0"/>
          </a:xfrm>
          <a:prstGeom prst="line">
            <a:avLst/>
          </a:prstGeom>
          <a:ln w="9525" cap="rnd">
            <a:solidFill>
              <a:srgbClr val="E3E8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1B2F1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33727" y="9489965"/>
            <a:ext cx="7428826" cy="633755"/>
          </a:xfrm>
          <a:custGeom>
            <a:avLst/>
            <a:gdLst/>
            <a:ahLst/>
            <a:cxnLst/>
            <a:rect l="l" t="t" r="r" b="b"/>
            <a:pathLst>
              <a:path w="7428826" h="633755">
                <a:moveTo>
                  <a:pt x="0" y="0"/>
                </a:moveTo>
                <a:lnTo>
                  <a:pt x="7428826" y="0"/>
                </a:lnTo>
                <a:lnTo>
                  <a:pt x="7428826" y="633755"/>
                </a:lnTo>
                <a:lnTo>
                  <a:pt x="0" y="633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111" b="-1354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33727" y="1763813"/>
            <a:ext cx="13712025" cy="6907433"/>
          </a:xfrm>
          <a:custGeom>
            <a:avLst/>
            <a:gdLst/>
            <a:ahLst/>
            <a:cxnLst/>
            <a:rect l="l" t="t" r="r" b="b"/>
            <a:pathLst>
              <a:path w="13712025" h="6907433">
                <a:moveTo>
                  <a:pt x="0" y="0"/>
                </a:moveTo>
                <a:lnTo>
                  <a:pt x="13712025" y="0"/>
                </a:lnTo>
                <a:lnTo>
                  <a:pt x="13712025" y="6907432"/>
                </a:lnTo>
                <a:lnTo>
                  <a:pt x="0" y="6907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58311" y="652245"/>
            <a:ext cx="16208483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72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Savings Formula in Code</a:t>
            </a:r>
            <a:endParaRPr lang="en-US" sz="7200" spc="-72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58311" y="8798998"/>
            <a:ext cx="1576713" cy="52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275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Result:</a:t>
            </a:r>
            <a:endParaRPr lang="en-US" sz="3275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6509004" y="266700"/>
            <a:ext cx="1778996" cy="1778996"/>
          </a:xfrm>
          <a:custGeom>
            <a:avLst/>
            <a:gdLst/>
            <a:ahLst/>
            <a:cxnLst/>
            <a:rect l="l" t="t" r="r" b="b"/>
            <a:pathLst>
              <a:path w="1778996" h="1778996">
                <a:moveTo>
                  <a:pt x="0" y="0"/>
                </a:moveTo>
                <a:lnTo>
                  <a:pt x="1778996" y="0"/>
                </a:lnTo>
                <a:lnTo>
                  <a:pt x="1778996" y="1778996"/>
                </a:lnTo>
                <a:lnTo>
                  <a:pt x="0" y="1778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646310" y="-264631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1B2F1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858311" y="2432785"/>
            <a:ext cx="16753666" cy="5342207"/>
          </a:xfrm>
          <a:custGeom>
            <a:avLst/>
            <a:gdLst/>
            <a:ahLst/>
            <a:cxnLst/>
            <a:rect l="l" t="t" r="r" b="b"/>
            <a:pathLst>
              <a:path w="16753666" h="5342207">
                <a:moveTo>
                  <a:pt x="0" y="0"/>
                </a:moveTo>
                <a:lnTo>
                  <a:pt x="16753667" y="0"/>
                </a:lnTo>
                <a:lnTo>
                  <a:pt x="16753667" y="5342207"/>
                </a:lnTo>
                <a:lnTo>
                  <a:pt x="0" y="534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58311" y="1402180"/>
            <a:ext cx="16989677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72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Streamlit Implementation - Single Scenario</a:t>
            </a:r>
            <a:endParaRPr lang="en-US" sz="7200" spc="-72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7045269" y="266700"/>
            <a:ext cx="1242731" cy="1242731"/>
          </a:xfrm>
          <a:custGeom>
            <a:avLst/>
            <a:gdLst/>
            <a:ahLst/>
            <a:cxnLst/>
            <a:rect l="l" t="t" r="r" b="b"/>
            <a:pathLst>
              <a:path w="1242731" h="1242731">
                <a:moveTo>
                  <a:pt x="0" y="0"/>
                </a:moveTo>
                <a:lnTo>
                  <a:pt x="1242731" y="0"/>
                </a:lnTo>
                <a:lnTo>
                  <a:pt x="1242731" y="1242731"/>
                </a:lnTo>
                <a:lnTo>
                  <a:pt x="0" y="124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646310" y="-264631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1B2F1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858311" y="2298037"/>
            <a:ext cx="14751661" cy="5066002"/>
          </a:xfrm>
          <a:custGeom>
            <a:avLst/>
            <a:gdLst/>
            <a:ahLst/>
            <a:cxnLst/>
            <a:rect l="l" t="t" r="r" b="b"/>
            <a:pathLst>
              <a:path w="14751661" h="5066002">
                <a:moveTo>
                  <a:pt x="0" y="0"/>
                </a:moveTo>
                <a:lnTo>
                  <a:pt x="14751662" y="0"/>
                </a:lnTo>
                <a:lnTo>
                  <a:pt x="14751662" y="5066001"/>
                </a:lnTo>
                <a:lnTo>
                  <a:pt x="0" y="5066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58311" y="652245"/>
            <a:ext cx="16208483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72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A/B Scenario Comparison</a:t>
            </a:r>
            <a:endParaRPr lang="en-US" sz="7200" spc="-72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660259" y="216533"/>
            <a:ext cx="1627741" cy="1627741"/>
          </a:xfrm>
          <a:custGeom>
            <a:avLst/>
            <a:gdLst/>
            <a:ahLst/>
            <a:cxnLst/>
            <a:rect l="l" t="t" r="r" b="b"/>
            <a:pathLst>
              <a:path w="1627741" h="1627741">
                <a:moveTo>
                  <a:pt x="0" y="0"/>
                </a:moveTo>
                <a:lnTo>
                  <a:pt x="1627741" y="0"/>
                </a:lnTo>
                <a:lnTo>
                  <a:pt x="1627741" y="1627741"/>
                </a:lnTo>
                <a:lnTo>
                  <a:pt x="0" y="162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93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646310" y="-2646310"/>
            <a:ext cx="12995380" cy="18288000"/>
          </a:xfrm>
          <a:custGeom>
            <a:avLst/>
            <a:gdLst/>
            <a:ahLst/>
            <a:cxnLst/>
            <a:rect l="l" t="t" r="r" b="b"/>
            <a:pathLst>
              <a:path w="12995380" h="1828800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12733260" y="-6419655"/>
            <a:ext cx="754946" cy="12617764"/>
            <a:chOff x="0" y="0"/>
            <a:chExt cx="198834" cy="33231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8834" cy="3323197"/>
            </a:xfrm>
            <a:custGeom>
              <a:avLst/>
              <a:gdLst/>
              <a:ahLst/>
              <a:cxnLst/>
              <a:rect l="l" t="t" r="r" b="b"/>
              <a:pathLst>
                <a:path w="198834" h="3323197">
                  <a:moveTo>
                    <a:pt x="0" y="0"/>
                  </a:moveTo>
                  <a:lnTo>
                    <a:pt x="198834" y="0"/>
                  </a:lnTo>
                  <a:lnTo>
                    <a:pt x="198834" y="3323197"/>
                  </a:lnTo>
                  <a:lnTo>
                    <a:pt x="0" y="3323197"/>
                  </a:lnTo>
                  <a:close/>
                </a:path>
              </a:pathLst>
            </a:custGeom>
            <a:solidFill>
              <a:srgbClr val="1B2F1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8834" cy="3361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68251" y="-3866900"/>
            <a:ext cx="754946" cy="7512254"/>
            <a:chOff x="0" y="0"/>
            <a:chExt cx="198834" cy="19785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834" cy="1978536"/>
            </a:xfrm>
            <a:custGeom>
              <a:avLst/>
              <a:gdLst/>
              <a:ahLst/>
              <a:cxnLst/>
              <a:rect l="l" t="t" r="r" b="b"/>
              <a:pathLst>
                <a:path w="198834" h="1978536">
                  <a:moveTo>
                    <a:pt x="0" y="0"/>
                  </a:moveTo>
                  <a:lnTo>
                    <a:pt x="198834" y="0"/>
                  </a:lnTo>
                  <a:lnTo>
                    <a:pt x="198834" y="1978536"/>
                  </a:lnTo>
                  <a:lnTo>
                    <a:pt x="0" y="1978536"/>
                  </a:lnTo>
                  <a:close/>
                </a:path>
              </a:pathLst>
            </a:custGeom>
            <a:solidFill>
              <a:srgbClr val="E3E8E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8834" cy="2016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858311" y="2101950"/>
            <a:ext cx="15257382" cy="3424611"/>
          </a:xfrm>
          <a:custGeom>
            <a:avLst/>
            <a:gdLst/>
            <a:ahLst/>
            <a:cxnLst/>
            <a:rect l="l" t="t" r="r" b="b"/>
            <a:pathLst>
              <a:path w="15257382" h="3424611">
                <a:moveTo>
                  <a:pt x="0" y="0"/>
                </a:moveTo>
                <a:lnTo>
                  <a:pt x="15257382" y="0"/>
                </a:lnTo>
                <a:lnTo>
                  <a:pt x="15257382" y="3424611"/>
                </a:lnTo>
                <a:lnTo>
                  <a:pt x="0" y="3424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4" b="-17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8311" y="5517036"/>
            <a:ext cx="15257382" cy="1655683"/>
          </a:xfrm>
          <a:custGeom>
            <a:avLst/>
            <a:gdLst/>
            <a:ahLst/>
            <a:cxnLst/>
            <a:rect l="l" t="t" r="r" b="b"/>
            <a:pathLst>
              <a:path w="15257382" h="1655683">
                <a:moveTo>
                  <a:pt x="0" y="0"/>
                </a:moveTo>
                <a:lnTo>
                  <a:pt x="15257382" y="0"/>
                </a:lnTo>
                <a:lnTo>
                  <a:pt x="15257382" y="1655683"/>
                </a:lnTo>
                <a:lnTo>
                  <a:pt x="0" y="1655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4" b="-17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8311" y="652245"/>
            <a:ext cx="16208483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72">
                <a:solidFill>
                  <a:srgbClr val="FCFFFE"/>
                </a:solidFill>
                <a:latin typeface="Ovo" panose="02020502070400060406"/>
                <a:ea typeface="Ovo" panose="02020502070400060406"/>
                <a:cs typeface="Ovo" panose="02020502070400060406"/>
                <a:sym typeface="Ovo" panose="02020502070400060406"/>
              </a:rPr>
              <a:t>Visual Analytics - Savings Curve</a:t>
            </a:r>
            <a:endParaRPr lang="en-US" sz="7200" spc="-72">
              <a:solidFill>
                <a:srgbClr val="FCFFFE"/>
              </a:solidFill>
              <a:latin typeface="Ovo" panose="02020502070400060406"/>
              <a:ea typeface="Ovo" panose="02020502070400060406"/>
              <a:cs typeface="Ovo" panose="02020502070400060406"/>
              <a:sym typeface="Ovo" panose="02020502070400060406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686506" y="266700"/>
            <a:ext cx="1601494" cy="1601494"/>
          </a:xfrm>
          <a:custGeom>
            <a:avLst/>
            <a:gdLst/>
            <a:ahLst/>
            <a:cxnLst/>
            <a:rect l="l" t="t" r="r" b="b"/>
            <a:pathLst>
              <a:path w="1601494" h="1601494">
                <a:moveTo>
                  <a:pt x="0" y="0"/>
                </a:moveTo>
                <a:lnTo>
                  <a:pt x="1601494" y="0"/>
                </a:lnTo>
                <a:lnTo>
                  <a:pt x="1601494" y="1601494"/>
                </a:lnTo>
                <a:lnTo>
                  <a:pt x="0" y="1601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1985</Words>
  <Application>WPS Presentation</Application>
  <PresentationFormat>On-screen Show (4:3)</PresentationFormat>
  <Paragraphs>84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Ovo</vt:lpstr>
      <vt:lpstr>Arial</vt:lpstr>
      <vt:lpstr>ABeeZee Bold</vt:lpstr>
      <vt:lpstr>ABeeZee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Smart-Energy Analysis</dc:title>
  <dc:creator/>
  <dc:description>Presentation - Smart-Energy Analysis</dc:description>
  <cp:lastModifiedBy>Ugochi Nneji</cp:lastModifiedBy>
  <cp:revision>2</cp:revision>
  <dcterms:created xsi:type="dcterms:W3CDTF">2006-08-16T00:00:00Z</dcterms:created>
  <dcterms:modified xsi:type="dcterms:W3CDTF">2025-07-13T07:45:58Z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852404EAE0254FC2985E89B4A53CB55E_12</vt:lpwstr>
  </property>
  <property fmtid="{D5CDD505-2E9C-101B-9397-08002B2CF9AE}" pid="3" name="KSOProductBuildVer">
    <vt:lpwstr>1033-12.2.0.21931</vt:lpwstr>
  </property>
</Properties>
</file>