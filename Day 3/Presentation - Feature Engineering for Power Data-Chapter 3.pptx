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-912" y="-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2025-07-07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40945" y="6790825"/>
            <a:ext cx="6992350" cy="6992350"/>
          </a:xfrm>
          <a:custGeom>
            <a:avLst/>
            <a:gdLst/>
            <a:ahLst/>
            <a:cxnLst/>
            <a:rect l="l" t="t" r="r" b="b"/>
            <a:pathLst>
              <a:path w="6992350" h="6992350">
                <a:moveTo>
                  <a:pt x="0" y="0"/>
                </a:moveTo>
                <a:lnTo>
                  <a:pt x="6992349" y="0"/>
                </a:lnTo>
                <a:lnTo>
                  <a:pt x="6992349" y="6992350"/>
                </a:lnTo>
                <a:lnTo>
                  <a:pt x="0" y="699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40945" y="-3496175"/>
            <a:ext cx="6992350" cy="6992350"/>
          </a:xfrm>
          <a:custGeom>
            <a:avLst/>
            <a:gdLst/>
            <a:ahLst/>
            <a:cxnLst/>
            <a:rect l="l" t="t" r="r" b="b"/>
            <a:pathLst>
              <a:path w="6992350" h="6992350">
                <a:moveTo>
                  <a:pt x="0" y="0"/>
                </a:moveTo>
                <a:lnTo>
                  <a:pt x="6992349" y="0"/>
                </a:lnTo>
                <a:lnTo>
                  <a:pt x="6992349" y="6992350"/>
                </a:lnTo>
                <a:lnTo>
                  <a:pt x="0" y="699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9144000" y="1028700"/>
            <a:ext cx="8229600" cy="8229600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6350000"/>
                  </a:moveTo>
                  <a:cubicBezTo>
                    <a:pt x="4928870" y="6350000"/>
                    <a:pt x="6350000" y="4928870"/>
                    <a:pt x="6350000" y="3175000"/>
                  </a:cubicBezTo>
                  <a:lnTo>
                    <a:pt x="6350000" y="0"/>
                  </a:lnTo>
                  <a:lnTo>
                    <a:pt x="3175000" y="0"/>
                  </a:lnTo>
                  <a:cubicBezTo>
                    <a:pt x="1421130" y="0"/>
                    <a:pt x="0" y="1421130"/>
                    <a:pt x="0" y="3175000"/>
                  </a:cubicBezTo>
                  <a:cubicBezTo>
                    <a:pt x="0" y="4928870"/>
                    <a:pt x="1421130" y="6350000"/>
                    <a:pt x="3175000" y="6350000"/>
                  </a:cubicBezTo>
                  <a:close/>
                </a:path>
              </a:pathLst>
            </a:custGeom>
            <a:solidFill>
              <a:srgbClr val="90A38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227013" y="334588"/>
              <a:ext cx="5895974" cy="5627484"/>
            </a:xfrm>
            <a:custGeom>
              <a:avLst/>
              <a:gdLst/>
              <a:ahLst/>
              <a:cxnLst/>
              <a:rect l="l" t="t" r="r" b="b"/>
              <a:pathLst>
                <a:path w="5895974" h="5627484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3"/>
                    <a:pt x="1941349" y="5627484"/>
                    <a:pt x="2947987" y="5622982"/>
                  </a:cubicBezTo>
                  <a:cubicBezTo>
                    <a:pt x="3954625" y="5627484"/>
                    <a:pt x="4886728" y="5093033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2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4"/>
              <a:stretch>
                <a:fillRect l="-24801" r="-2480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2358901"/>
            <a:ext cx="6470640" cy="5569198"/>
            <a:chOff x="0" y="0"/>
            <a:chExt cx="8627519" cy="7425597"/>
          </a:xfrm>
        </p:grpSpPr>
        <p:sp>
          <p:nvSpPr>
            <p:cNvPr id="8" name="TextBox 8"/>
            <p:cNvSpPr txBox="1"/>
            <p:nvPr/>
          </p:nvSpPr>
          <p:spPr>
            <a:xfrm>
              <a:off x="0" y="-76200"/>
              <a:ext cx="8627519" cy="6466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240"/>
                </a:lnSpc>
              </a:pPr>
              <a:r>
                <a:rPr lang="en-US" sz="8400">
                  <a:solidFill>
                    <a:srgbClr val="FBF1F1"/>
                  </a:solidFill>
                  <a:latin typeface="Chunk Five"/>
                  <a:ea typeface="Chunk Five"/>
                  <a:cs typeface="Chunk Five"/>
                  <a:sym typeface="Chunk Five"/>
                </a:rPr>
                <a:t>Feature Engineering for Power Data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6518183"/>
              <a:ext cx="8627519" cy="9074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30"/>
                </a:lnSpc>
              </a:pPr>
              <a:r>
                <a:rPr lang="en-US" sz="2100">
                  <a:solidFill>
                    <a:srgbClr val="FBF1F1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Comprehensive Guide to Analyzing Household Power Consumption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4791825" y="6790825"/>
            <a:ext cx="6992350" cy="6992350"/>
          </a:xfrm>
          <a:custGeom>
            <a:avLst/>
            <a:gdLst/>
            <a:ahLst/>
            <a:cxnLst/>
            <a:rect l="l" t="t" r="r" b="b"/>
            <a:pathLst>
              <a:path w="6992350" h="6992350">
                <a:moveTo>
                  <a:pt x="0" y="0"/>
                </a:moveTo>
                <a:lnTo>
                  <a:pt x="6992350" y="0"/>
                </a:lnTo>
                <a:lnTo>
                  <a:pt x="6992350" y="6992350"/>
                </a:lnTo>
                <a:lnTo>
                  <a:pt x="0" y="699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5137664" cy="513766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2"/>
              <a:stretch>
                <a:fillRect l="-38599" r="-38599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5149336"/>
            <a:ext cx="5137664" cy="5137664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3"/>
              <a:stretch>
                <a:fillRect l="-24801" r="-2480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669530" y="3681203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7" y="0"/>
                </a:lnTo>
                <a:lnTo>
                  <a:pt x="2936267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137262" y="1445516"/>
            <a:ext cx="5643595" cy="139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60"/>
              </a:lnSpc>
            </a:pPr>
            <a:r>
              <a:rPr lang="en-US" sz="8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81997" y="3766823"/>
            <a:ext cx="10897379" cy="409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9"/>
              </a:lnSpc>
            </a:pPr>
            <a:r>
              <a:rPr lang="en-US" sz="3899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This session introduces a practical guide to feature engineering using a household power consumption dataset. We will explore how to transform raw data into meaningful inputs for machine learning models using time-series and statistical features.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5137664" cy="513766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2"/>
              <a:stretch>
                <a:fillRect l="-38599" r="-38599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5149336"/>
            <a:ext cx="5137664" cy="5137664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3"/>
              <a:stretch>
                <a:fillRect l="-24801" r="-2480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669530" y="3681203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7" y="0"/>
                </a:lnTo>
                <a:lnTo>
                  <a:pt x="2936267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006565" y="1085958"/>
            <a:ext cx="11252735" cy="259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60"/>
              </a:lnSpc>
            </a:pPr>
            <a:r>
              <a:rPr lang="en-US" sz="8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Introduction to Feature Engineering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61759" y="5442896"/>
            <a:ext cx="11234185" cy="340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9"/>
              </a:lnSpc>
            </a:pPr>
            <a:r>
              <a:rPr lang="en-US" sz="3899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This presentation explores the </a:t>
            </a:r>
            <a:r>
              <a:rPr lang="en-US" sz="389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importance</a:t>
            </a:r>
            <a:r>
              <a:rPr lang="en-US" sz="3899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 and techniques of feature engineering tailored for household power data, providing insights on maximizing predictive performance through effective data manipulation.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0219"/>
            <a:ext cx="7564691" cy="246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30"/>
              </a:lnSpc>
              <a:spcBef>
                <a:spcPct val="0"/>
              </a:spcBef>
            </a:pPr>
            <a:r>
              <a:rPr lang="en-US" sz="8062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Understanding Data Libraries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9244" y="3589078"/>
            <a:ext cx="12118723" cy="600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4"/>
              </a:lnSpc>
              <a:spcBef>
                <a:spcPct val="0"/>
              </a:spcBef>
            </a:pPr>
            <a:r>
              <a:rPr lang="en-US" sz="3357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are Data Libraries?</a:t>
            </a:r>
          </a:p>
          <a:p>
            <a:pPr marL="660113" lvl="1" indent="-330057" algn="l">
              <a:lnSpc>
                <a:spcPts val="3974"/>
              </a:lnSpc>
              <a:spcBef>
                <a:spcPct val="0"/>
              </a:spcBef>
              <a:buFont typeface="Arial"/>
              <a:buChar char="•"/>
            </a:pPr>
            <a:r>
              <a:rPr lang="en-US" sz="3057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Data libraries like pandas allow us to handle, manipulate, and analyze structured data easily.</a:t>
            </a:r>
          </a:p>
          <a:p>
            <a:pPr marL="660113" lvl="1" indent="-330057" algn="l">
              <a:lnSpc>
                <a:spcPts val="3974"/>
              </a:lnSpc>
              <a:spcBef>
                <a:spcPct val="0"/>
              </a:spcBef>
              <a:buFont typeface="Arial"/>
              <a:buChar char="•"/>
            </a:pPr>
            <a:r>
              <a:rPr lang="en-US" sz="3057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They provide high-level data structures such as DataFrames, which act like Excel tables but with coding power.</a:t>
            </a:r>
          </a:p>
          <a:p>
            <a:pPr algn="l">
              <a:lnSpc>
                <a:spcPts val="3974"/>
              </a:lnSpc>
              <a:spcBef>
                <a:spcPct val="0"/>
              </a:spcBef>
            </a:pPr>
            <a:endParaRPr lang="en-US" sz="3057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364"/>
              </a:lnSpc>
              <a:spcBef>
                <a:spcPct val="0"/>
              </a:spcBef>
            </a:pPr>
            <a:r>
              <a:rPr lang="en-US" sz="3357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Are They Important?</a:t>
            </a:r>
          </a:p>
          <a:p>
            <a:pPr marL="660113" lvl="1" indent="-330057" algn="l">
              <a:lnSpc>
                <a:spcPts val="3974"/>
              </a:lnSpc>
              <a:spcBef>
                <a:spcPct val="0"/>
              </a:spcBef>
              <a:buFont typeface="Arial"/>
              <a:buChar char="•"/>
            </a:pPr>
            <a:r>
              <a:rPr lang="en-US" sz="3057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They allow data cleaning, transformation, and extraction with precision and scalability.</a:t>
            </a:r>
          </a:p>
          <a:p>
            <a:pPr marL="660113" lvl="1" indent="-330057" algn="l">
              <a:lnSpc>
                <a:spcPts val="3974"/>
              </a:lnSpc>
              <a:spcBef>
                <a:spcPct val="0"/>
              </a:spcBef>
              <a:buFont typeface="Arial"/>
              <a:buChar char="•"/>
            </a:pPr>
            <a:r>
              <a:rPr lang="en-US" sz="3057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Essential for working with large datasets such as energy usage logs collected every minute or hour.</a:t>
            </a:r>
          </a:p>
          <a:p>
            <a:pPr algn="l">
              <a:lnSpc>
                <a:spcPts val="3454"/>
              </a:lnSpc>
              <a:spcBef>
                <a:spcPct val="0"/>
              </a:spcBef>
            </a:pPr>
            <a:endParaRPr lang="en-US" sz="3057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10330208" y="7451500"/>
            <a:ext cx="2835500" cy="2835500"/>
          </a:xfrm>
          <a:custGeom>
            <a:avLst/>
            <a:gdLst/>
            <a:ahLst/>
            <a:cxnLst/>
            <a:rect l="l" t="t" r="r" b="b"/>
            <a:pathLst>
              <a:path w="2835500" h="2835500">
                <a:moveTo>
                  <a:pt x="2835500" y="0"/>
                </a:moveTo>
                <a:lnTo>
                  <a:pt x="0" y="0"/>
                </a:lnTo>
                <a:lnTo>
                  <a:pt x="0" y="2835500"/>
                </a:lnTo>
                <a:lnTo>
                  <a:pt x="2835500" y="2835500"/>
                </a:lnTo>
                <a:lnTo>
                  <a:pt x="28355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V="1">
            <a:off x="10324968" y="0"/>
            <a:ext cx="2835500" cy="2835500"/>
          </a:xfrm>
          <a:custGeom>
            <a:avLst/>
            <a:gdLst/>
            <a:ahLst/>
            <a:cxnLst/>
            <a:rect l="l" t="t" r="r" b="b"/>
            <a:pathLst>
              <a:path w="2835500" h="2835500">
                <a:moveTo>
                  <a:pt x="0" y="2835500"/>
                </a:moveTo>
                <a:lnTo>
                  <a:pt x="2835500" y="2835500"/>
                </a:lnTo>
                <a:lnTo>
                  <a:pt x="2835500" y="0"/>
                </a:lnTo>
                <a:lnTo>
                  <a:pt x="0" y="0"/>
                </a:lnTo>
                <a:lnTo>
                  <a:pt x="0" y="28355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19866" y="3672443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8" y="0"/>
                </a:lnTo>
                <a:lnTo>
                  <a:pt x="2936268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147423" y="0"/>
            <a:ext cx="5140577" cy="5140577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6"/>
              <a:stretch>
                <a:fillRect l="-24801" r="-24801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3156183" y="5155183"/>
            <a:ext cx="5131817" cy="5131817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7"/>
              <a:stretch>
                <a:fillRect l="-24801" r="-24801"/>
              </a:stretch>
            </a:blipFill>
          </p:spPr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426" y="2708578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83851" y="2615033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20225" y="942975"/>
            <a:ext cx="13247551" cy="139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60"/>
              </a:lnSpc>
            </a:pPr>
            <a:r>
              <a:rPr lang="en-US" sz="8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Loading the  Dataset</a:t>
            </a:r>
          </a:p>
        </p:txBody>
      </p:sp>
      <p:sp>
        <p:nvSpPr>
          <p:cNvPr id="5" name="Freeform 5"/>
          <p:cNvSpPr/>
          <p:nvPr/>
        </p:nvSpPr>
        <p:spPr>
          <a:xfrm>
            <a:off x="-2953855" y="-2953855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953855" y="7333145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34145" y="-2953855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46144" y="3277028"/>
            <a:ext cx="3732943" cy="3732943"/>
          </a:xfrm>
          <a:custGeom>
            <a:avLst/>
            <a:gdLst/>
            <a:ahLst/>
            <a:cxnLst/>
            <a:rect l="l" t="t" r="r" b="b"/>
            <a:pathLst>
              <a:path w="3732943" h="3732943">
                <a:moveTo>
                  <a:pt x="0" y="0"/>
                </a:moveTo>
                <a:lnTo>
                  <a:pt x="3732944" y="0"/>
                </a:lnTo>
                <a:lnTo>
                  <a:pt x="3732944" y="3732944"/>
                </a:lnTo>
                <a:lnTo>
                  <a:pt x="0" y="373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79194" y="2953855"/>
            <a:ext cx="3732943" cy="3732943"/>
          </a:xfrm>
          <a:custGeom>
            <a:avLst/>
            <a:gdLst/>
            <a:ahLst/>
            <a:cxnLst/>
            <a:rect l="l" t="t" r="r" b="b"/>
            <a:pathLst>
              <a:path w="3732943" h="3732943">
                <a:moveTo>
                  <a:pt x="0" y="0"/>
                </a:moveTo>
                <a:lnTo>
                  <a:pt x="3732944" y="0"/>
                </a:lnTo>
                <a:lnTo>
                  <a:pt x="3732944" y="3732944"/>
                </a:lnTo>
                <a:lnTo>
                  <a:pt x="0" y="373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212139" y="7009972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813830" y="4497146"/>
            <a:ext cx="3181439" cy="380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5"/>
              </a:lnSpc>
            </a:pPr>
            <a:r>
              <a:rPr lang="en-US" sz="26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a Dataset?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00210" y="5106704"/>
            <a:ext cx="6216990" cy="418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7"/>
              </a:lnSpc>
            </a:pPr>
            <a:endParaRPr/>
          </a:p>
          <a:p>
            <a:pPr marL="573349" lvl="1" indent="-286674" algn="l">
              <a:lnSpc>
                <a:spcPts val="3717"/>
              </a:lnSpc>
              <a:buFont typeface="Arial"/>
              <a:buChar char="•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A dataset is a structured collection of data, in this case, power consumption logs.</a:t>
            </a:r>
          </a:p>
          <a:p>
            <a:pPr algn="l">
              <a:lnSpc>
                <a:spcPts val="3717"/>
              </a:lnSpc>
            </a:pPr>
            <a:endParaRPr lang="en-US" sz="26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3349" lvl="1" indent="-286674" algn="l">
              <a:lnSpc>
                <a:spcPts val="3717"/>
              </a:lnSpc>
              <a:buFont typeface="Arial"/>
              <a:buChar char="•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It typically includes fields like voltage, power, and sub-meter readings over time.</a:t>
            </a:r>
          </a:p>
          <a:p>
            <a:pPr marL="0" lvl="0" indent="0" algn="l">
              <a:lnSpc>
                <a:spcPts val="3717"/>
              </a:lnSpc>
            </a:pPr>
            <a:endParaRPr lang="en-US" sz="26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570207" y="4581166"/>
            <a:ext cx="4172155" cy="37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</a:pPr>
            <a:r>
              <a:rPr lang="en-US" sz="247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Parse Date-Time?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07273" y="5129003"/>
            <a:ext cx="6458721" cy="418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17"/>
              </a:lnSpc>
            </a:pPr>
            <a:endParaRPr/>
          </a:p>
          <a:p>
            <a:pPr marL="573349" lvl="1" indent="-286674" algn="l">
              <a:lnSpc>
                <a:spcPts val="3717"/>
              </a:lnSpc>
              <a:buFont typeface="Arial"/>
              <a:buChar char="•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Parsing the 'datetime' column converts plain strings into time-aware objects.</a:t>
            </a:r>
          </a:p>
          <a:p>
            <a:pPr algn="l">
              <a:lnSpc>
                <a:spcPts val="3717"/>
              </a:lnSpc>
            </a:pPr>
            <a:endParaRPr lang="en-US" sz="26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573349" lvl="1" indent="-286674" algn="l">
              <a:lnSpc>
                <a:spcPts val="3717"/>
              </a:lnSpc>
              <a:buFont typeface="Arial"/>
              <a:buChar char="•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This enables powerful time-based analysis such as grouping by hour, day, or month.</a:t>
            </a:r>
          </a:p>
          <a:p>
            <a:pPr marL="0" lvl="0" indent="0" algn="l">
              <a:lnSpc>
                <a:spcPts val="3717"/>
              </a:lnSpc>
            </a:pPr>
            <a:endParaRPr lang="en-US" sz="26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21426" y="2708578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83851" y="2615033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20225" y="208581"/>
            <a:ext cx="13247551" cy="2595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60"/>
              </a:lnSpc>
            </a:pPr>
            <a:r>
              <a:rPr lang="en-US" sz="8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Identifying Key Numeric Feature</a:t>
            </a:r>
          </a:p>
        </p:txBody>
      </p:sp>
      <p:sp>
        <p:nvSpPr>
          <p:cNvPr id="5" name="Freeform 5"/>
          <p:cNvSpPr/>
          <p:nvPr/>
        </p:nvSpPr>
        <p:spPr>
          <a:xfrm>
            <a:off x="-2953855" y="-2953855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953855" y="7333145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34145" y="-2953855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46144" y="3277028"/>
            <a:ext cx="3732943" cy="3732943"/>
          </a:xfrm>
          <a:custGeom>
            <a:avLst/>
            <a:gdLst/>
            <a:ahLst/>
            <a:cxnLst/>
            <a:rect l="l" t="t" r="r" b="b"/>
            <a:pathLst>
              <a:path w="3732943" h="3732943">
                <a:moveTo>
                  <a:pt x="0" y="0"/>
                </a:moveTo>
                <a:lnTo>
                  <a:pt x="3732944" y="0"/>
                </a:lnTo>
                <a:lnTo>
                  <a:pt x="3732944" y="3732944"/>
                </a:lnTo>
                <a:lnTo>
                  <a:pt x="0" y="373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379194" y="2953855"/>
            <a:ext cx="3732943" cy="3732943"/>
          </a:xfrm>
          <a:custGeom>
            <a:avLst/>
            <a:gdLst/>
            <a:ahLst/>
            <a:cxnLst/>
            <a:rect l="l" t="t" r="r" b="b"/>
            <a:pathLst>
              <a:path w="3732943" h="3732943">
                <a:moveTo>
                  <a:pt x="0" y="0"/>
                </a:moveTo>
                <a:lnTo>
                  <a:pt x="3732944" y="0"/>
                </a:lnTo>
                <a:lnTo>
                  <a:pt x="3732944" y="3732944"/>
                </a:lnTo>
                <a:lnTo>
                  <a:pt x="0" y="3732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212139" y="7009972"/>
            <a:ext cx="5907710" cy="5907710"/>
          </a:xfrm>
          <a:custGeom>
            <a:avLst/>
            <a:gdLst/>
            <a:ahLst/>
            <a:cxnLst/>
            <a:rect l="l" t="t" r="r" b="b"/>
            <a:pathLst>
              <a:path w="5907710" h="5907710">
                <a:moveTo>
                  <a:pt x="0" y="0"/>
                </a:moveTo>
                <a:lnTo>
                  <a:pt x="5907710" y="0"/>
                </a:lnTo>
                <a:lnTo>
                  <a:pt x="5907710" y="5907710"/>
                </a:lnTo>
                <a:lnTo>
                  <a:pt x="0" y="5907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91930" y="4395663"/>
            <a:ext cx="5460327" cy="77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5"/>
              </a:lnSpc>
            </a:pPr>
            <a:r>
              <a:rPr lang="en-US" sz="26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Are Numeric Features?</a:t>
            </a:r>
          </a:p>
          <a:p>
            <a:pPr marL="0" lvl="0" indent="0" algn="ctr">
              <a:lnSpc>
                <a:spcPts val="3135"/>
              </a:lnSpc>
            </a:pPr>
            <a:endParaRPr lang="en-US" sz="2612" b="1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6430" y="5176628"/>
            <a:ext cx="8287570" cy="231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3349" lvl="1" indent="-286674" algn="l">
              <a:lnSpc>
                <a:spcPts val="3717"/>
              </a:lnSpc>
              <a:buFont typeface="Arial"/>
              <a:buChar char="•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These are quantitative measurements such as:</a:t>
            </a:r>
          </a:p>
          <a:p>
            <a:pPr marL="1146698" lvl="2" indent="-382233" algn="l">
              <a:lnSpc>
                <a:spcPts val="3717"/>
              </a:lnSpc>
              <a:buFont typeface="Arial"/>
              <a:buChar char="⚬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Active and reactive power</a:t>
            </a:r>
          </a:p>
          <a:p>
            <a:pPr marL="1146698" lvl="2" indent="-382233" algn="l">
              <a:lnSpc>
                <a:spcPts val="3717"/>
              </a:lnSpc>
              <a:buFont typeface="Arial"/>
              <a:buChar char="⚬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Voltage and current intensity</a:t>
            </a:r>
          </a:p>
          <a:p>
            <a:pPr marL="1146698" lvl="2" indent="-382233" algn="l">
              <a:lnSpc>
                <a:spcPts val="3717"/>
              </a:lnSpc>
              <a:buFont typeface="Arial"/>
              <a:buChar char="⚬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Energy readings from different appliances</a:t>
            </a:r>
          </a:p>
          <a:p>
            <a:pPr marL="0" lvl="0" indent="0" algn="l">
              <a:lnSpc>
                <a:spcPts val="3717"/>
              </a:lnSpc>
            </a:pPr>
            <a:endParaRPr lang="en-US" sz="26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954511" y="4449746"/>
            <a:ext cx="3396187" cy="741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75"/>
              </a:lnSpc>
            </a:pPr>
            <a:r>
              <a:rPr lang="en-US" sz="247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Select Them?</a:t>
            </a:r>
          </a:p>
          <a:p>
            <a:pPr marL="0" lvl="0" indent="0" algn="ctr">
              <a:lnSpc>
                <a:spcPts val="2975"/>
              </a:lnSpc>
            </a:pPr>
            <a:endParaRPr lang="en-US" sz="2479" b="1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82778" y="5106704"/>
            <a:ext cx="6458721" cy="231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3349" lvl="1" indent="-286674" algn="l">
              <a:lnSpc>
                <a:spcPts val="3717"/>
              </a:lnSpc>
              <a:buFont typeface="Arial"/>
              <a:buChar char="•"/>
            </a:pPr>
            <a:r>
              <a:rPr lang="en-US" sz="26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Feature engineering starts by choosing relevant numerical attributes that contribute to prediction or classification tasks.</a:t>
            </a:r>
          </a:p>
          <a:p>
            <a:pPr marL="0" lvl="0" indent="0" algn="l">
              <a:lnSpc>
                <a:spcPts val="3717"/>
              </a:lnSpc>
            </a:pPr>
            <a:endParaRPr lang="en-US" sz="26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11453682" cy="263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32"/>
              </a:lnSpc>
              <a:spcBef>
                <a:spcPct val="0"/>
              </a:spcBef>
            </a:pPr>
            <a:r>
              <a:rPr lang="en-US" sz="8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E</a:t>
            </a:r>
            <a:r>
              <a:rPr lang="en-US" sz="8600" u="none" strike="noStrike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nsuring Data Type Compatibility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649715"/>
            <a:ext cx="11453682" cy="34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3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Understanding the importance of these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01653" y="4768336"/>
            <a:ext cx="5453887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</a:t>
            </a:r>
            <a:r>
              <a:rPr lang="en-US" sz="3199" b="1" u="none" strike="noStrike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Convert Data Types?</a:t>
            </a:r>
          </a:p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endParaRPr lang="en-US" sz="3199" b="1" u="none" strike="noStrike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5557966"/>
            <a:ext cx="12695230" cy="140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Raw data may c</a:t>
            </a:r>
            <a:r>
              <a:rPr lang="en-US" sz="2700" u="none" strike="noStrike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ontain string representations of numbers or mixed types.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 u="none" strike="noStrike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Machine learning models require consistent data types—usually floats for numerical features—to perform mathematical operations.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16382" y="7346693"/>
            <a:ext cx="203962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</a:t>
            </a:r>
            <a:r>
              <a:rPr lang="en-US" sz="3199" b="1" u="none" strike="noStrike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act:</a:t>
            </a:r>
          </a:p>
          <a:p>
            <a:pPr marL="0" lvl="0" indent="0" algn="l">
              <a:lnSpc>
                <a:spcPts val="3839"/>
              </a:lnSpc>
              <a:spcBef>
                <a:spcPct val="0"/>
              </a:spcBef>
            </a:pPr>
            <a:endParaRPr lang="en-US" sz="3199" b="1" u="none" strike="noStrike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83824" y="8062846"/>
            <a:ext cx="10841322" cy="148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Prevents runtime </a:t>
            </a:r>
            <a:r>
              <a:rPr lang="en-US" sz="2799" u="none" strike="noStrike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errors and ensures models can calculate relationships accurately.</a:t>
            </a:r>
          </a:p>
          <a:p>
            <a:pPr algn="l">
              <a:lnSpc>
                <a:spcPts val="3919"/>
              </a:lnSpc>
            </a:pPr>
            <a:endParaRPr lang="en-US" sz="2799" u="none" strike="noStrike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819866" y="3678290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8" y="0"/>
                </a:lnTo>
                <a:lnTo>
                  <a:pt x="2936268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3150336" y="0"/>
            <a:ext cx="5137664" cy="5137664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4"/>
              <a:stretch>
                <a:fillRect l="-24801" r="-24801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150336" y="5158861"/>
            <a:ext cx="5137664" cy="5137664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5"/>
              <a:stretch>
                <a:fillRect l="-24801" r="-24801"/>
              </a:stretch>
            </a:blipFill>
          </p:spPr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5137664" cy="513766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2"/>
              <a:stretch>
                <a:fillRect l="-38599" r="-38599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5149336"/>
            <a:ext cx="5137664" cy="5137664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3"/>
              <a:stretch>
                <a:fillRect l="-24801" r="-2480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669530" y="3681203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7" y="0"/>
                </a:lnTo>
                <a:lnTo>
                  <a:pt x="2936267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466565" y="188925"/>
            <a:ext cx="11397802" cy="259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60"/>
              </a:lnSpc>
            </a:pPr>
            <a:r>
              <a:rPr lang="en-US" sz="8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Extracting Hour of the Day</a:t>
            </a:r>
          </a:p>
        </p:txBody>
      </p:sp>
      <p:sp>
        <p:nvSpPr>
          <p:cNvPr id="10" name="Freeform 10"/>
          <p:cNvSpPr/>
          <p:nvPr/>
        </p:nvSpPr>
        <p:spPr>
          <a:xfrm>
            <a:off x="7180718" y="6019332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324080" y="2366313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5" y="0"/>
                </a:lnTo>
                <a:lnTo>
                  <a:pt x="1476695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25287" y="3976060"/>
            <a:ext cx="528763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Extract Hour Information?</a:t>
            </a:r>
          </a:p>
          <a:p>
            <a:pPr marL="0" lvl="0" indent="0" algn="ctr">
              <a:lnSpc>
                <a:spcPts val="3375"/>
              </a:lnSpc>
            </a:pPr>
            <a:endParaRPr lang="en-US" sz="2812" b="1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320804" y="5337837"/>
            <a:ext cx="6588465" cy="290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Power usage often follows a daily pattern—high in the morning and evening, lower at night.</a:t>
            </a:r>
          </a:p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By extracting the hour, we can model this diurnal behavior.</a:t>
            </a:r>
          </a:p>
          <a:p>
            <a:pPr marL="0" lvl="0" indent="0" algn="l">
              <a:lnSpc>
                <a:spcPts val="3857"/>
              </a:lnSpc>
            </a:pPr>
            <a:endParaRPr lang="en-US" sz="27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329500" y="7620693"/>
            <a:ext cx="4172155" cy="89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5"/>
              </a:lnSpc>
            </a:pPr>
            <a:r>
              <a:rPr lang="en-US" sz="297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Example Use Case:</a:t>
            </a:r>
          </a:p>
          <a:p>
            <a:pPr marL="0" lvl="0" indent="0" algn="ctr">
              <a:lnSpc>
                <a:spcPts val="3575"/>
              </a:lnSpc>
            </a:pPr>
            <a:endParaRPr lang="en-US" sz="2979" b="1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466565" y="8337693"/>
            <a:ext cx="6791279" cy="1930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A spike at 6 PM may indicate cooking or heating, useful for predictive energy demand models.</a:t>
            </a:r>
          </a:p>
          <a:p>
            <a:pPr marL="0" lvl="0" indent="0" algn="l">
              <a:lnSpc>
                <a:spcPts val="3857"/>
              </a:lnSpc>
            </a:pPr>
            <a:endParaRPr lang="en-US" sz="27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5137664" cy="513766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2"/>
              <a:stretch>
                <a:fillRect l="-38599" r="-38599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5149336"/>
            <a:ext cx="5137664" cy="5137664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3"/>
              <a:stretch>
                <a:fillRect l="-24801" r="-2480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669530" y="3681203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7" y="0"/>
                </a:lnTo>
                <a:lnTo>
                  <a:pt x="2936267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466565" y="188925"/>
            <a:ext cx="11397802" cy="259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460"/>
              </a:lnSpc>
            </a:pPr>
            <a:r>
              <a:rPr lang="en-US" sz="8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Extracting Day of the Week</a:t>
            </a:r>
          </a:p>
        </p:txBody>
      </p:sp>
      <p:sp>
        <p:nvSpPr>
          <p:cNvPr id="10" name="Freeform 10"/>
          <p:cNvSpPr/>
          <p:nvPr/>
        </p:nvSpPr>
        <p:spPr>
          <a:xfrm>
            <a:off x="7180718" y="6019332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324080" y="2366313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5" y="0"/>
                </a:lnTo>
                <a:lnTo>
                  <a:pt x="1476695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25287" y="3976060"/>
            <a:ext cx="528763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Purpose of Weekday Features:</a:t>
            </a:r>
          </a:p>
          <a:p>
            <a:pPr marL="0" lvl="0" indent="0" algn="ctr">
              <a:lnSpc>
                <a:spcPts val="3375"/>
              </a:lnSpc>
            </a:pPr>
            <a:endParaRPr lang="en-US" sz="2812" b="1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744371" y="5337837"/>
            <a:ext cx="7164899" cy="301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Human behavior varies by weekday (e.g., weekdays vs. weekends).</a:t>
            </a:r>
          </a:p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Businesses and homes often show different power usage on Monday vs. Sunday.</a:t>
            </a:r>
          </a:p>
          <a:p>
            <a:pPr marL="0" lvl="0" indent="0" algn="l">
              <a:lnSpc>
                <a:spcPts val="3997"/>
              </a:lnSpc>
            </a:pPr>
            <a:endParaRPr lang="en-US" sz="28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072325" y="7706418"/>
            <a:ext cx="4172155" cy="89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5"/>
              </a:lnSpc>
            </a:pPr>
            <a:r>
              <a:rPr lang="en-US" sz="297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Applications:</a:t>
            </a:r>
          </a:p>
          <a:p>
            <a:pPr marL="0" lvl="0" indent="0" algn="ctr">
              <a:lnSpc>
                <a:spcPts val="3575"/>
              </a:lnSpc>
            </a:pPr>
            <a:endParaRPr lang="en-US" sz="2979" b="1">
              <a:solidFill>
                <a:srgbClr val="FBF1F1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137664" y="8496908"/>
            <a:ext cx="7120181" cy="1444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Helps distinguish work-week patterns from weekend relaxation routines.</a:t>
            </a:r>
          </a:p>
          <a:p>
            <a:pPr marL="0" lvl="0" indent="0" algn="l">
              <a:lnSpc>
                <a:spcPts val="3857"/>
              </a:lnSpc>
            </a:pPr>
            <a:endParaRPr lang="en-US" sz="27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5137664" cy="513766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2"/>
              <a:stretch>
                <a:fillRect l="-38599" r="-38599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5149336"/>
            <a:ext cx="5137664" cy="5137664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3"/>
              <a:stretch>
                <a:fillRect l="-24801" r="-2480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669530" y="3681203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7" y="0"/>
                </a:lnTo>
                <a:lnTo>
                  <a:pt x="2936267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000985" y="396577"/>
            <a:ext cx="12442704" cy="118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30"/>
              </a:lnSpc>
            </a:pPr>
            <a:r>
              <a:rPr lang="en-US" sz="73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Scaling and Normalization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6246971" y="7236595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645765" y="1584623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246971" y="3194370"/>
            <a:ext cx="528763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Scale Features?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77305" y="3798843"/>
            <a:ext cx="5657304" cy="3518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Machine learning algorithms are sensitive to the range of input data.</a:t>
            </a:r>
          </a:p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For example, kilowatts (power) and volts (voltage) are on very different scales.</a:t>
            </a:r>
          </a:p>
          <a:p>
            <a:pPr marL="0" lvl="0" indent="0" algn="l">
              <a:lnSpc>
                <a:spcPts val="3997"/>
              </a:lnSpc>
            </a:pPr>
            <a:endParaRPr lang="en-US" sz="28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723665" y="8107512"/>
            <a:ext cx="3684403" cy="44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5"/>
              </a:lnSpc>
            </a:pPr>
            <a:r>
              <a:rPr lang="en-US" sz="297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When to Use: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45765" y="8656139"/>
            <a:ext cx="10642235" cy="958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StandardScaler is good for Gaussian-distributed data.</a:t>
            </a:r>
          </a:p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MinMaxScaler is better for data that must remain bounded.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3631202" y="1584623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232408" y="3194370"/>
            <a:ext cx="528763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Two Common Techniques: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09307" y="3927899"/>
            <a:ext cx="5460264" cy="301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Standardization: Centers the data (mean = 0, std = 1)</a:t>
            </a:r>
          </a:p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Min-Max Normalization: Scales values between 0 and 1</a:t>
            </a:r>
          </a:p>
          <a:p>
            <a:pPr marL="0" lvl="0" indent="0" algn="l">
              <a:lnSpc>
                <a:spcPts val="3997"/>
              </a:lnSpc>
            </a:pPr>
            <a:endParaRPr lang="en-US" sz="28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5137664" cy="513766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2"/>
              <a:stretch>
                <a:fillRect l="-38599" r="-38599"/>
              </a:stretch>
            </a:blip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0" y="5149336"/>
            <a:ext cx="5137664" cy="5137664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3"/>
              <a:stretch>
                <a:fillRect l="-24801" r="-2480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669530" y="3681203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7" y="0"/>
                </a:lnTo>
                <a:lnTo>
                  <a:pt x="2936267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37664" y="126665"/>
            <a:ext cx="12639351" cy="123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60"/>
              </a:lnSpc>
            </a:pPr>
            <a:r>
              <a:rPr lang="en-US" sz="7600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Applying Feature Scaling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7180718" y="6019332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024891" y="1366188"/>
            <a:ext cx="1476694" cy="1476694"/>
          </a:xfrm>
          <a:custGeom>
            <a:avLst/>
            <a:gdLst/>
            <a:ahLst/>
            <a:cxnLst/>
            <a:rect l="l" t="t" r="r" b="b"/>
            <a:pathLst>
              <a:path w="1476694" h="1476694">
                <a:moveTo>
                  <a:pt x="0" y="0"/>
                </a:moveTo>
                <a:lnTo>
                  <a:pt x="1476694" y="0"/>
                </a:lnTo>
                <a:lnTo>
                  <a:pt x="1476694" y="1476694"/>
                </a:lnTo>
                <a:lnTo>
                  <a:pt x="0" y="1476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158150" y="2975935"/>
            <a:ext cx="6442871" cy="438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5"/>
              </a:lnSpc>
            </a:pPr>
            <a:r>
              <a:rPr lang="en-US" sz="29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Does Feature Scaling Do?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13197" y="3537952"/>
            <a:ext cx="10689295" cy="200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It transforms raw numeric values into a consistent scale across all features.</a:t>
            </a:r>
          </a:p>
          <a:p>
            <a:pPr marL="616528" lvl="1" indent="-308264" algn="l">
              <a:lnSpc>
                <a:spcPts val="3997"/>
              </a:lnSpc>
              <a:buFont typeface="Arial"/>
              <a:buChar char="•"/>
            </a:pPr>
            <a:r>
              <a:rPr lang="en-US" sz="28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Prevents large-magnitude features (like Voltage) from dominating smaller ones (like Sub_metering_1).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72325" y="7706418"/>
            <a:ext cx="4172155" cy="44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75"/>
              </a:lnSpc>
            </a:pPr>
            <a:r>
              <a:rPr lang="en-US" sz="2979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Two Versions?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7664" y="8496908"/>
            <a:ext cx="12121636" cy="1444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Some models perform better with standardized features, others with normalized data—experimenting with both is a best practice.</a:t>
            </a:r>
          </a:p>
          <a:p>
            <a:pPr marL="0" lvl="0" indent="0" algn="l">
              <a:lnSpc>
                <a:spcPts val="3857"/>
              </a:lnSpc>
            </a:pPr>
            <a:endParaRPr lang="en-US" sz="27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9866" y="3678290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8" y="0"/>
                </a:lnTo>
                <a:lnTo>
                  <a:pt x="2936268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150336" y="0"/>
            <a:ext cx="5137664" cy="5137664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0A385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4"/>
              <a:stretch>
                <a:fillRect l="223" t="-25135" r="223" b="-25135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121132" y="238520"/>
            <a:ext cx="5137664" cy="513766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90A38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5"/>
              <a:stretch>
                <a:fillRect l="-24801" r="-2480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06995" y="410883"/>
            <a:ext cx="11882969" cy="239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0"/>
              </a:lnSpc>
            </a:pPr>
            <a:r>
              <a:rPr lang="en-US" sz="7955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Deriving New Features: Apparent Power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482" y="4195828"/>
            <a:ext cx="10689633" cy="338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It is the combination of active and reactive power.</a:t>
            </a:r>
          </a:p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In electrical systems:</a:t>
            </a:r>
          </a:p>
          <a:p>
            <a:pPr algn="l">
              <a:lnSpc>
                <a:spcPts val="3857"/>
              </a:lnSpc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           Active power does real work (e.g., heating)</a:t>
            </a:r>
          </a:p>
          <a:p>
            <a:pPr algn="l">
              <a:lnSpc>
                <a:spcPts val="3857"/>
              </a:lnSpc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           Reactive power sustains the electric and magnetic fields</a:t>
            </a:r>
          </a:p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Apparent power gives a holistic view of total energy capacity used.</a:t>
            </a:r>
          </a:p>
          <a:p>
            <a:pPr marL="0" lvl="0" indent="0" algn="l">
              <a:lnSpc>
                <a:spcPts val="3857"/>
              </a:lnSpc>
            </a:pPr>
            <a:endParaRPr lang="en-US" sz="27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89841" y="3494628"/>
            <a:ext cx="528763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Apparent Power?</a:t>
            </a:r>
          </a:p>
        </p:txBody>
      </p:sp>
      <p:sp>
        <p:nvSpPr>
          <p:cNvPr id="12" name="Freeform 12"/>
          <p:cNvSpPr/>
          <p:nvPr/>
        </p:nvSpPr>
        <p:spPr>
          <a:xfrm>
            <a:off x="390482" y="2991013"/>
            <a:ext cx="1078303" cy="1078303"/>
          </a:xfrm>
          <a:custGeom>
            <a:avLst/>
            <a:gdLst/>
            <a:ahLst/>
            <a:cxnLst/>
            <a:rect l="l" t="t" r="r" b="b"/>
            <a:pathLst>
              <a:path w="1078303" h="1078303">
                <a:moveTo>
                  <a:pt x="0" y="0"/>
                </a:moveTo>
                <a:lnTo>
                  <a:pt x="1078302" y="0"/>
                </a:lnTo>
                <a:lnTo>
                  <a:pt x="1078302" y="1078303"/>
                </a:lnTo>
                <a:lnTo>
                  <a:pt x="0" y="1078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9549" y="7369580"/>
            <a:ext cx="1078303" cy="1078303"/>
          </a:xfrm>
          <a:custGeom>
            <a:avLst/>
            <a:gdLst/>
            <a:ahLst/>
            <a:cxnLst/>
            <a:rect l="l" t="t" r="r" b="b"/>
            <a:pathLst>
              <a:path w="1078303" h="1078303">
                <a:moveTo>
                  <a:pt x="0" y="0"/>
                </a:moveTo>
                <a:lnTo>
                  <a:pt x="1078302" y="0"/>
                </a:lnTo>
                <a:lnTo>
                  <a:pt x="1078302" y="1078303"/>
                </a:lnTo>
                <a:lnTo>
                  <a:pt x="0" y="1078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89339" y="7838521"/>
            <a:ext cx="23666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Usefulness: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8600" y="8648700"/>
            <a:ext cx="9829717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4938" lvl="1" indent="-297469" algn="l">
              <a:lnSpc>
                <a:spcPts val="3857"/>
              </a:lnSpc>
              <a:buFont typeface="Arial"/>
              <a:buChar char="•"/>
            </a:pPr>
            <a:r>
              <a:rPr lang="en-US" sz="2755" dirty="0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Captures complex interactions in electrical usage and adds predictive power to energy forecasting models.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20199" y="6423270"/>
            <a:ext cx="1078303" cy="1078303"/>
          </a:xfrm>
          <a:custGeom>
            <a:avLst/>
            <a:gdLst/>
            <a:ahLst/>
            <a:cxnLst/>
            <a:rect l="l" t="t" r="r" b="b"/>
            <a:pathLst>
              <a:path w="1078303" h="1078303">
                <a:moveTo>
                  <a:pt x="0" y="0"/>
                </a:moveTo>
                <a:lnTo>
                  <a:pt x="1078303" y="0"/>
                </a:lnTo>
                <a:lnTo>
                  <a:pt x="1078303" y="1078303"/>
                </a:lnTo>
                <a:lnTo>
                  <a:pt x="0" y="1078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319990" y="6892211"/>
            <a:ext cx="183034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Formula: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7530" y="7563795"/>
            <a:ext cx="7826298" cy="1161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19866" y="3678290"/>
            <a:ext cx="2936267" cy="2936267"/>
          </a:xfrm>
          <a:custGeom>
            <a:avLst/>
            <a:gdLst/>
            <a:ahLst/>
            <a:cxnLst/>
            <a:rect l="l" t="t" r="r" b="b"/>
            <a:pathLst>
              <a:path w="2936267" h="2936267">
                <a:moveTo>
                  <a:pt x="0" y="0"/>
                </a:moveTo>
                <a:lnTo>
                  <a:pt x="2936268" y="0"/>
                </a:lnTo>
                <a:lnTo>
                  <a:pt x="2936268" y="2936267"/>
                </a:lnTo>
                <a:lnTo>
                  <a:pt x="0" y="293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150336" y="0"/>
            <a:ext cx="5137664" cy="5137664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0A385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99010" y="359986"/>
              <a:ext cx="5898640" cy="5630028"/>
            </a:xfrm>
            <a:custGeom>
              <a:avLst/>
              <a:gdLst/>
              <a:ahLst/>
              <a:cxnLst/>
              <a:rect l="l" t="t" r="r" b="b"/>
              <a:pathLst>
                <a:path w="5898640" h="5630028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>
              <a:blip r:embed="rId4"/>
              <a:stretch>
                <a:fillRect l="223" t="-25135" r="223" b="-25135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121132" y="238520"/>
            <a:ext cx="5137664" cy="513766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130" y="0"/>
                    <a:pt x="0" y="1421130"/>
                    <a:pt x="0" y="3175000"/>
                  </a:cubicBezTo>
                  <a:lnTo>
                    <a:pt x="0" y="6350000"/>
                  </a:lnTo>
                  <a:lnTo>
                    <a:pt x="3175000" y="6350000"/>
                  </a:lnTo>
                  <a:cubicBezTo>
                    <a:pt x="4928870" y="6350000"/>
                    <a:pt x="6350000" y="4928870"/>
                    <a:pt x="6350000" y="3175000"/>
                  </a:cubicBezTo>
                  <a:cubicBezTo>
                    <a:pt x="6350000" y="1421130"/>
                    <a:pt x="4928870" y="0"/>
                    <a:pt x="3175000" y="0"/>
                  </a:cubicBezTo>
                  <a:close/>
                </a:path>
              </a:pathLst>
            </a:custGeom>
            <a:solidFill>
              <a:srgbClr val="90A385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27013" y="387928"/>
              <a:ext cx="5895974" cy="5627483"/>
            </a:xfrm>
            <a:custGeom>
              <a:avLst/>
              <a:gdLst/>
              <a:ahLst/>
              <a:cxnLst/>
              <a:rect l="l" t="t" r="r" b="b"/>
              <a:pathLst>
                <a:path w="5895974" h="5627483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2"/>
                    <a:pt x="1941349" y="5627484"/>
                    <a:pt x="2947987" y="5622982"/>
                  </a:cubicBezTo>
                  <a:cubicBezTo>
                    <a:pt x="3954625" y="5627484"/>
                    <a:pt x="4886728" y="5093032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1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5"/>
              <a:stretch>
                <a:fillRect l="-24801" r="-2480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06995" y="410883"/>
            <a:ext cx="11882969" cy="2396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0"/>
              </a:lnSpc>
            </a:pPr>
            <a:r>
              <a:rPr lang="en-US" sz="7955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Saving Engineered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0482" y="4195828"/>
            <a:ext cx="10689633" cy="312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117" lvl="1" indent="-319059" algn="l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After transforming raw data, you create a new version that is rich in features and model-ready.</a:t>
            </a:r>
          </a:p>
          <a:p>
            <a:pPr marL="638117" lvl="1" indent="-319059" algn="l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Saving this version:</a:t>
            </a:r>
          </a:p>
          <a:p>
            <a:pPr algn="l">
              <a:lnSpc>
                <a:spcPts val="4137"/>
              </a:lnSpc>
            </a:pPr>
            <a:r>
              <a:rPr lang="en-US" sz="29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             Avoids redoing the same transformations</a:t>
            </a:r>
          </a:p>
          <a:p>
            <a:pPr algn="l">
              <a:lnSpc>
                <a:spcPts val="4137"/>
              </a:lnSpc>
            </a:pPr>
            <a:r>
              <a:rPr lang="en-US" sz="29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             Makes sharing and deployment easy</a:t>
            </a:r>
          </a:p>
          <a:p>
            <a:pPr marL="0" lvl="0" indent="0" algn="l">
              <a:lnSpc>
                <a:spcPts val="4137"/>
              </a:lnSpc>
            </a:pPr>
            <a:endParaRPr lang="en-US" sz="2955">
              <a:solidFill>
                <a:srgbClr val="FBF1F1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06884" y="3494628"/>
            <a:ext cx="5287638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Save the Final Dataset?</a:t>
            </a:r>
          </a:p>
        </p:txBody>
      </p:sp>
      <p:sp>
        <p:nvSpPr>
          <p:cNvPr id="12" name="Freeform 12"/>
          <p:cNvSpPr/>
          <p:nvPr/>
        </p:nvSpPr>
        <p:spPr>
          <a:xfrm>
            <a:off x="390482" y="2991013"/>
            <a:ext cx="1078303" cy="1078303"/>
          </a:xfrm>
          <a:custGeom>
            <a:avLst/>
            <a:gdLst/>
            <a:ahLst/>
            <a:cxnLst/>
            <a:rect l="l" t="t" r="r" b="b"/>
            <a:pathLst>
              <a:path w="1078303" h="1078303">
                <a:moveTo>
                  <a:pt x="0" y="0"/>
                </a:moveTo>
                <a:lnTo>
                  <a:pt x="1078302" y="0"/>
                </a:lnTo>
                <a:lnTo>
                  <a:pt x="1078302" y="1078303"/>
                </a:lnTo>
                <a:lnTo>
                  <a:pt x="0" y="1078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9549" y="7369580"/>
            <a:ext cx="1078303" cy="1078303"/>
          </a:xfrm>
          <a:custGeom>
            <a:avLst/>
            <a:gdLst/>
            <a:ahLst/>
            <a:cxnLst/>
            <a:rect l="l" t="t" r="r" b="b"/>
            <a:pathLst>
              <a:path w="1078303" h="1078303">
                <a:moveTo>
                  <a:pt x="0" y="0"/>
                </a:moveTo>
                <a:lnTo>
                  <a:pt x="1078302" y="0"/>
                </a:lnTo>
                <a:lnTo>
                  <a:pt x="1078302" y="1078303"/>
                </a:lnTo>
                <a:lnTo>
                  <a:pt x="0" y="10783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89339" y="7838521"/>
            <a:ext cx="23666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75"/>
              </a:lnSpc>
            </a:pPr>
            <a:r>
              <a:rPr lang="en-US" sz="2812" b="1">
                <a:solidFill>
                  <a:srgbClr val="FB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File Format: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0482" y="8662678"/>
            <a:ext cx="12219399" cy="1029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117" lvl="1" indent="-319059" algn="l">
              <a:lnSpc>
                <a:spcPts val="4137"/>
              </a:lnSpc>
              <a:buFont typeface="Arial"/>
              <a:buChar char="•"/>
            </a:pPr>
            <a:r>
              <a:rPr lang="en-US" sz="2955">
                <a:solidFill>
                  <a:srgbClr val="FBF1F1"/>
                </a:solidFill>
                <a:latin typeface="Open Sauce"/>
                <a:ea typeface="Open Sauce"/>
                <a:cs typeface="Open Sauce"/>
                <a:sym typeface="Open Sauce"/>
              </a:rPr>
              <a:t>CSV (Comma-Separated Values) is commonly used for portability across tools and platforms.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7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222198" y="3792574"/>
            <a:ext cx="6037102" cy="1350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70"/>
              </a:lnSpc>
              <a:spcBef>
                <a:spcPct val="0"/>
              </a:spcBef>
            </a:pPr>
            <a:r>
              <a:rPr lang="en-US" sz="8277">
                <a:solidFill>
                  <a:srgbClr val="FBF1F1"/>
                </a:solidFill>
                <a:latin typeface="Chunk Five"/>
                <a:ea typeface="Chunk Five"/>
                <a:cs typeface="Chunk Five"/>
                <a:sym typeface="Chunk Five"/>
              </a:rPr>
              <a:t>Thank You!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533047" y="533047"/>
            <a:ext cx="9220906" cy="9220906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6350000"/>
                  </a:moveTo>
                  <a:cubicBezTo>
                    <a:pt x="4928870" y="6350000"/>
                    <a:pt x="6350000" y="4928870"/>
                    <a:pt x="6350000" y="3175000"/>
                  </a:cubicBezTo>
                  <a:lnTo>
                    <a:pt x="6350000" y="0"/>
                  </a:lnTo>
                  <a:lnTo>
                    <a:pt x="3175000" y="0"/>
                  </a:lnTo>
                  <a:cubicBezTo>
                    <a:pt x="1421130" y="0"/>
                    <a:pt x="0" y="1421130"/>
                    <a:pt x="0" y="3175000"/>
                  </a:cubicBezTo>
                  <a:cubicBezTo>
                    <a:pt x="0" y="4928870"/>
                    <a:pt x="1421130" y="6350000"/>
                    <a:pt x="3175000" y="6350000"/>
                  </a:cubicBezTo>
                  <a:close/>
                </a:path>
              </a:pathLst>
            </a:custGeom>
            <a:solidFill>
              <a:srgbClr val="F7FC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227013" y="334588"/>
              <a:ext cx="5895974" cy="5627484"/>
            </a:xfrm>
            <a:custGeom>
              <a:avLst/>
              <a:gdLst/>
              <a:ahLst/>
              <a:cxnLst/>
              <a:rect l="l" t="t" r="r" b="b"/>
              <a:pathLst>
                <a:path w="5895974" h="5627484">
                  <a:moveTo>
                    <a:pt x="2947987" y="4502"/>
                  </a:moveTo>
                  <a:cubicBezTo>
                    <a:pt x="1941349" y="0"/>
                    <a:pt x="1009246" y="534452"/>
                    <a:pt x="504623" y="1405483"/>
                  </a:cubicBezTo>
                  <a:cubicBezTo>
                    <a:pt x="0" y="2276514"/>
                    <a:pt x="0" y="3350970"/>
                    <a:pt x="504623" y="4222001"/>
                  </a:cubicBezTo>
                  <a:cubicBezTo>
                    <a:pt x="1009246" y="5093033"/>
                    <a:pt x="1941349" y="5627484"/>
                    <a:pt x="2947987" y="5622982"/>
                  </a:cubicBezTo>
                  <a:cubicBezTo>
                    <a:pt x="3954625" y="5627484"/>
                    <a:pt x="4886728" y="5093033"/>
                    <a:pt x="5391351" y="4222001"/>
                  </a:cubicBezTo>
                  <a:cubicBezTo>
                    <a:pt x="5895974" y="3350970"/>
                    <a:pt x="5895974" y="2276514"/>
                    <a:pt x="5391351" y="1405483"/>
                  </a:cubicBezTo>
                  <a:cubicBezTo>
                    <a:pt x="4886728" y="534452"/>
                    <a:pt x="3954625" y="0"/>
                    <a:pt x="2947987" y="4502"/>
                  </a:cubicBezTo>
                  <a:close/>
                </a:path>
              </a:pathLst>
            </a:custGeom>
            <a:blipFill>
              <a:blip r:embed="rId2"/>
              <a:stretch>
                <a:fillRect l="-24801" r="-2480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584272" y="6738778"/>
            <a:ext cx="7096444" cy="7096444"/>
          </a:xfrm>
          <a:custGeom>
            <a:avLst/>
            <a:gdLst/>
            <a:ahLst/>
            <a:cxnLst/>
            <a:rect l="l" t="t" r="r" b="b"/>
            <a:pathLst>
              <a:path w="7096444" h="7096444">
                <a:moveTo>
                  <a:pt x="0" y="0"/>
                </a:moveTo>
                <a:lnTo>
                  <a:pt x="7096444" y="0"/>
                </a:lnTo>
                <a:lnTo>
                  <a:pt x="7096444" y="7096444"/>
                </a:lnTo>
                <a:lnTo>
                  <a:pt x="0" y="70964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732</Words>
  <Application>Microsoft Office PowerPoint</Application>
  <PresentationFormat>Custom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Open Sauce Bold</vt:lpstr>
      <vt:lpstr>Open Sauce</vt:lpstr>
      <vt:lpstr>Calibri</vt:lpstr>
      <vt:lpstr>Chunk Five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Feature Engineering for Power Data</dc:title>
  <dc:description>Presentation - Feature Engineering for Power Data</dc:description>
  <cp:lastModifiedBy>PC</cp:lastModifiedBy>
  <cp:revision>2</cp:revision>
  <dcterms:created xsi:type="dcterms:W3CDTF">2006-08-16T00:00:00Z</dcterms:created>
  <dcterms:modified xsi:type="dcterms:W3CDTF">2025-07-07T15:22:41Z</dcterms:modified>
  <dc:identifier>DAGsdiQnJL4</dc:identifier>
</cp:coreProperties>
</file>